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1"/>
  </p:sldMasterIdLst>
  <p:notesMasterIdLst>
    <p:notesMasterId r:id="rId12"/>
  </p:notesMasterIdLst>
  <p:sldIdLst>
    <p:sldId id="257" r:id="rId2"/>
    <p:sldId id="272" r:id="rId3"/>
    <p:sldId id="271" r:id="rId4"/>
    <p:sldId id="269" r:id="rId5"/>
    <p:sldId id="334" r:id="rId6"/>
    <p:sldId id="275" r:id="rId7"/>
    <p:sldId id="273" r:id="rId8"/>
    <p:sldId id="335" r:id="rId9"/>
    <p:sldId id="274"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367AC"/>
    <a:srgbClr val="90D9FA"/>
    <a:srgbClr val="B8D4EE"/>
    <a:srgbClr val="075A7F"/>
    <a:srgbClr val="0A8CC6"/>
    <a:srgbClr val="20B2F4"/>
    <a:srgbClr val="5BC7F7"/>
    <a:srgbClr val="ABE2FB"/>
    <a:srgbClr val="FFD966"/>
    <a:srgbClr val="00CC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721" autoAdjust="0"/>
    <p:restoredTop sz="94660"/>
  </p:normalViewPr>
  <p:slideViewPr>
    <p:cSldViewPr snapToGrid="0">
      <p:cViewPr varScale="1">
        <p:scale>
          <a:sx n="83" d="100"/>
          <a:sy n="83" d="100"/>
        </p:scale>
        <p:origin x="126" y="606"/>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C1FD136-5D0E-4F3D-8E17-8C94130E79CB}" type="doc">
      <dgm:prSet loTypeId="urn:microsoft.com/office/officeart/2005/8/layout/hList6" loCatId="list" qsTypeId="urn:microsoft.com/office/officeart/2005/8/quickstyle/simple1" qsCatId="simple" csTypeId="urn:microsoft.com/office/officeart/2005/8/colors/accent1_4" csCatId="accent1" phldr="1"/>
      <dgm:spPr/>
      <dgm:t>
        <a:bodyPr/>
        <a:lstStyle/>
        <a:p>
          <a:endParaRPr lang="en-US"/>
        </a:p>
      </dgm:t>
    </dgm:pt>
    <dgm:pt modelId="{628091FF-3ABC-4FF4-A7CF-8BD66B4481A3}">
      <dgm:prSet phldrT="[Text]" custT="1"/>
      <dgm:spPr>
        <a:solidFill>
          <a:schemeClr val="accent1">
            <a:lumMod val="50000"/>
          </a:schemeClr>
        </a:solidFill>
      </dgm:spPr>
      <dgm:t>
        <a:bodyPr/>
        <a:lstStyle/>
        <a:p>
          <a:r>
            <a:rPr lang="en-US" sz="1800" u="sng" kern="1200" dirty="0"/>
            <a:t>Business Understanding</a:t>
          </a:r>
        </a:p>
        <a:p>
          <a:r>
            <a:rPr lang="en-US" sz="1200" kern="1200" dirty="0">
              <a:solidFill>
                <a:prstClr val="white"/>
              </a:solidFill>
              <a:latin typeface="Calibri" panose="020F0502020204030204"/>
              <a:ea typeface="+mn-ea"/>
              <a:cs typeface="+mn-cs"/>
            </a:rPr>
            <a:t>Define problem statement --</a:t>
          </a:r>
        </a:p>
        <a:p>
          <a:r>
            <a:rPr lang="en-US" sz="1200" kern="1200" dirty="0"/>
            <a:t>What is the most efficient collections channel, that will be cost effective, will help collect faster and will help collect more</a:t>
          </a:r>
          <a:endParaRPr lang="en-US" sz="1200" u="sng" kern="1200" dirty="0"/>
        </a:p>
      </dgm:t>
    </dgm:pt>
    <dgm:pt modelId="{655AC7DC-4AAD-428D-BBE1-2F7E873464FC}" type="parTrans" cxnId="{E8269BB3-0939-4829-8DD7-33A146D0F294}">
      <dgm:prSet/>
      <dgm:spPr/>
      <dgm:t>
        <a:bodyPr/>
        <a:lstStyle/>
        <a:p>
          <a:endParaRPr lang="en-US" sz="1400"/>
        </a:p>
      </dgm:t>
    </dgm:pt>
    <dgm:pt modelId="{3DA20163-698E-46FD-96B8-51EC8BC0C575}" type="sibTrans" cxnId="{E8269BB3-0939-4829-8DD7-33A146D0F294}">
      <dgm:prSet/>
      <dgm:spPr/>
      <dgm:t>
        <a:bodyPr/>
        <a:lstStyle/>
        <a:p>
          <a:endParaRPr lang="en-US" sz="1400"/>
        </a:p>
      </dgm:t>
    </dgm:pt>
    <dgm:pt modelId="{B7CBCBD7-E538-42B2-9015-B5FCCF3B7CE4}">
      <dgm:prSet phldrT="[Text]" custT="1"/>
      <dgm:spPr>
        <a:solidFill>
          <a:schemeClr val="accent1">
            <a:lumMod val="75000"/>
          </a:schemeClr>
        </a:solidFill>
      </dgm:spPr>
      <dgm:t>
        <a:bodyPr/>
        <a:lstStyle/>
        <a:p>
          <a:pPr marL="0" lvl="0" algn="ctr" defTabSz="800100">
            <a:lnSpc>
              <a:spcPct val="90000"/>
            </a:lnSpc>
            <a:spcBef>
              <a:spcPct val="0"/>
            </a:spcBef>
            <a:spcAft>
              <a:spcPct val="35000"/>
            </a:spcAft>
            <a:buNone/>
          </a:pPr>
          <a:r>
            <a:rPr lang="en-US" sz="1800" u="sng" kern="1200" dirty="0"/>
            <a:t>Data Mining</a:t>
          </a:r>
        </a:p>
        <a:p>
          <a:pPr marL="0" lvl="0" algn="ctr" defTabSz="800100">
            <a:lnSpc>
              <a:spcPct val="90000"/>
            </a:lnSpc>
            <a:spcBef>
              <a:spcPct val="0"/>
            </a:spcBef>
            <a:spcAft>
              <a:spcPct val="35000"/>
            </a:spcAft>
            <a:buNone/>
          </a:pPr>
          <a:r>
            <a:rPr lang="en-US" sz="1200" kern="1200" dirty="0"/>
            <a:t>Process to discovering patterns from  --Application Data, Demographics, Family, Employment </a:t>
          </a:r>
          <a:r>
            <a:rPr lang="en-US" sz="1200" kern="1200" dirty="0">
              <a:solidFill>
                <a:prstClr val="white"/>
              </a:solidFill>
              <a:latin typeface="Calibri"/>
              <a:ea typeface="+mn-ea"/>
              <a:cs typeface="+mn-cs"/>
            </a:rPr>
            <a:t>Details, Financial Details, Property details, Channels/Source of leads, Legal Factors, Market conditions</a:t>
          </a:r>
        </a:p>
        <a:p>
          <a:pPr marL="0" lvl="0" algn="ctr" defTabSz="800100">
            <a:lnSpc>
              <a:spcPct val="90000"/>
            </a:lnSpc>
            <a:spcBef>
              <a:spcPct val="0"/>
            </a:spcBef>
            <a:spcAft>
              <a:spcPct val="35000"/>
            </a:spcAft>
            <a:buNone/>
          </a:pPr>
          <a:r>
            <a:rPr lang="en-US" sz="1200" kern="1200" dirty="0"/>
            <a:t>Customer Behavior: Transaction/Payment/Usage pattern, Collections behavior</a:t>
          </a:r>
          <a:endParaRPr lang="en-US" sz="1200" u="sng" kern="1200" dirty="0"/>
        </a:p>
      </dgm:t>
    </dgm:pt>
    <dgm:pt modelId="{5FB9EDD7-A68C-42A2-8FB0-1F34D02C478D}" type="parTrans" cxnId="{335AEB5F-1D86-4D20-A12A-F035852BCCD1}">
      <dgm:prSet/>
      <dgm:spPr/>
      <dgm:t>
        <a:bodyPr/>
        <a:lstStyle/>
        <a:p>
          <a:endParaRPr lang="en-US" sz="1400"/>
        </a:p>
      </dgm:t>
    </dgm:pt>
    <dgm:pt modelId="{9A3BD2AC-F2CF-49AA-B762-41325D795AD2}" type="sibTrans" cxnId="{335AEB5F-1D86-4D20-A12A-F035852BCCD1}">
      <dgm:prSet/>
      <dgm:spPr/>
      <dgm:t>
        <a:bodyPr/>
        <a:lstStyle/>
        <a:p>
          <a:endParaRPr lang="en-US" sz="1400"/>
        </a:p>
      </dgm:t>
    </dgm:pt>
    <dgm:pt modelId="{D4641743-EFA0-4D95-9978-F8DD79ED8B7A}">
      <dgm:prSet phldrT="[Text]" custT="1"/>
      <dgm:spPr/>
      <dgm:t>
        <a:bodyPr/>
        <a:lstStyle/>
        <a:p>
          <a:r>
            <a:rPr lang="en-US" sz="1800" u="sng" dirty="0"/>
            <a:t>Data Cleaning</a:t>
          </a:r>
        </a:p>
        <a:p>
          <a:r>
            <a:rPr lang="en-US" sz="1200" dirty="0"/>
            <a:t>Handling missing, duplicate  values, treat NA values in the data set.</a:t>
          </a:r>
          <a:endParaRPr lang="en-US" sz="1200" u="sng" dirty="0"/>
        </a:p>
      </dgm:t>
    </dgm:pt>
    <dgm:pt modelId="{E7541D6F-3267-41DE-9965-A68510C59796}" type="parTrans" cxnId="{94F6EF98-792B-4133-B4BF-9934301EA312}">
      <dgm:prSet/>
      <dgm:spPr/>
      <dgm:t>
        <a:bodyPr/>
        <a:lstStyle/>
        <a:p>
          <a:endParaRPr lang="en-US" sz="1400"/>
        </a:p>
      </dgm:t>
    </dgm:pt>
    <dgm:pt modelId="{5DAFA723-D469-4582-8DFD-B8D27542F681}" type="sibTrans" cxnId="{94F6EF98-792B-4133-B4BF-9934301EA312}">
      <dgm:prSet/>
      <dgm:spPr/>
      <dgm:t>
        <a:bodyPr/>
        <a:lstStyle/>
        <a:p>
          <a:endParaRPr lang="en-US" sz="1400"/>
        </a:p>
      </dgm:t>
    </dgm:pt>
    <dgm:pt modelId="{49EF7422-6440-4212-8894-48FDF700B685}">
      <dgm:prSet custT="1"/>
      <dgm:spPr>
        <a:solidFill>
          <a:schemeClr val="accent1">
            <a:lumMod val="50000"/>
          </a:schemeClr>
        </a:solidFill>
      </dgm:spPr>
      <dgm:t>
        <a:bodyPr/>
        <a:lstStyle/>
        <a:p>
          <a:endParaRPr lang="en-US" sz="1600" kern="1200" dirty="0"/>
        </a:p>
      </dgm:t>
    </dgm:pt>
    <dgm:pt modelId="{8041B5F5-EC39-4492-8D6E-42A9EAAFABD8}" type="parTrans" cxnId="{8E86BBAE-2C80-48CC-B18C-BA3E050201B6}">
      <dgm:prSet/>
      <dgm:spPr/>
      <dgm:t>
        <a:bodyPr/>
        <a:lstStyle/>
        <a:p>
          <a:endParaRPr lang="en-US" sz="1400"/>
        </a:p>
      </dgm:t>
    </dgm:pt>
    <dgm:pt modelId="{9A6A27B6-E7D9-4798-96CF-692CDF8978C1}" type="sibTrans" cxnId="{8E86BBAE-2C80-48CC-B18C-BA3E050201B6}">
      <dgm:prSet/>
      <dgm:spPr/>
      <dgm:t>
        <a:bodyPr/>
        <a:lstStyle/>
        <a:p>
          <a:endParaRPr lang="en-US" sz="1400"/>
        </a:p>
      </dgm:t>
    </dgm:pt>
    <dgm:pt modelId="{0B190566-DD12-4E4F-AC4B-E152B931B00C}">
      <dgm:prSet/>
      <dgm:spPr/>
      <dgm:t>
        <a:bodyPr/>
        <a:lstStyle/>
        <a:p>
          <a:endParaRPr lang="en-US" sz="3600" kern="1200" dirty="0"/>
        </a:p>
      </dgm:t>
    </dgm:pt>
    <dgm:pt modelId="{A705DCB2-FE23-4EFD-8F8D-F7FC8009B10F}" type="parTrans" cxnId="{6C7733FE-6C3F-4DFF-B1D4-7EF8C69ADDFA}">
      <dgm:prSet/>
      <dgm:spPr/>
      <dgm:t>
        <a:bodyPr/>
        <a:lstStyle/>
        <a:p>
          <a:endParaRPr lang="en-US"/>
        </a:p>
      </dgm:t>
    </dgm:pt>
    <dgm:pt modelId="{DF57F936-3AC7-4082-A18B-BF1BD3E31F19}" type="sibTrans" cxnId="{6C7733FE-6C3F-4DFF-B1D4-7EF8C69ADDFA}">
      <dgm:prSet/>
      <dgm:spPr/>
      <dgm:t>
        <a:bodyPr/>
        <a:lstStyle/>
        <a:p>
          <a:endParaRPr lang="en-US"/>
        </a:p>
      </dgm:t>
    </dgm:pt>
    <dgm:pt modelId="{3F93C5A4-2E4D-4CC0-B659-D1E2E0901292}" type="pres">
      <dgm:prSet presAssocID="{1C1FD136-5D0E-4F3D-8E17-8C94130E79CB}" presName="Name0" presStyleCnt="0">
        <dgm:presLayoutVars>
          <dgm:dir/>
          <dgm:resizeHandles val="exact"/>
        </dgm:presLayoutVars>
      </dgm:prSet>
      <dgm:spPr/>
    </dgm:pt>
    <dgm:pt modelId="{62909A75-041E-462F-94A2-1A8AD42F223B}" type="pres">
      <dgm:prSet presAssocID="{628091FF-3ABC-4FF4-A7CF-8BD66B4481A3}" presName="node" presStyleLbl="node1" presStyleIdx="0" presStyleCnt="3" custScaleX="105287" custLinFactNeighborY="241">
        <dgm:presLayoutVars>
          <dgm:bulletEnabled val="1"/>
        </dgm:presLayoutVars>
      </dgm:prSet>
      <dgm:spPr/>
    </dgm:pt>
    <dgm:pt modelId="{D01CF40B-C1A4-42A1-88B4-504EA506E24A}" type="pres">
      <dgm:prSet presAssocID="{3DA20163-698E-46FD-96B8-51EC8BC0C575}" presName="sibTrans" presStyleCnt="0"/>
      <dgm:spPr/>
    </dgm:pt>
    <dgm:pt modelId="{340FF98E-61BA-488E-A70D-3B4D803A1EBA}" type="pres">
      <dgm:prSet presAssocID="{B7CBCBD7-E538-42B2-9015-B5FCCF3B7CE4}" presName="node" presStyleLbl="node1" presStyleIdx="1" presStyleCnt="3" custScaleX="133973" custLinFactNeighborY="-241">
        <dgm:presLayoutVars>
          <dgm:bulletEnabled val="1"/>
        </dgm:presLayoutVars>
      </dgm:prSet>
      <dgm:spPr/>
    </dgm:pt>
    <dgm:pt modelId="{C2CAB1D4-00CD-4789-8B95-D8D90E944EA0}" type="pres">
      <dgm:prSet presAssocID="{9A3BD2AC-F2CF-49AA-B762-41325D795AD2}" presName="sibTrans" presStyleCnt="0"/>
      <dgm:spPr/>
    </dgm:pt>
    <dgm:pt modelId="{47243540-0AC9-442E-89C2-383842DF3035}" type="pres">
      <dgm:prSet presAssocID="{D4641743-EFA0-4D95-9978-F8DD79ED8B7A}" presName="node" presStyleLbl="node1" presStyleIdx="2" presStyleCnt="3">
        <dgm:presLayoutVars>
          <dgm:bulletEnabled val="1"/>
        </dgm:presLayoutVars>
      </dgm:prSet>
      <dgm:spPr/>
    </dgm:pt>
  </dgm:ptLst>
  <dgm:cxnLst>
    <dgm:cxn modelId="{F90EE931-A990-46F7-9547-9921E3C5BA68}" type="presOf" srcId="{628091FF-3ABC-4FF4-A7CF-8BD66B4481A3}" destId="{62909A75-041E-462F-94A2-1A8AD42F223B}" srcOrd="0" destOrd="0" presId="urn:microsoft.com/office/officeart/2005/8/layout/hList6"/>
    <dgm:cxn modelId="{490E7D38-CC1D-4648-BF1E-29A034265E94}" type="presOf" srcId="{1C1FD136-5D0E-4F3D-8E17-8C94130E79CB}" destId="{3F93C5A4-2E4D-4CC0-B659-D1E2E0901292}" srcOrd="0" destOrd="0" presId="urn:microsoft.com/office/officeart/2005/8/layout/hList6"/>
    <dgm:cxn modelId="{335AEB5F-1D86-4D20-A12A-F035852BCCD1}" srcId="{1C1FD136-5D0E-4F3D-8E17-8C94130E79CB}" destId="{B7CBCBD7-E538-42B2-9015-B5FCCF3B7CE4}" srcOrd="1" destOrd="0" parTransId="{5FB9EDD7-A68C-42A2-8FB0-1F34D02C478D}" sibTransId="{9A3BD2AC-F2CF-49AA-B762-41325D795AD2}"/>
    <dgm:cxn modelId="{38046F78-9255-4D43-894F-FB708321A801}" type="presOf" srcId="{0B190566-DD12-4E4F-AC4B-E152B931B00C}" destId="{62909A75-041E-462F-94A2-1A8AD42F223B}" srcOrd="0" destOrd="1" presId="urn:microsoft.com/office/officeart/2005/8/layout/hList6"/>
    <dgm:cxn modelId="{94F6EF98-792B-4133-B4BF-9934301EA312}" srcId="{1C1FD136-5D0E-4F3D-8E17-8C94130E79CB}" destId="{D4641743-EFA0-4D95-9978-F8DD79ED8B7A}" srcOrd="2" destOrd="0" parTransId="{E7541D6F-3267-41DE-9965-A68510C59796}" sibTransId="{5DAFA723-D469-4582-8DFD-B8D27542F681}"/>
    <dgm:cxn modelId="{8E86BBAE-2C80-48CC-B18C-BA3E050201B6}" srcId="{628091FF-3ABC-4FF4-A7CF-8BD66B4481A3}" destId="{49EF7422-6440-4212-8894-48FDF700B685}" srcOrd="1" destOrd="0" parTransId="{8041B5F5-EC39-4492-8D6E-42A9EAAFABD8}" sibTransId="{9A6A27B6-E7D9-4798-96CF-692CDF8978C1}"/>
    <dgm:cxn modelId="{E8269BB3-0939-4829-8DD7-33A146D0F294}" srcId="{1C1FD136-5D0E-4F3D-8E17-8C94130E79CB}" destId="{628091FF-3ABC-4FF4-A7CF-8BD66B4481A3}" srcOrd="0" destOrd="0" parTransId="{655AC7DC-4AAD-428D-BBE1-2F7E873464FC}" sibTransId="{3DA20163-698E-46FD-96B8-51EC8BC0C575}"/>
    <dgm:cxn modelId="{AA43EEB3-EF61-4ED4-9C91-02B7B54DCC6B}" type="presOf" srcId="{49EF7422-6440-4212-8894-48FDF700B685}" destId="{62909A75-041E-462F-94A2-1A8AD42F223B}" srcOrd="0" destOrd="2" presId="urn:microsoft.com/office/officeart/2005/8/layout/hList6"/>
    <dgm:cxn modelId="{407DBDC0-168F-423C-B0A6-DC492B0F15EF}" type="presOf" srcId="{B7CBCBD7-E538-42B2-9015-B5FCCF3B7CE4}" destId="{340FF98E-61BA-488E-A70D-3B4D803A1EBA}" srcOrd="0" destOrd="0" presId="urn:microsoft.com/office/officeart/2005/8/layout/hList6"/>
    <dgm:cxn modelId="{7D0135F3-709A-4646-BA36-FA80A30867C7}" type="presOf" srcId="{D4641743-EFA0-4D95-9978-F8DD79ED8B7A}" destId="{47243540-0AC9-442E-89C2-383842DF3035}" srcOrd="0" destOrd="0" presId="urn:microsoft.com/office/officeart/2005/8/layout/hList6"/>
    <dgm:cxn modelId="{6C7733FE-6C3F-4DFF-B1D4-7EF8C69ADDFA}" srcId="{628091FF-3ABC-4FF4-A7CF-8BD66B4481A3}" destId="{0B190566-DD12-4E4F-AC4B-E152B931B00C}" srcOrd="0" destOrd="0" parTransId="{A705DCB2-FE23-4EFD-8F8D-F7FC8009B10F}" sibTransId="{DF57F936-3AC7-4082-A18B-BF1BD3E31F19}"/>
    <dgm:cxn modelId="{4B817B70-69FF-49B2-90F7-EEA5F3F7552F}" type="presParOf" srcId="{3F93C5A4-2E4D-4CC0-B659-D1E2E0901292}" destId="{62909A75-041E-462F-94A2-1A8AD42F223B}" srcOrd="0" destOrd="0" presId="urn:microsoft.com/office/officeart/2005/8/layout/hList6"/>
    <dgm:cxn modelId="{DBCB228B-883B-425F-8CEE-86C4E7BEED7D}" type="presParOf" srcId="{3F93C5A4-2E4D-4CC0-B659-D1E2E0901292}" destId="{D01CF40B-C1A4-42A1-88B4-504EA506E24A}" srcOrd="1" destOrd="0" presId="urn:microsoft.com/office/officeart/2005/8/layout/hList6"/>
    <dgm:cxn modelId="{07E30336-451C-4841-BBFF-94E4A7A5334D}" type="presParOf" srcId="{3F93C5A4-2E4D-4CC0-B659-D1E2E0901292}" destId="{340FF98E-61BA-488E-A70D-3B4D803A1EBA}" srcOrd="2" destOrd="0" presId="urn:microsoft.com/office/officeart/2005/8/layout/hList6"/>
    <dgm:cxn modelId="{B98E65ED-DB33-476B-89A4-8BABF6406790}" type="presParOf" srcId="{3F93C5A4-2E4D-4CC0-B659-D1E2E0901292}" destId="{C2CAB1D4-00CD-4789-8B95-D8D90E944EA0}" srcOrd="3" destOrd="0" presId="urn:microsoft.com/office/officeart/2005/8/layout/hList6"/>
    <dgm:cxn modelId="{947F6EF9-8C68-4574-B5D2-5103A2000550}" type="presParOf" srcId="{3F93C5A4-2E4D-4CC0-B659-D1E2E0901292}" destId="{47243540-0AC9-442E-89C2-383842DF3035}" srcOrd="4"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C1FD136-5D0E-4F3D-8E17-8C94130E79CB}" type="doc">
      <dgm:prSet loTypeId="urn:microsoft.com/office/officeart/2005/8/layout/hList6" loCatId="list" qsTypeId="urn:microsoft.com/office/officeart/2005/8/quickstyle/simple1" qsCatId="simple" csTypeId="urn:microsoft.com/office/officeart/2005/8/colors/accent1_4" csCatId="accent1" phldr="1"/>
      <dgm:spPr/>
      <dgm:t>
        <a:bodyPr/>
        <a:lstStyle/>
        <a:p>
          <a:endParaRPr lang="en-US"/>
        </a:p>
      </dgm:t>
    </dgm:pt>
    <dgm:pt modelId="{628091FF-3ABC-4FF4-A7CF-8BD66B4481A3}">
      <dgm:prSet phldrT="[Text]" custT="1"/>
      <dgm:spPr>
        <a:solidFill>
          <a:schemeClr val="accent1">
            <a:lumMod val="50000"/>
          </a:schemeClr>
        </a:solidFill>
      </dgm:spPr>
      <dgm:t>
        <a:bodyPr/>
        <a:lstStyle/>
        <a:p>
          <a:r>
            <a:rPr lang="en-US" sz="1800" u="sng" dirty="0"/>
            <a:t>Data Exploration </a:t>
          </a:r>
        </a:p>
        <a:p>
          <a:r>
            <a:rPr lang="en-US" sz="1200" dirty="0"/>
            <a:t>Analyze the correlation, feature scaling and apply different data normalization techniques. on different variable, and the attributes of variables which have more weightage , sampling, transformation of data.</a:t>
          </a:r>
          <a:endParaRPr lang="en-US" sz="1200" u="sng" dirty="0"/>
        </a:p>
      </dgm:t>
    </dgm:pt>
    <dgm:pt modelId="{655AC7DC-4AAD-428D-BBE1-2F7E873464FC}" type="parTrans" cxnId="{E8269BB3-0939-4829-8DD7-33A146D0F294}">
      <dgm:prSet/>
      <dgm:spPr/>
      <dgm:t>
        <a:bodyPr/>
        <a:lstStyle/>
        <a:p>
          <a:endParaRPr lang="en-US" sz="1400"/>
        </a:p>
      </dgm:t>
    </dgm:pt>
    <dgm:pt modelId="{3DA20163-698E-46FD-96B8-51EC8BC0C575}" type="sibTrans" cxnId="{E8269BB3-0939-4829-8DD7-33A146D0F294}">
      <dgm:prSet/>
      <dgm:spPr/>
      <dgm:t>
        <a:bodyPr/>
        <a:lstStyle/>
        <a:p>
          <a:endParaRPr lang="en-US" sz="1400"/>
        </a:p>
      </dgm:t>
    </dgm:pt>
    <dgm:pt modelId="{B7CBCBD7-E538-42B2-9015-B5FCCF3B7CE4}">
      <dgm:prSet phldrT="[Text]" custT="1"/>
      <dgm:spPr>
        <a:solidFill>
          <a:schemeClr val="accent1">
            <a:lumMod val="75000"/>
          </a:schemeClr>
        </a:solidFill>
      </dgm:spPr>
      <dgm:t>
        <a:bodyPr/>
        <a:lstStyle/>
        <a:p>
          <a:pPr marL="0" lvl="0" algn="ctr" defTabSz="800100">
            <a:lnSpc>
              <a:spcPct val="90000"/>
            </a:lnSpc>
            <a:spcBef>
              <a:spcPct val="0"/>
            </a:spcBef>
            <a:spcAft>
              <a:spcPct val="35000"/>
            </a:spcAft>
            <a:buNone/>
          </a:pPr>
          <a:r>
            <a:rPr lang="en-US" sz="1800" u="sng" kern="1200" dirty="0"/>
            <a:t>Feature Engineering</a:t>
          </a:r>
        </a:p>
        <a:p>
          <a:pPr marL="0" lvl="0" algn="ctr" defTabSz="800100">
            <a:lnSpc>
              <a:spcPct val="90000"/>
            </a:lnSpc>
            <a:spcBef>
              <a:spcPct val="0"/>
            </a:spcBef>
            <a:spcAft>
              <a:spcPct val="35000"/>
            </a:spcAft>
            <a:buNone/>
          </a:pPr>
          <a:r>
            <a:rPr lang="en-US" sz="1200" kern="1200" dirty="0"/>
            <a:t>Get the insights from the EDA process, to identify the different variables, these feature variables can be used to improve the performance measure criteria. Apply  Imputation, Handling outliers, Binning, Log transform, one-hot encoding etc.</a:t>
          </a:r>
          <a:endParaRPr lang="en-US" sz="1200" u="sng" kern="1200" dirty="0"/>
        </a:p>
      </dgm:t>
    </dgm:pt>
    <dgm:pt modelId="{5FB9EDD7-A68C-42A2-8FB0-1F34D02C478D}" type="parTrans" cxnId="{335AEB5F-1D86-4D20-A12A-F035852BCCD1}">
      <dgm:prSet/>
      <dgm:spPr/>
      <dgm:t>
        <a:bodyPr/>
        <a:lstStyle/>
        <a:p>
          <a:endParaRPr lang="en-US" sz="1400"/>
        </a:p>
      </dgm:t>
    </dgm:pt>
    <dgm:pt modelId="{9A3BD2AC-F2CF-49AA-B762-41325D795AD2}" type="sibTrans" cxnId="{335AEB5F-1D86-4D20-A12A-F035852BCCD1}">
      <dgm:prSet/>
      <dgm:spPr/>
      <dgm:t>
        <a:bodyPr/>
        <a:lstStyle/>
        <a:p>
          <a:endParaRPr lang="en-US" sz="1400"/>
        </a:p>
      </dgm:t>
    </dgm:pt>
    <dgm:pt modelId="{D4641743-EFA0-4D95-9978-F8DD79ED8B7A}">
      <dgm:prSet phldrT="[Text]" custT="1"/>
      <dgm:spPr>
        <a:solidFill>
          <a:schemeClr val="tx2"/>
        </a:solidFill>
      </dgm:spPr>
      <dgm:t>
        <a:bodyPr/>
        <a:lstStyle/>
        <a:p>
          <a:r>
            <a:rPr lang="en-US" sz="1800" u="sng" dirty="0"/>
            <a:t>Predictive Modeling &amp; Visualization</a:t>
          </a:r>
        </a:p>
        <a:p>
          <a:r>
            <a:rPr lang="en-US" sz="1200" dirty="0"/>
            <a:t>Build the different models like - Logistic Regression, Decision Tree, Random Forest etc. Measure the performance of the models using metrics (Confusion Matrix, RMSE, Precision &amp; Recall, accuracy  score etc.)</a:t>
          </a:r>
          <a:endParaRPr lang="en-US" sz="1200" u="sng" dirty="0"/>
        </a:p>
      </dgm:t>
    </dgm:pt>
    <dgm:pt modelId="{E7541D6F-3267-41DE-9965-A68510C59796}" type="parTrans" cxnId="{94F6EF98-792B-4133-B4BF-9934301EA312}">
      <dgm:prSet/>
      <dgm:spPr/>
      <dgm:t>
        <a:bodyPr/>
        <a:lstStyle/>
        <a:p>
          <a:endParaRPr lang="en-US" sz="1400"/>
        </a:p>
      </dgm:t>
    </dgm:pt>
    <dgm:pt modelId="{5DAFA723-D469-4582-8DFD-B8D27542F681}" type="sibTrans" cxnId="{94F6EF98-792B-4133-B4BF-9934301EA312}">
      <dgm:prSet/>
      <dgm:spPr/>
      <dgm:t>
        <a:bodyPr/>
        <a:lstStyle/>
        <a:p>
          <a:endParaRPr lang="en-US" sz="1400"/>
        </a:p>
      </dgm:t>
    </dgm:pt>
    <dgm:pt modelId="{49EF7422-6440-4212-8894-48FDF700B685}">
      <dgm:prSet custT="1"/>
      <dgm:spPr>
        <a:solidFill>
          <a:schemeClr val="accent1">
            <a:lumMod val="50000"/>
          </a:schemeClr>
        </a:solidFill>
      </dgm:spPr>
      <dgm:t>
        <a:bodyPr/>
        <a:lstStyle/>
        <a:p>
          <a:endParaRPr lang="en-US" sz="1600" dirty="0"/>
        </a:p>
      </dgm:t>
    </dgm:pt>
    <dgm:pt modelId="{8041B5F5-EC39-4492-8D6E-42A9EAAFABD8}" type="parTrans" cxnId="{8E86BBAE-2C80-48CC-B18C-BA3E050201B6}">
      <dgm:prSet/>
      <dgm:spPr/>
      <dgm:t>
        <a:bodyPr/>
        <a:lstStyle/>
        <a:p>
          <a:endParaRPr lang="en-US" sz="1400"/>
        </a:p>
      </dgm:t>
    </dgm:pt>
    <dgm:pt modelId="{9A6A27B6-E7D9-4798-96CF-692CDF8978C1}" type="sibTrans" cxnId="{8E86BBAE-2C80-48CC-B18C-BA3E050201B6}">
      <dgm:prSet/>
      <dgm:spPr/>
      <dgm:t>
        <a:bodyPr/>
        <a:lstStyle/>
        <a:p>
          <a:endParaRPr lang="en-US" sz="1400"/>
        </a:p>
      </dgm:t>
    </dgm:pt>
    <dgm:pt modelId="{0B190566-DD12-4E4F-AC4B-E152B931B00C}">
      <dgm:prSet/>
      <dgm:spPr/>
      <dgm:t>
        <a:bodyPr/>
        <a:lstStyle/>
        <a:p>
          <a:endParaRPr lang="en-US" sz="3600" dirty="0"/>
        </a:p>
      </dgm:t>
    </dgm:pt>
    <dgm:pt modelId="{A705DCB2-FE23-4EFD-8F8D-F7FC8009B10F}" type="parTrans" cxnId="{6C7733FE-6C3F-4DFF-B1D4-7EF8C69ADDFA}">
      <dgm:prSet/>
      <dgm:spPr/>
      <dgm:t>
        <a:bodyPr/>
        <a:lstStyle/>
        <a:p>
          <a:endParaRPr lang="en-US"/>
        </a:p>
      </dgm:t>
    </dgm:pt>
    <dgm:pt modelId="{DF57F936-3AC7-4082-A18B-BF1BD3E31F19}" type="sibTrans" cxnId="{6C7733FE-6C3F-4DFF-B1D4-7EF8C69ADDFA}">
      <dgm:prSet/>
      <dgm:spPr/>
      <dgm:t>
        <a:bodyPr/>
        <a:lstStyle/>
        <a:p>
          <a:endParaRPr lang="en-US"/>
        </a:p>
      </dgm:t>
    </dgm:pt>
    <dgm:pt modelId="{3F93C5A4-2E4D-4CC0-B659-D1E2E0901292}" type="pres">
      <dgm:prSet presAssocID="{1C1FD136-5D0E-4F3D-8E17-8C94130E79CB}" presName="Name0" presStyleCnt="0">
        <dgm:presLayoutVars>
          <dgm:dir/>
          <dgm:resizeHandles val="exact"/>
        </dgm:presLayoutVars>
      </dgm:prSet>
      <dgm:spPr/>
    </dgm:pt>
    <dgm:pt modelId="{62909A75-041E-462F-94A2-1A8AD42F223B}" type="pres">
      <dgm:prSet presAssocID="{628091FF-3ABC-4FF4-A7CF-8BD66B4481A3}" presName="node" presStyleLbl="node1" presStyleIdx="0" presStyleCnt="3" custScaleX="105287" custLinFactNeighborY="241">
        <dgm:presLayoutVars>
          <dgm:bulletEnabled val="1"/>
        </dgm:presLayoutVars>
      </dgm:prSet>
      <dgm:spPr/>
    </dgm:pt>
    <dgm:pt modelId="{D01CF40B-C1A4-42A1-88B4-504EA506E24A}" type="pres">
      <dgm:prSet presAssocID="{3DA20163-698E-46FD-96B8-51EC8BC0C575}" presName="sibTrans" presStyleCnt="0"/>
      <dgm:spPr/>
    </dgm:pt>
    <dgm:pt modelId="{340FF98E-61BA-488E-A70D-3B4D803A1EBA}" type="pres">
      <dgm:prSet presAssocID="{B7CBCBD7-E538-42B2-9015-B5FCCF3B7CE4}" presName="node" presStyleLbl="node1" presStyleIdx="1" presStyleCnt="3" custLinFactNeighborY="-241">
        <dgm:presLayoutVars>
          <dgm:bulletEnabled val="1"/>
        </dgm:presLayoutVars>
      </dgm:prSet>
      <dgm:spPr/>
    </dgm:pt>
    <dgm:pt modelId="{C2CAB1D4-00CD-4789-8B95-D8D90E944EA0}" type="pres">
      <dgm:prSet presAssocID="{9A3BD2AC-F2CF-49AA-B762-41325D795AD2}" presName="sibTrans" presStyleCnt="0"/>
      <dgm:spPr/>
    </dgm:pt>
    <dgm:pt modelId="{47243540-0AC9-442E-89C2-383842DF3035}" type="pres">
      <dgm:prSet presAssocID="{D4641743-EFA0-4D95-9978-F8DD79ED8B7A}" presName="node" presStyleLbl="node1" presStyleIdx="2" presStyleCnt="3">
        <dgm:presLayoutVars>
          <dgm:bulletEnabled val="1"/>
        </dgm:presLayoutVars>
      </dgm:prSet>
      <dgm:spPr/>
    </dgm:pt>
  </dgm:ptLst>
  <dgm:cxnLst>
    <dgm:cxn modelId="{F90EE931-A990-46F7-9547-9921E3C5BA68}" type="presOf" srcId="{628091FF-3ABC-4FF4-A7CF-8BD66B4481A3}" destId="{62909A75-041E-462F-94A2-1A8AD42F223B}" srcOrd="0" destOrd="0" presId="urn:microsoft.com/office/officeart/2005/8/layout/hList6"/>
    <dgm:cxn modelId="{490E7D38-CC1D-4648-BF1E-29A034265E94}" type="presOf" srcId="{1C1FD136-5D0E-4F3D-8E17-8C94130E79CB}" destId="{3F93C5A4-2E4D-4CC0-B659-D1E2E0901292}" srcOrd="0" destOrd="0" presId="urn:microsoft.com/office/officeart/2005/8/layout/hList6"/>
    <dgm:cxn modelId="{335AEB5F-1D86-4D20-A12A-F035852BCCD1}" srcId="{1C1FD136-5D0E-4F3D-8E17-8C94130E79CB}" destId="{B7CBCBD7-E538-42B2-9015-B5FCCF3B7CE4}" srcOrd="1" destOrd="0" parTransId="{5FB9EDD7-A68C-42A2-8FB0-1F34D02C478D}" sibTransId="{9A3BD2AC-F2CF-49AA-B762-41325D795AD2}"/>
    <dgm:cxn modelId="{38046F78-9255-4D43-894F-FB708321A801}" type="presOf" srcId="{0B190566-DD12-4E4F-AC4B-E152B931B00C}" destId="{62909A75-041E-462F-94A2-1A8AD42F223B}" srcOrd="0" destOrd="1" presId="urn:microsoft.com/office/officeart/2005/8/layout/hList6"/>
    <dgm:cxn modelId="{94F6EF98-792B-4133-B4BF-9934301EA312}" srcId="{1C1FD136-5D0E-4F3D-8E17-8C94130E79CB}" destId="{D4641743-EFA0-4D95-9978-F8DD79ED8B7A}" srcOrd="2" destOrd="0" parTransId="{E7541D6F-3267-41DE-9965-A68510C59796}" sibTransId="{5DAFA723-D469-4582-8DFD-B8D27542F681}"/>
    <dgm:cxn modelId="{8E86BBAE-2C80-48CC-B18C-BA3E050201B6}" srcId="{628091FF-3ABC-4FF4-A7CF-8BD66B4481A3}" destId="{49EF7422-6440-4212-8894-48FDF700B685}" srcOrd="1" destOrd="0" parTransId="{8041B5F5-EC39-4492-8D6E-42A9EAAFABD8}" sibTransId="{9A6A27B6-E7D9-4798-96CF-692CDF8978C1}"/>
    <dgm:cxn modelId="{E8269BB3-0939-4829-8DD7-33A146D0F294}" srcId="{1C1FD136-5D0E-4F3D-8E17-8C94130E79CB}" destId="{628091FF-3ABC-4FF4-A7CF-8BD66B4481A3}" srcOrd="0" destOrd="0" parTransId="{655AC7DC-4AAD-428D-BBE1-2F7E873464FC}" sibTransId="{3DA20163-698E-46FD-96B8-51EC8BC0C575}"/>
    <dgm:cxn modelId="{AA43EEB3-EF61-4ED4-9C91-02B7B54DCC6B}" type="presOf" srcId="{49EF7422-6440-4212-8894-48FDF700B685}" destId="{62909A75-041E-462F-94A2-1A8AD42F223B}" srcOrd="0" destOrd="2" presId="urn:microsoft.com/office/officeart/2005/8/layout/hList6"/>
    <dgm:cxn modelId="{407DBDC0-168F-423C-B0A6-DC492B0F15EF}" type="presOf" srcId="{B7CBCBD7-E538-42B2-9015-B5FCCF3B7CE4}" destId="{340FF98E-61BA-488E-A70D-3B4D803A1EBA}" srcOrd="0" destOrd="0" presId="urn:microsoft.com/office/officeart/2005/8/layout/hList6"/>
    <dgm:cxn modelId="{7D0135F3-709A-4646-BA36-FA80A30867C7}" type="presOf" srcId="{D4641743-EFA0-4D95-9978-F8DD79ED8B7A}" destId="{47243540-0AC9-442E-89C2-383842DF3035}" srcOrd="0" destOrd="0" presId="urn:microsoft.com/office/officeart/2005/8/layout/hList6"/>
    <dgm:cxn modelId="{6C7733FE-6C3F-4DFF-B1D4-7EF8C69ADDFA}" srcId="{628091FF-3ABC-4FF4-A7CF-8BD66B4481A3}" destId="{0B190566-DD12-4E4F-AC4B-E152B931B00C}" srcOrd="0" destOrd="0" parTransId="{A705DCB2-FE23-4EFD-8F8D-F7FC8009B10F}" sibTransId="{DF57F936-3AC7-4082-A18B-BF1BD3E31F19}"/>
    <dgm:cxn modelId="{4B817B70-69FF-49B2-90F7-EEA5F3F7552F}" type="presParOf" srcId="{3F93C5A4-2E4D-4CC0-B659-D1E2E0901292}" destId="{62909A75-041E-462F-94A2-1A8AD42F223B}" srcOrd="0" destOrd="0" presId="urn:microsoft.com/office/officeart/2005/8/layout/hList6"/>
    <dgm:cxn modelId="{DBCB228B-883B-425F-8CEE-86C4E7BEED7D}" type="presParOf" srcId="{3F93C5A4-2E4D-4CC0-B659-D1E2E0901292}" destId="{D01CF40B-C1A4-42A1-88B4-504EA506E24A}" srcOrd="1" destOrd="0" presId="urn:microsoft.com/office/officeart/2005/8/layout/hList6"/>
    <dgm:cxn modelId="{07E30336-451C-4841-BBFF-94E4A7A5334D}" type="presParOf" srcId="{3F93C5A4-2E4D-4CC0-B659-D1E2E0901292}" destId="{340FF98E-61BA-488E-A70D-3B4D803A1EBA}" srcOrd="2" destOrd="0" presId="urn:microsoft.com/office/officeart/2005/8/layout/hList6"/>
    <dgm:cxn modelId="{B98E65ED-DB33-476B-89A4-8BABF6406790}" type="presParOf" srcId="{3F93C5A4-2E4D-4CC0-B659-D1E2E0901292}" destId="{C2CAB1D4-00CD-4789-8B95-D8D90E944EA0}" srcOrd="3" destOrd="0" presId="urn:microsoft.com/office/officeart/2005/8/layout/hList6"/>
    <dgm:cxn modelId="{947F6EF9-8C68-4574-B5D2-5103A2000550}" type="presParOf" srcId="{3F93C5A4-2E4D-4CC0-B659-D1E2E0901292}" destId="{47243540-0AC9-442E-89C2-383842DF3035}" srcOrd="4" destOrd="0" presId="urn:microsoft.com/office/officeart/2005/8/layout/hList6"/>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723F2B6-682F-4BD8-9448-1B0A34D1A620}" type="doc">
      <dgm:prSet loTypeId="urn:microsoft.com/office/officeart/2005/8/layout/bProcess4" loCatId="process" qsTypeId="urn:microsoft.com/office/officeart/2005/8/quickstyle/simple1" qsCatId="simple" csTypeId="urn:microsoft.com/office/officeart/2005/8/colors/colorful1" csCatId="colorful" phldr="1"/>
      <dgm:spPr/>
      <dgm:t>
        <a:bodyPr/>
        <a:lstStyle/>
        <a:p>
          <a:endParaRPr lang="en-US"/>
        </a:p>
      </dgm:t>
    </dgm:pt>
    <dgm:pt modelId="{040935A6-09F5-4A82-BEBE-2434B8648446}">
      <dgm:prSet phldrT="[Text]" custT="1"/>
      <dgm:spPr/>
      <dgm:t>
        <a:bodyPr/>
        <a:lstStyle/>
        <a:p>
          <a:pPr algn="ctr">
            <a:lnSpc>
              <a:spcPct val="100000"/>
            </a:lnSpc>
          </a:pPr>
          <a:r>
            <a:rPr lang="en-US" sz="1100" b="1" u="sng" dirty="0"/>
            <a:t>Workshop ( 2 Days)</a:t>
          </a:r>
        </a:p>
        <a:p>
          <a:pPr algn="l">
            <a:lnSpc>
              <a:spcPct val="100000"/>
            </a:lnSpc>
          </a:pPr>
          <a:r>
            <a:rPr lang="en-US" sz="1100" dirty="0"/>
            <a:t>- Meeting Stake holders</a:t>
          </a:r>
        </a:p>
        <a:p>
          <a:pPr algn="l">
            <a:lnSpc>
              <a:spcPct val="100000"/>
            </a:lnSpc>
          </a:pPr>
          <a:r>
            <a:rPr lang="en-US" sz="1100" dirty="0"/>
            <a:t>- Review on the Problem Statements</a:t>
          </a:r>
        </a:p>
        <a:p>
          <a:pPr algn="l">
            <a:lnSpc>
              <a:spcPct val="100000"/>
            </a:lnSpc>
          </a:pPr>
          <a:r>
            <a:rPr lang="en-US" sz="1100" dirty="0"/>
            <a:t>- KPI &amp; Success definition</a:t>
          </a:r>
        </a:p>
        <a:p>
          <a:pPr algn="l">
            <a:lnSpc>
              <a:spcPct val="100000"/>
            </a:lnSpc>
          </a:pPr>
          <a:r>
            <a:rPr lang="en-US" sz="1100" dirty="0"/>
            <a:t>- Data Insights with Business</a:t>
          </a:r>
        </a:p>
        <a:p>
          <a:pPr algn="l">
            <a:lnSpc>
              <a:spcPct val="100000"/>
            </a:lnSpc>
          </a:pPr>
          <a:r>
            <a:rPr lang="en-US" sz="1100" dirty="0"/>
            <a:t>- Discussion with IT team on Data Requirements / Data anonymization</a:t>
          </a:r>
        </a:p>
      </dgm:t>
    </dgm:pt>
    <dgm:pt modelId="{70DF9564-4EB9-46CF-BD62-F88CE0B255BE}" type="parTrans" cxnId="{8585C12D-9025-42A1-B869-CD8E1A6CB96F}">
      <dgm:prSet/>
      <dgm:spPr/>
      <dgm:t>
        <a:bodyPr/>
        <a:lstStyle/>
        <a:p>
          <a:endParaRPr lang="en-US" sz="1200"/>
        </a:p>
      </dgm:t>
    </dgm:pt>
    <dgm:pt modelId="{0A68F178-7BDA-4197-8C6F-D86545B47797}" type="sibTrans" cxnId="{8585C12D-9025-42A1-B869-CD8E1A6CB96F}">
      <dgm:prSet/>
      <dgm:spPr/>
      <dgm:t>
        <a:bodyPr/>
        <a:lstStyle/>
        <a:p>
          <a:endParaRPr lang="en-US" sz="1200"/>
        </a:p>
      </dgm:t>
    </dgm:pt>
    <dgm:pt modelId="{ADF6818D-43E8-4C6C-9FCA-7717C42AFA32}">
      <dgm:prSet phldrT="[Text]" custT="1"/>
      <dgm:spPr/>
      <dgm:t>
        <a:bodyPr/>
        <a:lstStyle/>
        <a:p>
          <a:pPr algn="ctr"/>
          <a:r>
            <a:rPr lang="en-US" sz="1600" b="1" u="sng" dirty="0"/>
            <a:t>High Level Design &amp; Plan ( 1 week)</a:t>
          </a:r>
          <a:endParaRPr lang="en-US" sz="1200" dirty="0"/>
        </a:p>
        <a:p>
          <a:pPr algn="l"/>
          <a:r>
            <a:rPr lang="en-US" sz="1200" dirty="0"/>
            <a:t>- Share high level Design and Project plan</a:t>
          </a:r>
        </a:p>
        <a:p>
          <a:pPr algn="l"/>
          <a:r>
            <a:rPr lang="en-US" sz="1200" dirty="0"/>
            <a:t>- Share Detailed Data requirements</a:t>
          </a:r>
        </a:p>
        <a:p>
          <a:pPr algn="ctr"/>
          <a:endParaRPr lang="en-US" sz="1200" dirty="0"/>
        </a:p>
      </dgm:t>
    </dgm:pt>
    <dgm:pt modelId="{F3FA6EC3-DABF-4D2A-9471-63CA94F73915}" type="parTrans" cxnId="{A2AE190E-0A4B-4216-8CA9-A4CF89E2435D}">
      <dgm:prSet/>
      <dgm:spPr/>
      <dgm:t>
        <a:bodyPr/>
        <a:lstStyle/>
        <a:p>
          <a:endParaRPr lang="en-US" sz="1200"/>
        </a:p>
      </dgm:t>
    </dgm:pt>
    <dgm:pt modelId="{1CC1DE39-2978-4504-9EDD-9681FEBC7C0B}" type="sibTrans" cxnId="{A2AE190E-0A4B-4216-8CA9-A4CF89E2435D}">
      <dgm:prSet/>
      <dgm:spPr/>
      <dgm:t>
        <a:bodyPr/>
        <a:lstStyle/>
        <a:p>
          <a:endParaRPr lang="en-US" sz="1200"/>
        </a:p>
      </dgm:t>
    </dgm:pt>
    <dgm:pt modelId="{3331B208-963C-462A-AF23-4D5B61B52A48}">
      <dgm:prSet phldrT="[Text]" custT="1"/>
      <dgm:spPr/>
      <dgm:t>
        <a:bodyPr/>
        <a:lstStyle/>
        <a:p>
          <a:r>
            <a:rPr lang="en-US" sz="1600" b="1" dirty="0"/>
            <a:t>Data Exploration ( 4 weeks)</a:t>
          </a:r>
        </a:p>
        <a:p>
          <a:r>
            <a:rPr lang="en-US" sz="1200" dirty="0"/>
            <a:t>- Slice the data in different ways</a:t>
          </a:r>
        </a:p>
        <a:p>
          <a:r>
            <a:rPr lang="en-US" sz="1200" dirty="0"/>
            <a:t>- Counts, Graphs, distribution, histograms</a:t>
          </a:r>
        </a:p>
        <a:p>
          <a:endParaRPr lang="en-US" sz="1200" dirty="0"/>
        </a:p>
      </dgm:t>
    </dgm:pt>
    <dgm:pt modelId="{3B8DB3FE-6532-4EF9-9BB8-6CC7C79AF262}" type="parTrans" cxnId="{7B501FA2-7B34-4A77-8AB4-F0EBD4C08038}">
      <dgm:prSet/>
      <dgm:spPr/>
      <dgm:t>
        <a:bodyPr/>
        <a:lstStyle/>
        <a:p>
          <a:endParaRPr lang="en-US" sz="1200"/>
        </a:p>
      </dgm:t>
    </dgm:pt>
    <dgm:pt modelId="{25ED525F-0FB2-4051-8B24-1FA13C235ED5}" type="sibTrans" cxnId="{7B501FA2-7B34-4A77-8AB4-F0EBD4C08038}">
      <dgm:prSet/>
      <dgm:spPr/>
      <dgm:t>
        <a:bodyPr/>
        <a:lstStyle/>
        <a:p>
          <a:endParaRPr lang="en-US" sz="1200"/>
        </a:p>
      </dgm:t>
    </dgm:pt>
    <dgm:pt modelId="{BFBE4027-FF55-4B3B-8B84-07D1CAFF8FA7}">
      <dgm:prSet phldrT="[Text]" custT="1"/>
      <dgm:spPr/>
      <dgm:t>
        <a:bodyPr/>
        <a:lstStyle/>
        <a:p>
          <a:r>
            <a:rPr lang="en-US" sz="1600" dirty="0"/>
            <a:t>Modelling (2 weeks)</a:t>
          </a:r>
        </a:p>
        <a:p>
          <a:r>
            <a:rPr lang="en-US" sz="1200" dirty="0"/>
            <a:t>Build ETL, Train Models, Evaluate Models with different metrices &amp; baselines, Sanity check of the Models</a:t>
          </a:r>
        </a:p>
      </dgm:t>
    </dgm:pt>
    <dgm:pt modelId="{21A95F62-E58C-4A76-8E88-FAD604AD64A4}" type="parTrans" cxnId="{5BFBBBC4-A98D-4A2A-93DE-4EEA48FD0977}">
      <dgm:prSet/>
      <dgm:spPr/>
      <dgm:t>
        <a:bodyPr/>
        <a:lstStyle/>
        <a:p>
          <a:endParaRPr lang="en-US" sz="1200"/>
        </a:p>
      </dgm:t>
    </dgm:pt>
    <dgm:pt modelId="{45BD08A4-842D-42DF-B5ED-F13CA77D8DD0}" type="sibTrans" cxnId="{5BFBBBC4-A98D-4A2A-93DE-4EEA48FD0977}">
      <dgm:prSet/>
      <dgm:spPr/>
      <dgm:t>
        <a:bodyPr/>
        <a:lstStyle/>
        <a:p>
          <a:endParaRPr lang="en-US" sz="1200"/>
        </a:p>
      </dgm:t>
    </dgm:pt>
    <dgm:pt modelId="{8998D5BC-5F7A-4FDE-878E-EBB11457D46E}">
      <dgm:prSet phldrT="[Text]" custT="1"/>
      <dgm:spPr>
        <a:solidFill>
          <a:schemeClr val="accent2">
            <a:lumMod val="75000"/>
          </a:schemeClr>
        </a:solidFill>
      </dgm:spPr>
      <dgm:t>
        <a:bodyPr/>
        <a:lstStyle/>
        <a:p>
          <a:r>
            <a:rPr lang="en-US" sz="1600" b="1" dirty="0"/>
            <a:t>Productization (2 weeks)</a:t>
          </a:r>
        </a:p>
        <a:p>
          <a:r>
            <a:rPr lang="en-US" sz="1200" dirty="0"/>
            <a:t>Configuration / Customization requirements in Collection product,</a:t>
          </a:r>
        </a:p>
        <a:p>
          <a:r>
            <a:rPr lang="en-US" sz="1200" dirty="0"/>
            <a:t> </a:t>
          </a:r>
        </a:p>
        <a:p>
          <a:endParaRPr lang="en-US" sz="1200" dirty="0"/>
        </a:p>
      </dgm:t>
    </dgm:pt>
    <dgm:pt modelId="{5F85722F-0DCF-41D4-A960-22AB197E3083}" type="parTrans" cxnId="{47A3DACB-027D-4675-B542-76E455E78A86}">
      <dgm:prSet/>
      <dgm:spPr/>
      <dgm:t>
        <a:bodyPr/>
        <a:lstStyle/>
        <a:p>
          <a:endParaRPr lang="en-US" sz="1200"/>
        </a:p>
      </dgm:t>
    </dgm:pt>
    <dgm:pt modelId="{F37D3C52-303B-44C7-B1F0-07F8FC1088F3}" type="sibTrans" cxnId="{47A3DACB-027D-4675-B542-76E455E78A86}">
      <dgm:prSet/>
      <dgm:spPr/>
      <dgm:t>
        <a:bodyPr/>
        <a:lstStyle/>
        <a:p>
          <a:endParaRPr lang="en-US" sz="1200"/>
        </a:p>
      </dgm:t>
    </dgm:pt>
    <dgm:pt modelId="{A1B76CA2-6686-4E36-9175-FC2470979A6E}">
      <dgm:prSet phldrT="[Text]" custT="1"/>
      <dgm:spPr>
        <a:solidFill>
          <a:schemeClr val="accent6">
            <a:lumMod val="75000"/>
          </a:schemeClr>
        </a:solidFill>
      </dgm:spPr>
      <dgm:t>
        <a:bodyPr/>
        <a:lstStyle/>
        <a:p>
          <a:r>
            <a:rPr lang="en-US" sz="1600" dirty="0"/>
            <a:t>Production Movement </a:t>
          </a:r>
        </a:p>
        <a:p>
          <a:r>
            <a:rPr lang="en-US" sz="1600" dirty="0"/>
            <a:t>(2 days)</a:t>
          </a:r>
        </a:p>
        <a:p>
          <a:r>
            <a:rPr lang="en-US" sz="1600" dirty="0"/>
            <a:t>Production Usage of Models </a:t>
          </a:r>
          <a:endParaRPr lang="en-US" sz="1200" dirty="0"/>
        </a:p>
      </dgm:t>
    </dgm:pt>
    <dgm:pt modelId="{A7AECC82-0F3E-40C4-8D9E-CFEFFB38FACC}" type="parTrans" cxnId="{84087274-31DA-48BC-A222-FF31C0E1DC6C}">
      <dgm:prSet/>
      <dgm:spPr/>
      <dgm:t>
        <a:bodyPr/>
        <a:lstStyle/>
        <a:p>
          <a:endParaRPr lang="en-US" sz="1200"/>
        </a:p>
      </dgm:t>
    </dgm:pt>
    <dgm:pt modelId="{8D368A69-1F6B-48EA-931D-B30DB50BF659}" type="sibTrans" cxnId="{84087274-31DA-48BC-A222-FF31C0E1DC6C}">
      <dgm:prSet/>
      <dgm:spPr/>
      <dgm:t>
        <a:bodyPr/>
        <a:lstStyle/>
        <a:p>
          <a:endParaRPr lang="en-US" sz="1200"/>
        </a:p>
      </dgm:t>
    </dgm:pt>
    <dgm:pt modelId="{30AE8017-3397-4EB6-9353-B4DEFB3D2FA5}">
      <dgm:prSet phldrT="[Text]" custT="1"/>
      <dgm:spPr/>
      <dgm:t>
        <a:bodyPr/>
        <a:lstStyle/>
        <a:p>
          <a:r>
            <a:rPr lang="en-US" sz="1400" dirty="0"/>
            <a:t>Result Review &amp; Model Optimization</a:t>
          </a:r>
        </a:p>
        <a:p>
          <a:r>
            <a:rPr lang="en-US" sz="1400" dirty="0"/>
            <a:t>Review model performance,</a:t>
          </a:r>
        </a:p>
        <a:p>
          <a:r>
            <a:rPr lang="en-US" sz="1400" dirty="0"/>
            <a:t>Recalibration requirements to be assessed</a:t>
          </a:r>
          <a:endParaRPr lang="en-US" sz="1100" dirty="0"/>
        </a:p>
      </dgm:t>
    </dgm:pt>
    <dgm:pt modelId="{11993F8A-9DD3-4ADF-AB76-689C39BEAAFB}" type="parTrans" cxnId="{A07B0951-33CB-4F03-8ECF-384C31836033}">
      <dgm:prSet/>
      <dgm:spPr/>
      <dgm:t>
        <a:bodyPr/>
        <a:lstStyle/>
        <a:p>
          <a:endParaRPr lang="en-US" sz="1200"/>
        </a:p>
      </dgm:t>
    </dgm:pt>
    <dgm:pt modelId="{E239AD60-65C1-48CD-A938-5E6AC1EF335E}" type="sibTrans" cxnId="{A07B0951-33CB-4F03-8ECF-384C31836033}">
      <dgm:prSet/>
      <dgm:spPr/>
      <dgm:t>
        <a:bodyPr/>
        <a:lstStyle/>
        <a:p>
          <a:endParaRPr lang="en-US" sz="1200"/>
        </a:p>
      </dgm:t>
    </dgm:pt>
    <dgm:pt modelId="{15C45145-D6C7-42BE-89E3-4FA1A08530D6}" type="pres">
      <dgm:prSet presAssocID="{D723F2B6-682F-4BD8-9448-1B0A34D1A620}" presName="Name0" presStyleCnt="0">
        <dgm:presLayoutVars>
          <dgm:dir/>
          <dgm:resizeHandles/>
        </dgm:presLayoutVars>
      </dgm:prSet>
      <dgm:spPr/>
    </dgm:pt>
    <dgm:pt modelId="{C96D69C8-0012-49D1-BD49-80E52FED66F8}" type="pres">
      <dgm:prSet presAssocID="{040935A6-09F5-4A82-BEBE-2434B8648446}" presName="compNode" presStyleCnt="0"/>
      <dgm:spPr/>
    </dgm:pt>
    <dgm:pt modelId="{761A4A05-A5F2-4B35-92F4-50C3001FCEAD}" type="pres">
      <dgm:prSet presAssocID="{040935A6-09F5-4A82-BEBE-2434B8648446}" presName="dummyConnPt" presStyleCnt="0"/>
      <dgm:spPr/>
    </dgm:pt>
    <dgm:pt modelId="{CE6EC537-F916-405F-9A1B-C36C817F6B97}" type="pres">
      <dgm:prSet presAssocID="{040935A6-09F5-4A82-BEBE-2434B8648446}" presName="node" presStyleLbl="node1" presStyleIdx="0" presStyleCnt="7" custScaleX="119478" custScaleY="105493">
        <dgm:presLayoutVars>
          <dgm:bulletEnabled val="1"/>
        </dgm:presLayoutVars>
      </dgm:prSet>
      <dgm:spPr/>
    </dgm:pt>
    <dgm:pt modelId="{260C3E0E-75EF-4FF9-9A07-1F4552862E35}" type="pres">
      <dgm:prSet presAssocID="{0A68F178-7BDA-4197-8C6F-D86545B47797}" presName="sibTrans" presStyleLbl="bgSibTrans2D1" presStyleIdx="0" presStyleCnt="6"/>
      <dgm:spPr/>
    </dgm:pt>
    <dgm:pt modelId="{29B67BBF-102B-4DD6-8085-F505C6B6A30F}" type="pres">
      <dgm:prSet presAssocID="{ADF6818D-43E8-4C6C-9FCA-7717C42AFA32}" presName="compNode" presStyleCnt="0"/>
      <dgm:spPr/>
    </dgm:pt>
    <dgm:pt modelId="{B7497FCE-8CDD-4290-A505-82B97DF5D963}" type="pres">
      <dgm:prSet presAssocID="{ADF6818D-43E8-4C6C-9FCA-7717C42AFA32}" presName="dummyConnPt" presStyleCnt="0"/>
      <dgm:spPr/>
    </dgm:pt>
    <dgm:pt modelId="{FECF4644-0EBF-4EC1-A1B8-27BB7D4C819D}" type="pres">
      <dgm:prSet presAssocID="{ADF6818D-43E8-4C6C-9FCA-7717C42AFA32}" presName="node" presStyleLbl="node1" presStyleIdx="1" presStyleCnt="7">
        <dgm:presLayoutVars>
          <dgm:bulletEnabled val="1"/>
        </dgm:presLayoutVars>
      </dgm:prSet>
      <dgm:spPr/>
    </dgm:pt>
    <dgm:pt modelId="{B84D88CF-6448-425E-A5E1-08BEE44D83CF}" type="pres">
      <dgm:prSet presAssocID="{1CC1DE39-2978-4504-9EDD-9681FEBC7C0B}" presName="sibTrans" presStyleLbl="bgSibTrans2D1" presStyleIdx="1" presStyleCnt="6"/>
      <dgm:spPr/>
    </dgm:pt>
    <dgm:pt modelId="{3D683024-0CBA-4825-9EB2-40DD6C7B04DC}" type="pres">
      <dgm:prSet presAssocID="{3331B208-963C-462A-AF23-4D5B61B52A48}" presName="compNode" presStyleCnt="0"/>
      <dgm:spPr/>
    </dgm:pt>
    <dgm:pt modelId="{C81D4E54-85EA-4893-AAEA-F6D4591A988F}" type="pres">
      <dgm:prSet presAssocID="{3331B208-963C-462A-AF23-4D5B61B52A48}" presName="dummyConnPt" presStyleCnt="0"/>
      <dgm:spPr/>
    </dgm:pt>
    <dgm:pt modelId="{D68B32F3-4F49-4731-A098-95F87DE54495}" type="pres">
      <dgm:prSet presAssocID="{3331B208-963C-462A-AF23-4D5B61B52A48}" presName="node" presStyleLbl="node1" presStyleIdx="2" presStyleCnt="7">
        <dgm:presLayoutVars>
          <dgm:bulletEnabled val="1"/>
        </dgm:presLayoutVars>
      </dgm:prSet>
      <dgm:spPr/>
    </dgm:pt>
    <dgm:pt modelId="{1A1676DE-E434-4875-9A3D-4C1D232E4EC0}" type="pres">
      <dgm:prSet presAssocID="{25ED525F-0FB2-4051-8B24-1FA13C235ED5}" presName="sibTrans" presStyleLbl="bgSibTrans2D1" presStyleIdx="2" presStyleCnt="6"/>
      <dgm:spPr/>
    </dgm:pt>
    <dgm:pt modelId="{6402D615-5A32-48D5-9362-9FC808C56E7B}" type="pres">
      <dgm:prSet presAssocID="{BFBE4027-FF55-4B3B-8B84-07D1CAFF8FA7}" presName="compNode" presStyleCnt="0"/>
      <dgm:spPr/>
    </dgm:pt>
    <dgm:pt modelId="{3FCF571D-D0C0-402A-B6BE-6E8324C39DD4}" type="pres">
      <dgm:prSet presAssocID="{BFBE4027-FF55-4B3B-8B84-07D1CAFF8FA7}" presName="dummyConnPt" presStyleCnt="0"/>
      <dgm:spPr/>
    </dgm:pt>
    <dgm:pt modelId="{BF8D7215-215E-49CE-AC65-2198C7D456C6}" type="pres">
      <dgm:prSet presAssocID="{BFBE4027-FF55-4B3B-8B84-07D1CAFF8FA7}" presName="node" presStyleLbl="node1" presStyleIdx="3" presStyleCnt="7">
        <dgm:presLayoutVars>
          <dgm:bulletEnabled val="1"/>
        </dgm:presLayoutVars>
      </dgm:prSet>
      <dgm:spPr/>
    </dgm:pt>
    <dgm:pt modelId="{CCAB4859-CF8A-4189-855F-D49BC47CE450}" type="pres">
      <dgm:prSet presAssocID="{45BD08A4-842D-42DF-B5ED-F13CA77D8DD0}" presName="sibTrans" presStyleLbl="bgSibTrans2D1" presStyleIdx="3" presStyleCnt="6"/>
      <dgm:spPr/>
    </dgm:pt>
    <dgm:pt modelId="{68F8FF78-FDE1-466B-8766-202A28EB1335}" type="pres">
      <dgm:prSet presAssocID="{8998D5BC-5F7A-4FDE-878E-EBB11457D46E}" presName="compNode" presStyleCnt="0"/>
      <dgm:spPr/>
    </dgm:pt>
    <dgm:pt modelId="{0EDB4CD4-004D-4FE4-B489-D3EAD848D482}" type="pres">
      <dgm:prSet presAssocID="{8998D5BC-5F7A-4FDE-878E-EBB11457D46E}" presName="dummyConnPt" presStyleCnt="0"/>
      <dgm:spPr/>
    </dgm:pt>
    <dgm:pt modelId="{5D1DCC20-8FCF-4F6A-9F7F-F9E00FB12E18}" type="pres">
      <dgm:prSet presAssocID="{8998D5BC-5F7A-4FDE-878E-EBB11457D46E}" presName="node" presStyleLbl="node1" presStyleIdx="4" presStyleCnt="7">
        <dgm:presLayoutVars>
          <dgm:bulletEnabled val="1"/>
        </dgm:presLayoutVars>
      </dgm:prSet>
      <dgm:spPr/>
    </dgm:pt>
    <dgm:pt modelId="{4E0D2A9C-C070-466E-9E85-60816315BEA8}" type="pres">
      <dgm:prSet presAssocID="{F37D3C52-303B-44C7-B1F0-07F8FC1088F3}" presName="sibTrans" presStyleLbl="bgSibTrans2D1" presStyleIdx="4" presStyleCnt="6"/>
      <dgm:spPr/>
    </dgm:pt>
    <dgm:pt modelId="{A9616618-1EF7-4EE8-AC5D-D7F9FD5266DA}" type="pres">
      <dgm:prSet presAssocID="{A1B76CA2-6686-4E36-9175-FC2470979A6E}" presName="compNode" presStyleCnt="0"/>
      <dgm:spPr/>
    </dgm:pt>
    <dgm:pt modelId="{E3A7A282-074F-4473-B6B6-A68389297C11}" type="pres">
      <dgm:prSet presAssocID="{A1B76CA2-6686-4E36-9175-FC2470979A6E}" presName="dummyConnPt" presStyleCnt="0"/>
      <dgm:spPr/>
    </dgm:pt>
    <dgm:pt modelId="{6ECDDEB0-82AD-4C9F-B4F6-5549BF675AA3}" type="pres">
      <dgm:prSet presAssocID="{A1B76CA2-6686-4E36-9175-FC2470979A6E}" presName="node" presStyleLbl="node1" presStyleIdx="5" presStyleCnt="7">
        <dgm:presLayoutVars>
          <dgm:bulletEnabled val="1"/>
        </dgm:presLayoutVars>
      </dgm:prSet>
      <dgm:spPr/>
    </dgm:pt>
    <dgm:pt modelId="{9C0234A8-A60E-4EF5-8D47-B258974E4090}" type="pres">
      <dgm:prSet presAssocID="{8D368A69-1F6B-48EA-931D-B30DB50BF659}" presName="sibTrans" presStyleLbl="bgSibTrans2D1" presStyleIdx="5" presStyleCnt="6"/>
      <dgm:spPr/>
    </dgm:pt>
    <dgm:pt modelId="{7F92A3E3-B213-4243-BF28-9544F3A4AA95}" type="pres">
      <dgm:prSet presAssocID="{30AE8017-3397-4EB6-9353-B4DEFB3D2FA5}" presName="compNode" presStyleCnt="0"/>
      <dgm:spPr/>
    </dgm:pt>
    <dgm:pt modelId="{2B916571-04EF-4666-8C5F-2B17370C06E5}" type="pres">
      <dgm:prSet presAssocID="{30AE8017-3397-4EB6-9353-B4DEFB3D2FA5}" presName="dummyConnPt" presStyleCnt="0"/>
      <dgm:spPr/>
    </dgm:pt>
    <dgm:pt modelId="{898B767F-F474-423A-9C74-FD16DCD63846}" type="pres">
      <dgm:prSet presAssocID="{30AE8017-3397-4EB6-9353-B4DEFB3D2FA5}" presName="node" presStyleLbl="node1" presStyleIdx="6" presStyleCnt="7">
        <dgm:presLayoutVars>
          <dgm:bulletEnabled val="1"/>
        </dgm:presLayoutVars>
      </dgm:prSet>
      <dgm:spPr/>
    </dgm:pt>
  </dgm:ptLst>
  <dgm:cxnLst>
    <dgm:cxn modelId="{A2AE190E-0A4B-4216-8CA9-A4CF89E2435D}" srcId="{D723F2B6-682F-4BD8-9448-1B0A34D1A620}" destId="{ADF6818D-43E8-4C6C-9FCA-7717C42AFA32}" srcOrd="1" destOrd="0" parTransId="{F3FA6EC3-DABF-4D2A-9471-63CA94F73915}" sibTransId="{1CC1DE39-2978-4504-9EDD-9681FEBC7C0B}"/>
    <dgm:cxn modelId="{8585C12D-9025-42A1-B869-CD8E1A6CB96F}" srcId="{D723F2B6-682F-4BD8-9448-1B0A34D1A620}" destId="{040935A6-09F5-4A82-BEBE-2434B8648446}" srcOrd="0" destOrd="0" parTransId="{70DF9564-4EB9-46CF-BD62-F88CE0B255BE}" sibTransId="{0A68F178-7BDA-4197-8C6F-D86545B47797}"/>
    <dgm:cxn modelId="{E9476034-DC40-4B1E-B5FB-06C8FCF5BAAF}" type="presOf" srcId="{8D368A69-1F6B-48EA-931D-B30DB50BF659}" destId="{9C0234A8-A60E-4EF5-8D47-B258974E4090}" srcOrd="0" destOrd="0" presId="urn:microsoft.com/office/officeart/2005/8/layout/bProcess4"/>
    <dgm:cxn modelId="{EE098941-0A2B-4C7B-9D80-0CD52629CC79}" type="presOf" srcId="{45BD08A4-842D-42DF-B5ED-F13CA77D8DD0}" destId="{CCAB4859-CF8A-4189-855F-D49BC47CE450}" srcOrd="0" destOrd="0" presId="urn:microsoft.com/office/officeart/2005/8/layout/bProcess4"/>
    <dgm:cxn modelId="{4BCA3A62-BC2D-4C22-982D-8F065D68DD22}" type="presOf" srcId="{F37D3C52-303B-44C7-B1F0-07F8FC1088F3}" destId="{4E0D2A9C-C070-466E-9E85-60816315BEA8}" srcOrd="0" destOrd="0" presId="urn:microsoft.com/office/officeart/2005/8/layout/bProcess4"/>
    <dgm:cxn modelId="{F6417A68-C32A-4301-AFFC-D9AD856346EF}" type="presOf" srcId="{25ED525F-0FB2-4051-8B24-1FA13C235ED5}" destId="{1A1676DE-E434-4875-9A3D-4C1D232E4EC0}" srcOrd="0" destOrd="0" presId="urn:microsoft.com/office/officeart/2005/8/layout/bProcess4"/>
    <dgm:cxn modelId="{EDAF074D-22B0-465E-AD77-586B8CFA0B37}" type="presOf" srcId="{040935A6-09F5-4A82-BEBE-2434B8648446}" destId="{CE6EC537-F916-405F-9A1B-C36C817F6B97}" srcOrd="0" destOrd="0" presId="urn:microsoft.com/office/officeart/2005/8/layout/bProcess4"/>
    <dgm:cxn modelId="{A07B0951-33CB-4F03-8ECF-384C31836033}" srcId="{D723F2B6-682F-4BD8-9448-1B0A34D1A620}" destId="{30AE8017-3397-4EB6-9353-B4DEFB3D2FA5}" srcOrd="6" destOrd="0" parTransId="{11993F8A-9DD3-4ADF-AB76-689C39BEAAFB}" sibTransId="{E239AD60-65C1-48CD-A938-5E6AC1EF335E}"/>
    <dgm:cxn modelId="{9AA26271-EE39-4BCD-9262-9AE81B7716E1}" type="presOf" srcId="{ADF6818D-43E8-4C6C-9FCA-7717C42AFA32}" destId="{FECF4644-0EBF-4EC1-A1B8-27BB7D4C819D}" srcOrd="0" destOrd="0" presId="urn:microsoft.com/office/officeart/2005/8/layout/bProcess4"/>
    <dgm:cxn modelId="{84087274-31DA-48BC-A222-FF31C0E1DC6C}" srcId="{D723F2B6-682F-4BD8-9448-1B0A34D1A620}" destId="{A1B76CA2-6686-4E36-9175-FC2470979A6E}" srcOrd="5" destOrd="0" parTransId="{A7AECC82-0F3E-40C4-8D9E-CFEFFB38FACC}" sibTransId="{8D368A69-1F6B-48EA-931D-B30DB50BF659}"/>
    <dgm:cxn modelId="{7EFA807C-757F-4704-AD82-812C986B18F7}" type="presOf" srcId="{3331B208-963C-462A-AF23-4D5B61B52A48}" destId="{D68B32F3-4F49-4731-A098-95F87DE54495}" srcOrd="0" destOrd="0" presId="urn:microsoft.com/office/officeart/2005/8/layout/bProcess4"/>
    <dgm:cxn modelId="{4389D495-C5DE-4EE6-AF4A-E14E3D9A174A}" type="presOf" srcId="{BFBE4027-FF55-4B3B-8B84-07D1CAFF8FA7}" destId="{BF8D7215-215E-49CE-AC65-2198C7D456C6}" srcOrd="0" destOrd="0" presId="urn:microsoft.com/office/officeart/2005/8/layout/bProcess4"/>
    <dgm:cxn modelId="{A4ADC096-37FB-4510-A49D-092D0A330F2B}" type="presOf" srcId="{0A68F178-7BDA-4197-8C6F-D86545B47797}" destId="{260C3E0E-75EF-4FF9-9A07-1F4552862E35}" srcOrd="0" destOrd="0" presId="urn:microsoft.com/office/officeart/2005/8/layout/bProcess4"/>
    <dgm:cxn modelId="{7B501FA2-7B34-4A77-8AB4-F0EBD4C08038}" srcId="{D723F2B6-682F-4BD8-9448-1B0A34D1A620}" destId="{3331B208-963C-462A-AF23-4D5B61B52A48}" srcOrd="2" destOrd="0" parTransId="{3B8DB3FE-6532-4EF9-9BB8-6CC7C79AF262}" sibTransId="{25ED525F-0FB2-4051-8B24-1FA13C235ED5}"/>
    <dgm:cxn modelId="{61D3F7A3-4F56-4C28-A3E6-E7B98D31D6BC}" type="presOf" srcId="{A1B76CA2-6686-4E36-9175-FC2470979A6E}" destId="{6ECDDEB0-82AD-4C9F-B4F6-5549BF675AA3}" srcOrd="0" destOrd="0" presId="urn:microsoft.com/office/officeart/2005/8/layout/bProcess4"/>
    <dgm:cxn modelId="{56873BAC-ED2B-44A5-85D6-4A105A089B22}" type="presOf" srcId="{8998D5BC-5F7A-4FDE-878E-EBB11457D46E}" destId="{5D1DCC20-8FCF-4F6A-9F7F-F9E00FB12E18}" srcOrd="0" destOrd="0" presId="urn:microsoft.com/office/officeart/2005/8/layout/bProcess4"/>
    <dgm:cxn modelId="{FC6CC8B0-533E-432A-A474-C3B87128B6F0}" type="presOf" srcId="{30AE8017-3397-4EB6-9353-B4DEFB3D2FA5}" destId="{898B767F-F474-423A-9C74-FD16DCD63846}" srcOrd="0" destOrd="0" presId="urn:microsoft.com/office/officeart/2005/8/layout/bProcess4"/>
    <dgm:cxn modelId="{8FDDFDB4-4862-4FDD-BA63-2DD4D732F316}" type="presOf" srcId="{D723F2B6-682F-4BD8-9448-1B0A34D1A620}" destId="{15C45145-D6C7-42BE-89E3-4FA1A08530D6}" srcOrd="0" destOrd="0" presId="urn:microsoft.com/office/officeart/2005/8/layout/bProcess4"/>
    <dgm:cxn modelId="{5BFBBBC4-A98D-4A2A-93DE-4EEA48FD0977}" srcId="{D723F2B6-682F-4BD8-9448-1B0A34D1A620}" destId="{BFBE4027-FF55-4B3B-8B84-07D1CAFF8FA7}" srcOrd="3" destOrd="0" parTransId="{21A95F62-E58C-4A76-8E88-FAD604AD64A4}" sibTransId="{45BD08A4-842D-42DF-B5ED-F13CA77D8DD0}"/>
    <dgm:cxn modelId="{7B223CC9-F3D0-4264-8924-4C1B1A99E450}" type="presOf" srcId="{1CC1DE39-2978-4504-9EDD-9681FEBC7C0B}" destId="{B84D88CF-6448-425E-A5E1-08BEE44D83CF}" srcOrd="0" destOrd="0" presId="urn:microsoft.com/office/officeart/2005/8/layout/bProcess4"/>
    <dgm:cxn modelId="{47A3DACB-027D-4675-B542-76E455E78A86}" srcId="{D723F2B6-682F-4BD8-9448-1B0A34D1A620}" destId="{8998D5BC-5F7A-4FDE-878E-EBB11457D46E}" srcOrd="4" destOrd="0" parTransId="{5F85722F-0DCF-41D4-A960-22AB197E3083}" sibTransId="{F37D3C52-303B-44C7-B1F0-07F8FC1088F3}"/>
    <dgm:cxn modelId="{121A17B7-1E27-477F-BE19-5475FE6FB416}" type="presParOf" srcId="{15C45145-D6C7-42BE-89E3-4FA1A08530D6}" destId="{C96D69C8-0012-49D1-BD49-80E52FED66F8}" srcOrd="0" destOrd="0" presId="urn:microsoft.com/office/officeart/2005/8/layout/bProcess4"/>
    <dgm:cxn modelId="{6E80FE47-FD4B-4A94-B619-EC51E17587BB}" type="presParOf" srcId="{C96D69C8-0012-49D1-BD49-80E52FED66F8}" destId="{761A4A05-A5F2-4B35-92F4-50C3001FCEAD}" srcOrd="0" destOrd="0" presId="urn:microsoft.com/office/officeart/2005/8/layout/bProcess4"/>
    <dgm:cxn modelId="{F3DA4314-86BB-40FE-8B03-1B0700CE1DF1}" type="presParOf" srcId="{C96D69C8-0012-49D1-BD49-80E52FED66F8}" destId="{CE6EC537-F916-405F-9A1B-C36C817F6B97}" srcOrd="1" destOrd="0" presId="urn:microsoft.com/office/officeart/2005/8/layout/bProcess4"/>
    <dgm:cxn modelId="{0035D644-E889-443F-85C5-81C51E3A637E}" type="presParOf" srcId="{15C45145-D6C7-42BE-89E3-4FA1A08530D6}" destId="{260C3E0E-75EF-4FF9-9A07-1F4552862E35}" srcOrd="1" destOrd="0" presId="urn:microsoft.com/office/officeart/2005/8/layout/bProcess4"/>
    <dgm:cxn modelId="{BBB2447F-D64C-445E-AA8F-DF70A5CBC7BF}" type="presParOf" srcId="{15C45145-D6C7-42BE-89E3-4FA1A08530D6}" destId="{29B67BBF-102B-4DD6-8085-F505C6B6A30F}" srcOrd="2" destOrd="0" presId="urn:microsoft.com/office/officeart/2005/8/layout/bProcess4"/>
    <dgm:cxn modelId="{E443A199-C1FE-4865-8142-3DBFA7AD7790}" type="presParOf" srcId="{29B67BBF-102B-4DD6-8085-F505C6B6A30F}" destId="{B7497FCE-8CDD-4290-A505-82B97DF5D963}" srcOrd="0" destOrd="0" presId="urn:microsoft.com/office/officeart/2005/8/layout/bProcess4"/>
    <dgm:cxn modelId="{AD68A8E9-89E5-4719-ACA7-68F60CC8E3EE}" type="presParOf" srcId="{29B67BBF-102B-4DD6-8085-F505C6B6A30F}" destId="{FECF4644-0EBF-4EC1-A1B8-27BB7D4C819D}" srcOrd="1" destOrd="0" presId="urn:microsoft.com/office/officeart/2005/8/layout/bProcess4"/>
    <dgm:cxn modelId="{11DC3EC0-5E7D-49A6-94B3-7D0BAE181906}" type="presParOf" srcId="{15C45145-D6C7-42BE-89E3-4FA1A08530D6}" destId="{B84D88CF-6448-425E-A5E1-08BEE44D83CF}" srcOrd="3" destOrd="0" presId="urn:microsoft.com/office/officeart/2005/8/layout/bProcess4"/>
    <dgm:cxn modelId="{E0032A2A-805B-4AAF-BE2D-F31E993F8EFD}" type="presParOf" srcId="{15C45145-D6C7-42BE-89E3-4FA1A08530D6}" destId="{3D683024-0CBA-4825-9EB2-40DD6C7B04DC}" srcOrd="4" destOrd="0" presId="urn:microsoft.com/office/officeart/2005/8/layout/bProcess4"/>
    <dgm:cxn modelId="{28255291-C7D2-41F3-B18B-6F49B7AAA655}" type="presParOf" srcId="{3D683024-0CBA-4825-9EB2-40DD6C7B04DC}" destId="{C81D4E54-85EA-4893-AAEA-F6D4591A988F}" srcOrd="0" destOrd="0" presId="urn:microsoft.com/office/officeart/2005/8/layout/bProcess4"/>
    <dgm:cxn modelId="{F40A39D1-2470-4EC3-A045-E5DE1D46E0C0}" type="presParOf" srcId="{3D683024-0CBA-4825-9EB2-40DD6C7B04DC}" destId="{D68B32F3-4F49-4731-A098-95F87DE54495}" srcOrd="1" destOrd="0" presId="urn:microsoft.com/office/officeart/2005/8/layout/bProcess4"/>
    <dgm:cxn modelId="{B454ED3E-343B-4748-A072-1F2FABE82B4F}" type="presParOf" srcId="{15C45145-D6C7-42BE-89E3-4FA1A08530D6}" destId="{1A1676DE-E434-4875-9A3D-4C1D232E4EC0}" srcOrd="5" destOrd="0" presId="urn:microsoft.com/office/officeart/2005/8/layout/bProcess4"/>
    <dgm:cxn modelId="{C4D25DBB-FB9D-4097-9F1A-50B8506B47B1}" type="presParOf" srcId="{15C45145-D6C7-42BE-89E3-4FA1A08530D6}" destId="{6402D615-5A32-48D5-9362-9FC808C56E7B}" srcOrd="6" destOrd="0" presId="urn:microsoft.com/office/officeart/2005/8/layout/bProcess4"/>
    <dgm:cxn modelId="{341571A9-F001-4A56-8E72-E096E045DBD0}" type="presParOf" srcId="{6402D615-5A32-48D5-9362-9FC808C56E7B}" destId="{3FCF571D-D0C0-402A-B6BE-6E8324C39DD4}" srcOrd="0" destOrd="0" presId="urn:microsoft.com/office/officeart/2005/8/layout/bProcess4"/>
    <dgm:cxn modelId="{31A7A248-110C-4E89-89FA-0215607AFC94}" type="presParOf" srcId="{6402D615-5A32-48D5-9362-9FC808C56E7B}" destId="{BF8D7215-215E-49CE-AC65-2198C7D456C6}" srcOrd="1" destOrd="0" presId="urn:microsoft.com/office/officeart/2005/8/layout/bProcess4"/>
    <dgm:cxn modelId="{77C698A7-B451-4FB6-B093-925B976C909A}" type="presParOf" srcId="{15C45145-D6C7-42BE-89E3-4FA1A08530D6}" destId="{CCAB4859-CF8A-4189-855F-D49BC47CE450}" srcOrd="7" destOrd="0" presId="urn:microsoft.com/office/officeart/2005/8/layout/bProcess4"/>
    <dgm:cxn modelId="{4564FBD3-7E15-467A-9F7A-B4EB3387192E}" type="presParOf" srcId="{15C45145-D6C7-42BE-89E3-4FA1A08530D6}" destId="{68F8FF78-FDE1-466B-8766-202A28EB1335}" srcOrd="8" destOrd="0" presId="urn:microsoft.com/office/officeart/2005/8/layout/bProcess4"/>
    <dgm:cxn modelId="{DADFD17F-E467-405D-9B76-39A081756E33}" type="presParOf" srcId="{68F8FF78-FDE1-466B-8766-202A28EB1335}" destId="{0EDB4CD4-004D-4FE4-B489-D3EAD848D482}" srcOrd="0" destOrd="0" presId="urn:microsoft.com/office/officeart/2005/8/layout/bProcess4"/>
    <dgm:cxn modelId="{0142D8F2-53EA-404B-858D-871A217D1FB5}" type="presParOf" srcId="{68F8FF78-FDE1-466B-8766-202A28EB1335}" destId="{5D1DCC20-8FCF-4F6A-9F7F-F9E00FB12E18}" srcOrd="1" destOrd="0" presId="urn:microsoft.com/office/officeart/2005/8/layout/bProcess4"/>
    <dgm:cxn modelId="{D9F5E070-1366-4799-84C2-F174929FB879}" type="presParOf" srcId="{15C45145-D6C7-42BE-89E3-4FA1A08530D6}" destId="{4E0D2A9C-C070-466E-9E85-60816315BEA8}" srcOrd="9" destOrd="0" presId="urn:microsoft.com/office/officeart/2005/8/layout/bProcess4"/>
    <dgm:cxn modelId="{02AAD37E-BAEE-4C7F-BB11-A1E45271C222}" type="presParOf" srcId="{15C45145-D6C7-42BE-89E3-4FA1A08530D6}" destId="{A9616618-1EF7-4EE8-AC5D-D7F9FD5266DA}" srcOrd="10" destOrd="0" presId="urn:microsoft.com/office/officeart/2005/8/layout/bProcess4"/>
    <dgm:cxn modelId="{D47B8058-DFF3-4378-804B-8C6C83F95D92}" type="presParOf" srcId="{A9616618-1EF7-4EE8-AC5D-D7F9FD5266DA}" destId="{E3A7A282-074F-4473-B6B6-A68389297C11}" srcOrd="0" destOrd="0" presId="urn:microsoft.com/office/officeart/2005/8/layout/bProcess4"/>
    <dgm:cxn modelId="{A18EEFA8-6983-4442-BD0A-4DC36B4F9E65}" type="presParOf" srcId="{A9616618-1EF7-4EE8-AC5D-D7F9FD5266DA}" destId="{6ECDDEB0-82AD-4C9F-B4F6-5549BF675AA3}" srcOrd="1" destOrd="0" presId="urn:microsoft.com/office/officeart/2005/8/layout/bProcess4"/>
    <dgm:cxn modelId="{C5388015-CBA1-4804-802B-82ADA395FAC6}" type="presParOf" srcId="{15C45145-D6C7-42BE-89E3-4FA1A08530D6}" destId="{9C0234A8-A60E-4EF5-8D47-B258974E4090}" srcOrd="11" destOrd="0" presId="urn:microsoft.com/office/officeart/2005/8/layout/bProcess4"/>
    <dgm:cxn modelId="{A631671C-6223-496C-985F-01B8FF28A022}" type="presParOf" srcId="{15C45145-D6C7-42BE-89E3-4FA1A08530D6}" destId="{7F92A3E3-B213-4243-BF28-9544F3A4AA95}" srcOrd="12" destOrd="0" presId="urn:microsoft.com/office/officeart/2005/8/layout/bProcess4"/>
    <dgm:cxn modelId="{1EBA922A-29B2-4AD2-BCB1-2B8CB11ADAD6}" type="presParOf" srcId="{7F92A3E3-B213-4243-BF28-9544F3A4AA95}" destId="{2B916571-04EF-4666-8C5F-2B17370C06E5}" srcOrd="0" destOrd="0" presId="urn:microsoft.com/office/officeart/2005/8/layout/bProcess4"/>
    <dgm:cxn modelId="{E41AF87E-611E-4706-B537-48970F97036C}" type="presParOf" srcId="{7F92A3E3-B213-4243-BF28-9544F3A4AA95}" destId="{898B767F-F474-423A-9C74-FD16DCD63846}" srcOrd="1" destOrd="0" presId="urn:microsoft.com/office/officeart/2005/8/layout/b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909A75-041E-462F-94A2-1A8AD42F223B}">
      <dsp:nvSpPr>
        <dsp:cNvPr id="0" name=""/>
        <dsp:cNvSpPr/>
      </dsp:nvSpPr>
      <dsp:spPr>
        <a:xfrm rot="16200000">
          <a:off x="-1270463" y="1270911"/>
          <a:ext cx="3986783" cy="1444960"/>
        </a:xfrm>
        <a:prstGeom prst="flowChartManualOperation">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4300" bIns="0" numCol="1" spcCol="1270" anchor="t" anchorCtr="0">
          <a:noAutofit/>
        </a:bodyPr>
        <a:lstStyle/>
        <a:p>
          <a:pPr marL="0" lvl="0" indent="0" algn="l" defTabSz="800100">
            <a:lnSpc>
              <a:spcPct val="90000"/>
            </a:lnSpc>
            <a:spcBef>
              <a:spcPct val="0"/>
            </a:spcBef>
            <a:spcAft>
              <a:spcPct val="35000"/>
            </a:spcAft>
            <a:buNone/>
          </a:pPr>
          <a:r>
            <a:rPr lang="en-US" sz="1800" u="sng" kern="1200" dirty="0"/>
            <a:t>Business Understanding</a:t>
          </a:r>
        </a:p>
        <a:p>
          <a:pPr marL="0" lvl="0" indent="0" algn="l" defTabSz="800100">
            <a:lnSpc>
              <a:spcPct val="90000"/>
            </a:lnSpc>
            <a:spcBef>
              <a:spcPct val="0"/>
            </a:spcBef>
            <a:spcAft>
              <a:spcPct val="35000"/>
            </a:spcAft>
            <a:buNone/>
          </a:pPr>
          <a:r>
            <a:rPr lang="en-US" sz="1200" kern="1200" dirty="0">
              <a:solidFill>
                <a:prstClr val="white"/>
              </a:solidFill>
              <a:latin typeface="Calibri" panose="020F0502020204030204"/>
              <a:ea typeface="+mn-ea"/>
              <a:cs typeface="+mn-cs"/>
            </a:rPr>
            <a:t>Define problem statement --</a:t>
          </a:r>
        </a:p>
        <a:p>
          <a:pPr marL="0" lvl="0" indent="0" algn="l" defTabSz="800100">
            <a:lnSpc>
              <a:spcPct val="90000"/>
            </a:lnSpc>
            <a:spcBef>
              <a:spcPct val="0"/>
            </a:spcBef>
            <a:spcAft>
              <a:spcPct val="35000"/>
            </a:spcAft>
            <a:buNone/>
          </a:pPr>
          <a:r>
            <a:rPr lang="en-US" sz="1200" kern="1200" dirty="0"/>
            <a:t>What is the most efficient collections channel, that will be cost effective, will help collect faster and will help collect more</a:t>
          </a:r>
          <a:endParaRPr lang="en-US" sz="1200" u="sng" kern="1200" dirty="0"/>
        </a:p>
        <a:p>
          <a:pPr marL="285750" lvl="1" indent="-285750" algn="l" defTabSz="1600200">
            <a:lnSpc>
              <a:spcPct val="90000"/>
            </a:lnSpc>
            <a:spcBef>
              <a:spcPct val="0"/>
            </a:spcBef>
            <a:spcAft>
              <a:spcPct val="15000"/>
            </a:spcAft>
            <a:buChar char="•"/>
          </a:pPr>
          <a:endParaRPr lang="en-US" sz="3600" kern="1200" dirty="0"/>
        </a:p>
        <a:p>
          <a:pPr marL="171450" lvl="1" indent="-171450" algn="l" defTabSz="711200">
            <a:lnSpc>
              <a:spcPct val="90000"/>
            </a:lnSpc>
            <a:spcBef>
              <a:spcPct val="0"/>
            </a:spcBef>
            <a:spcAft>
              <a:spcPct val="15000"/>
            </a:spcAft>
            <a:buChar char="•"/>
          </a:pPr>
          <a:endParaRPr lang="en-US" sz="1600" kern="1200" dirty="0"/>
        </a:p>
      </dsp:txBody>
      <dsp:txXfrm rot="5400000">
        <a:off x="448" y="797357"/>
        <a:ext cx="1444960" cy="2392069"/>
      </dsp:txXfrm>
    </dsp:sp>
    <dsp:sp modelId="{340FF98E-61BA-488E-A70D-3B4D803A1EBA}">
      <dsp:nvSpPr>
        <dsp:cNvPr id="0" name=""/>
        <dsp:cNvSpPr/>
      </dsp:nvSpPr>
      <dsp:spPr>
        <a:xfrm rot="16200000">
          <a:off x="474270" y="1074067"/>
          <a:ext cx="3986783" cy="1838647"/>
        </a:xfrm>
        <a:prstGeom prst="flowChartManualOperation">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4300" bIns="0" numCol="1" spcCol="1270" anchor="ctr" anchorCtr="0">
          <a:noAutofit/>
        </a:bodyPr>
        <a:lstStyle/>
        <a:p>
          <a:pPr marL="0" lvl="0" indent="0" algn="ctr" defTabSz="800100">
            <a:lnSpc>
              <a:spcPct val="90000"/>
            </a:lnSpc>
            <a:spcBef>
              <a:spcPct val="0"/>
            </a:spcBef>
            <a:spcAft>
              <a:spcPct val="35000"/>
            </a:spcAft>
            <a:buNone/>
          </a:pPr>
          <a:r>
            <a:rPr lang="en-US" sz="1800" u="sng" kern="1200" dirty="0"/>
            <a:t>Data Mining</a:t>
          </a:r>
        </a:p>
        <a:p>
          <a:pPr marL="0" lvl="0" indent="0" algn="ctr" defTabSz="800100">
            <a:lnSpc>
              <a:spcPct val="90000"/>
            </a:lnSpc>
            <a:spcBef>
              <a:spcPct val="0"/>
            </a:spcBef>
            <a:spcAft>
              <a:spcPct val="35000"/>
            </a:spcAft>
            <a:buNone/>
          </a:pPr>
          <a:r>
            <a:rPr lang="en-US" sz="1200" kern="1200" dirty="0"/>
            <a:t>Process to discovering patterns from  --Application Data, Demographics, Family, Employment </a:t>
          </a:r>
          <a:r>
            <a:rPr lang="en-US" sz="1200" kern="1200" dirty="0">
              <a:solidFill>
                <a:prstClr val="white"/>
              </a:solidFill>
              <a:latin typeface="Calibri"/>
              <a:ea typeface="+mn-ea"/>
              <a:cs typeface="+mn-cs"/>
            </a:rPr>
            <a:t>Details, Financial Details, Property details, Channels/Source of leads, Legal Factors, Market conditions</a:t>
          </a:r>
        </a:p>
        <a:p>
          <a:pPr marL="0" lvl="0" indent="0" algn="ctr" defTabSz="800100">
            <a:lnSpc>
              <a:spcPct val="90000"/>
            </a:lnSpc>
            <a:spcBef>
              <a:spcPct val="0"/>
            </a:spcBef>
            <a:spcAft>
              <a:spcPct val="35000"/>
            </a:spcAft>
            <a:buNone/>
          </a:pPr>
          <a:r>
            <a:rPr lang="en-US" sz="1200" kern="1200" dirty="0"/>
            <a:t>Customer Behavior: Transaction/Payment/Usage pattern, Collections behavior</a:t>
          </a:r>
          <a:endParaRPr lang="en-US" sz="1200" u="sng" kern="1200" dirty="0"/>
        </a:p>
      </dsp:txBody>
      <dsp:txXfrm rot="5400000">
        <a:off x="1548338" y="797356"/>
        <a:ext cx="1838647" cy="2392069"/>
      </dsp:txXfrm>
    </dsp:sp>
    <dsp:sp modelId="{47243540-0AC9-442E-89C2-383842DF3035}">
      <dsp:nvSpPr>
        <dsp:cNvPr id="0" name=""/>
        <dsp:cNvSpPr/>
      </dsp:nvSpPr>
      <dsp:spPr>
        <a:xfrm rot="16200000">
          <a:off x="2182725" y="1307190"/>
          <a:ext cx="3986783" cy="1372401"/>
        </a:xfrm>
        <a:prstGeom prst="flowChartManualOperation">
          <a:avLst/>
        </a:prstGeom>
        <a:solidFill>
          <a:schemeClr val="accent1">
            <a:shade val="50000"/>
            <a:hueOff val="222839"/>
            <a:satOff val="5970"/>
            <a:lumOff val="263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4300" bIns="0" numCol="1" spcCol="1270" anchor="ctr" anchorCtr="0">
          <a:noAutofit/>
        </a:bodyPr>
        <a:lstStyle/>
        <a:p>
          <a:pPr marL="0" lvl="0" indent="0" algn="ctr" defTabSz="800100">
            <a:lnSpc>
              <a:spcPct val="90000"/>
            </a:lnSpc>
            <a:spcBef>
              <a:spcPct val="0"/>
            </a:spcBef>
            <a:spcAft>
              <a:spcPct val="35000"/>
            </a:spcAft>
            <a:buNone/>
          </a:pPr>
          <a:r>
            <a:rPr lang="en-US" sz="1800" u="sng" kern="1200" dirty="0"/>
            <a:t>Data Cleaning</a:t>
          </a:r>
        </a:p>
        <a:p>
          <a:pPr marL="0" lvl="0" indent="0" algn="ctr" defTabSz="800100">
            <a:lnSpc>
              <a:spcPct val="90000"/>
            </a:lnSpc>
            <a:spcBef>
              <a:spcPct val="0"/>
            </a:spcBef>
            <a:spcAft>
              <a:spcPct val="35000"/>
            </a:spcAft>
            <a:buNone/>
          </a:pPr>
          <a:r>
            <a:rPr lang="en-US" sz="1200" kern="1200" dirty="0"/>
            <a:t>Handling missing, duplicate  values, treat NA values in the data set.</a:t>
          </a:r>
          <a:endParaRPr lang="en-US" sz="1200" u="sng" kern="1200" dirty="0"/>
        </a:p>
      </dsp:txBody>
      <dsp:txXfrm rot="5400000">
        <a:off x="3489916" y="797356"/>
        <a:ext cx="1372401" cy="23920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909A75-041E-462F-94A2-1A8AD42F223B}">
      <dsp:nvSpPr>
        <dsp:cNvPr id="0" name=""/>
        <dsp:cNvSpPr/>
      </dsp:nvSpPr>
      <dsp:spPr>
        <a:xfrm rot="16200000">
          <a:off x="-1116788" y="1118565"/>
          <a:ext cx="3986783" cy="1749652"/>
        </a:xfrm>
        <a:prstGeom prst="flowChartManualOperation">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4300" bIns="0" numCol="1" spcCol="1270" anchor="t" anchorCtr="0">
          <a:noAutofit/>
        </a:bodyPr>
        <a:lstStyle/>
        <a:p>
          <a:pPr marL="0" lvl="0" indent="0" algn="l" defTabSz="800100">
            <a:lnSpc>
              <a:spcPct val="90000"/>
            </a:lnSpc>
            <a:spcBef>
              <a:spcPct val="0"/>
            </a:spcBef>
            <a:spcAft>
              <a:spcPct val="35000"/>
            </a:spcAft>
            <a:buNone/>
          </a:pPr>
          <a:r>
            <a:rPr lang="en-US" sz="1800" u="sng" kern="1200" dirty="0"/>
            <a:t>Data Exploration </a:t>
          </a:r>
        </a:p>
        <a:p>
          <a:pPr marL="0" lvl="0" indent="0" algn="l" defTabSz="800100">
            <a:lnSpc>
              <a:spcPct val="90000"/>
            </a:lnSpc>
            <a:spcBef>
              <a:spcPct val="0"/>
            </a:spcBef>
            <a:spcAft>
              <a:spcPct val="35000"/>
            </a:spcAft>
            <a:buNone/>
          </a:pPr>
          <a:r>
            <a:rPr lang="en-US" sz="1200" kern="1200" dirty="0"/>
            <a:t>Analyze the correlation, feature scaling and apply different data normalization techniques. on different variable, and the attributes of variables which have more weightage , sampling, transformation of data.</a:t>
          </a:r>
          <a:endParaRPr lang="en-US" sz="1200" u="sng" kern="1200" dirty="0"/>
        </a:p>
        <a:p>
          <a:pPr marL="285750" lvl="1" indent="-285750" algn="l" defTabSz="1600200">
            <a:lnSpc>
              <a:spcPct val="90000"/>
            </a:lnSpc>
            <a:spcBef>
              <a:spcPct val="0"/>
            </a:spcBef>
            <a:spcAft>
              <a:spcPct val="15000"/>
            </a:spcAft>
            <a:buChar char="•"/>
          </a:pPr>
          <a:endParaRPr lang="en-US" sz="3600" kern="1200" dirty="0"/>
        </a:p>
        <a:p>
          <a:pPr marL="171450" lvl="1" indent="-171450" algn="l" defTabSz="711200">
            <a:lnSpc>
              <a:spcPct val="90000"/>
            </a:lnSpc>
            <a:spcBef>
              <a:spcPct val="0"/>
            </a:spcBef>
            <a:spcAft>
              <a:spcPct val="15000"/>
            </a:spcAft>
            <a:buChar char="•"/>
          </a:pPr>
          <a:endParaRPr lang="en-US" sz="1600" kern="1200" dirty="0"/>
        </a:p>
      </dsp:txBody>
      <dsp:txXfrm rot="5400000">
        <a:off x="1777" y="797357"/>
        <a:ext cx="1749652" cy="2392069"/>
      </dsp:txXfrm>
    </dsp:sp>
    <dsp:sp modelId="{340FF98E-61BA-488E-A70D-3B4D803A1EBA}">
      <dsp:nvSpPr>
        <dsp:cNvPr id="0" name=""/>
        <dsp:cNvSpPr/>
      </dsp:nvSpPr>
      <dsp:spPr>
        <a:xfrm rot="16200000">
          <a:off x="713569" y="1162494"/>
          <a:ext cx="3986783" cy="1661793"/>
        </a:xfrm>
        <a:prstGeom prst="flowChartManualOperation">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4300" bIns="0" numCol="1" spcCol="1270" anchor="ctr" anchorCtr="0">
          <a:noAutofit/>
        </a:bodyPr>
        <a:lstStyle/>
        <a:p>
          <a:pPr marL="0" lvl="0" indent="0" algn="ctr" defTabSz="800100">
            <a:lnSpc>
              <a:spcPct val="90000"/>
            </a:lnSpc>
            <a:spcBef>
              <a:spcPct val="0"/>
            </a:spcBef>
            <a:spcAft>
              <a:spcPct val="35000"/>
            </a:spcAft>
            <a:buNone/>
          </a:pPr>
          <a:r>
            <a:rPr lang="en-US" sz="1800" u="sng" kern="1200" dirty="0"/>
            <a:t>Feature Engineering</a:t>
          </a:r>
        </a:p>
        <a:p>
          <a:pPr marL="0" lvl="0" indent="0" algn="ctr" defTabSz="800100">
            <a:lnSpc>
              <a:spcPct val="90000"/>
            </a:lnSpc>
            <a:spcBef>
              <a:spcPct val="0"/>
            </a:spcBef>
            <a:spcAft>
              <a:spcPct val="35000"/>
            </a:spcAft>
            <a:buNone/>
          </a:pPr>
          <a:r>
            <a:rPr lang="en-US" sz="1200" kern="1200" dirty="0"/>
            <a:t>Get the insights from the EDA process, to identify the different variables, these feature variables can be used to improve the performance measure criteria. Apply  Imputation, Handling outliers, Binning, Log transform, one-hot encoding etc.</a:t>
          </a:r>
          <a:endParaRPr lang="en-US" sz="1200" u="sng" kern="1200" dirty="0"/>
        </a:p>
      </dsp:txBody>
      <dsp:txXfrm rot="5400000">
        <a:off x="1876064" y="797356"/>
        <a:ext cx="1661793" cy="2392069"/>
      </dsp:txXfrm>
    </dsp:sp>
    <dsp:sp modelId="{47243540-0AC9-442E-89C2-383842DF3035}">
      <dsp:nvSpPr>
        <dsp:cNvPr id="0" name=""/>
        <dsp:cNvSpPr/>
      </dsp:nvSpPr>
      <dsp:spPr>
        <a:xfrm rot="16200000">
          <a:off x="2499997" y="1162494"/>
          <a:ext cx="3986783" cy="1661793"/>
        </a:xfrm>
        <a:prstGeom prst="flowChartManualOperation">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4300" bIns="0" numCol="1" spcCol="1270" anchor="ctr" anchorCtr="0">
          <a:noAutofit/>
        </a:bodyPr>
        <a:lstStyle/>
        <a:p>
          <a:pPr marL="0" lvl="0" indent="0" algn="ctr" defTabSz="800100">
            <a:lnSpc>
              <a:spcPct val="90000"/>
            </a:lnSpc>
            <a:spcBef>
              <a:spcPct val="0"/>
            </a:spcBef>
            <a:spcAft>
              <a:spcPct val="35000"/>
            </a:spcAft>
            <a:buNone/>
          </a:pPr>
          <a:r>
            <a:rPr lang="en-US" sz="1800" u="sng" kern="1200" dirty="0"/>
            <a:t>Predictive Modeling &amp; Visualization</a:t>
          </a:r>
        </a:p>
        <a:p>
          <a:pPr marL="0" lvl="0" indent="0" algn="ctr" defTabSz="800100">
            <a:lnSpc>
              <a:spcPct val="90000"/>
            </a:lnSpc>
            <a:spcBef>
              <a:spcPct val="0"/>
            </a:spcBef>
            <a:spcAft>
              <a:spcPct val="35000"/>
            </a:spcAft>
            <a:buNone/>
          </a:pPr>
          <a:r>
            <a:rPr lang="en-US" sz="1200" kern="1200" dirty="0"/>
            <a:t>Build the different models like - Logistic Regression, Decision Tree, Random Forest etc. Measure the performance of the models using metrics (Confusion Matrix, RMSE, Precision &amp; Recall, accuracy  score etc.)</a:t>
          </a:r>
          <a:endParaRPr lang="en-US" sz="1200" u="sng" kern="1200" dirty="0"/>
        </a:p>
      </dsp:txBody>
      <dsp:txXfrm rot="5400000">
        <a:off x="3662492" y="797356"/>
        <a:ext cx="1661793" cy="239206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0C3E0E-75EF-4FF9-9A07-1F4552862E35}">
      <dsp:nvSpPr>
        <dsp:cNvPr id="0" name=""/>
        <dsp:cNvSpPr/>
      </dsp:nvSpPr>
      <dsp:spPr>
        <a:xfrm rot="5400000">
          <a:off x="243751" y="1288682"/>
          <a:ext cx="1958499" cy="230998"/>
        </a:xfrm>
        <a:prstGeom prst="rect">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E6EC537-F916-405F-9A1B-C36C817F6B97}">
      <dsp:nvSpPr>
        <dsp:cNvPr id="0" name=""/>
        <dsp:cNvSpPr/>
      </dsp:nvSpPr>
      <dsp:spPr>
        <a:xfrm>
          <a:off x="455428" y="1684"/>
          <a:ext cx="3066587" cy="1624584"/>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100000"/>
            </a:lnSpc>
            <a:spcBef>
              <a:spcPct val="0"/>
            </a:spcBef>
            <a:spcAft>
              <a:spcPct val="35000"/>
            </a:spcAft>
            <a:buNone/>
          </a:pPr>
          <a:r>
            <a:rPr lang="en-US" sz="1100" b="1" u="sng" kern="1200" dirty="0"/>
            <a:t>Workshop ( 2 Days)</a:t>
          </a:r>
        </a:p>
        <a:p>
          <a:pPr marL="0" lvl="0" indent="0" algn="l" defTabSz="488950">
            <a:lnSpc>
              <a:spcPct val="100000"/>
            </a:lnSpc>
            <a:spcBef>
              <a:spcPct val="0"/>
            </a:spcBef>
            <a:spcAft>
              <a:spcPct val="35000"/>
            </a:spcAft>
            <a:buNone/>
          </a:pPr>
          <a:r>
            <a:rPr lang="en-US" sz="1100" kern="1200" dirty="0"/>
            <a:t>- Meeting Stake holders</a:t>
          </a:r>
        </a:p>
        <a:p>
          <a:pPr marL="0" lvl="0" indent="0" algn="l" defTabSz="488950">
            <a:lnSpc>
              <a:spcPct val="100000"/>
            </a:lnSpc>
            <a:spcBef>
              <a:spcPct val="0"/>
            </a:spcBef>
            <a:spcAft>
              <a:spcPct val="35000"/>
            </a:spcAft>
            <a:buNone/>
          </a:pPr>
          <a:r>
            <a:rPr lang="en-US" sz="1100" kern="1200" dirty="0"/>
            <a:t>- Review on the Problem Statements</a:t>
          </a:r>
        </a:p>
        <a:p>
          <a:pPr marL="0" lvl="0" indent="0" algn="l" defTabSz="488950">
            <a:lnSpc>
              <a:spcPct val="100000"/>
            </a:lnSpc>
            <a:spcBef>
              <a:spcPct val="0"/>
            </a:spcBef>
            <a:spcAft>
              <a:spcPct val="35000"/>
            </a:spcAft>
            <a:buNone/>
          </a:pPr>
          <a:r>
            <a:rPr lang="en-US" sz="1100" kern="1200" dirty="0"/>
            <a:t>- KPI &amp; Success definition</a:t>
          </a:r>
        </a:p>
        <a:p>
          <a:pPr marL="0" lvl="0" indent="0" algn="l" defTabSz="488950">
            <a:lnSpc>
              <a:spcPct val="100000"/>
            </a:lnSpc>
            <a:spcBef>
              <a:spcPct val="0"/>
            </a:spcBef>
            <a:spcAft>
              <a:spcPct val="35000"/>
            </a:spcAft>
            <a:buNone/>
          </a:pPr>
          <a:r>
            <a:rPr lang="en-US" sz="1100" kern="1200" dirty="0"/>
            <a:t>- Data Insights with Business</a:t>
          </a:r>
        </a:p>
        <a:p>
          <a:pPr marL="0" lvl="0" indent="0" algn="l" defTabSz="488950">
            <a:lnSpc>
              <a:spcPct val="100000"/>
            </a:lnSpc>
            <a:spcBef>
              <a:spcPct val="0"/>
            </a:spcBef>
            <a:spcAft>
              <a:spcPct val="35000"/>
            </a:spcAft>
            <a:buNone/>
          </a:pPr>
          <a:r>
            <a:rPr lang="en-US" sz="1100" kern="1200" dirty="0"/>
            <a:t>- Discussion with IT team on Data Requirements / Data anonymization</a:t>
          </a:r>
        </a:p>
      </dsp:txBody>
      <dsp:txXfrm>
        <a:off x="503010" y="49266"/>
        <a:ext cx="2971423" cy="1529420"/>
      </dsp:txXfrm>
    </dsp:sp>
    <dsp:sp modelId="{B84D88CF-6448-425E-A5E1-08BEE44D83CF}">
      <dsp:nvSpPr>
        <dsp:cNvPr id="0" name=""/>
        <dsp:cNvSpPr/>
      </dsp:nvSpPr>
      <dsp:spPr>
        <a:xfrm rot="5400000">
          <a:off x="264781" y="3234703"/>
          <a:ext cx="1916438" cy="230998"/>
        </a:xfrm>
        <a:prstGeom prst="rect">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ECF4644-0EBF-4EC1-A1B8-27BB7D4C819D}">
      <dsp:nvSpPr>
        <dsp:cNvPr id="0" name=""/>
        <dsp:cNvSpPr/>
      </dsp:nvSpPr>
      <dsp:spPr>
        <a:xfrm>
          <a:off x="705394" y="2011266"/>
          <a:ext cx="2566654" cy="1539992"/>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u="sng" kern="1200" dirty="0"/>
            <a:t>High Level Design &amp; Plan ( 1 week)</a:t>
          </a:r>
          <a:endParaRPr lang="en-US" sz="1200" kern="1200" dirty="0"/>
        </a:p>
        <a:p>
          <a:pPr marL="0" lvl="0" indent="0" algn="l" defTabSz="711200">
            <a:lnSpc>
              <a:spcPct val="90000"/>
            </a:lnSpc>
            <a:spcBef>
              <a:spcPct val="0"/>
            </a:spcBef>
            <a:spcAft>
              <a:spcPct val="35000"/>
            </a:spcAft>
            <a:buNone/>
          </a:pPr>
          <a:r>
            <a:rPr lang="en-US" sz="1200" kern="1200" dirty="0"/>
            <a:t>- Share high level Design and Project plan</a:t>
          </a:r>
        </a:p>
        <a:p>
          <a:pPr marL="0" lvl="0" indent="0" algn="l" defTabSz="711200">
            <a:lnSpc>
              <a:spcPct val="90000"/>
            </a:lnSpc>
            <a:spcBef>
              <a:spcPct val="0"/>
            </a:spcBef>
            <a:spcAft>
              <a:spcPct val="35000"/>
            </a:spcAft>
            <a:buNone/>
          </a:pPr>
          <a:r>
            <a:rPr lang="en-US" sz="1200" kern="1200" dirty="0"/>
            <a:t>- Share Detailed Data requirements</a:t>
          </a:r>
        </a:p>
        <a:p>
          <a:pPr marL="0" lvl="0" indent="0" algn="ctr" defTabSz="711200">
            <a:lnSpc>
              <a:spcPct val="90000"/>
            </a:lnSpc>
            <a:spcBef>
              <a:spcPct val="0"/>
            </a:spcBef>
            <a:spcAft>
              <a:spcPct val="35000"/>
            </a:spcAft>
            <a:buNone/>
          </a:pPr>
          <a:endParaRPr lang="en-US" sz="1200" kern="1200" dirty="0"/>
        </a:p>
      </dsp:txBody>
      <dsp:txXfrm>
        <a:off x="750499" y="2056371"/>
        <a:ext cx="2476444" cy="1449782"/>
      </dsp:txXfrm>
    </dsp:sp>
    <dsp:sp modelId="{1A1676DE-E434-4875-9A3D-4C1D232E4EC0}">
      <dsp:nvSpPr>
        <dsp:cNvPr id="0" name=""/>
        <dsp:cNvSpPr/>
      </dsp:nvSpPr>
      <dsp:spPr>
        <a:xfrm>
          <a:off x="1227277" y="4197198"/>
          <a:ext cx="3655064" cy="230998"/>
        </a:xfrm>
        <a:prstGeom prst="rect">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68B32F3-4F49-4731-A098-95F87DE54495}">
      <dsp:nvSpPr>
        <dsp:cNvPr id="0" name=""/>
        <dsp:cNvSpPr/>
      </dsp:nvSpPr>
      <dsp:spPr>
        <a:xfrm>
          <a:off x="705394" y="3936257"/>
          <a:ext cx="2566654" cy="1539992"/>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Data Exploration ( 4 weeks)</a:t>
          </a:r>
        </a:p>
        <a:p>
          <a:pPr marL="0" lvl="0" indent="0" algn="ctr" defTabSz="711200">
            <a:lnSpc>
              <a:spcPct val="90000"/>
            </a:lnSpc>
            <a:spcBef>
              <a:spcPct val="0"/>
            </a:spcBef>
            <a:spcAft>
              <a:spcPct val="35000"/>
            </a:spcAft>
            <a:buNone/>
          </a:pPr>
          <a:r>
            <a:rPr lang="en-US" sz="1200" kern="1200" dirty="0"/>
            <a:t>- Slice the data in different ways</a:t>
          </a:r>
        </a:p>
        <a:p>
          <a:pPr marL="0" lvl="0" indent="0" algn="ctr" defTabSz="711200">
            <a:lnSpc>
              <a:spcPct val="90000"/>
            </a:lnSpc>
            <a:spcBef>
              <a:spcPct val="0"/>
            </a:spcBef>
            <a:spcAft>
              <a:spcPct val="35000"/>
            </a:spcAft>
            <a:buNone/>
          </a:pPr>
          <a:r>
            <a:rPr lang="en-US" sz="1200" kern="1200" dirty="0"/>
            <a:t>- Counts, Graphs, distribution, histograms</a:t>
          </a:r>
        </a:p>
        <a:p>
          <a:pPr marL="0" lvl="0" indent="0" algn="ctr" defTabSz="711200">
            <a:lnSpc>
              <a:spcPct val="90000"/>
            </a:lnSpc>
            <a:spcBef>
              <a:spcPct val="0"/>
            </a:spcBef>
            <a:spcAft>
              <a:spcPct val="35000"/>
            </a:spcAft>
            <a:buNone/>
          </a:pPr>
          <a:endParaRPr lang="en-US" sz="1200" kern="1200" dirty="0"/>
        </a:p>
      </dsp:txBody>
      <dsp:txXfrm>
        <a:off x="750499" y="3981362"/>
        <a:ext cx="2476444" cy="1449782"/>
      </dsp:txXfrm>
    </dsp:sp>
    <dsp:sp modelId="{CCAB4859-CF8A-4189-855F-D49BC47CE450}">
      <dsp:nvSpPr>
        <dsp:cNvPr id="0" name=""/>
        <dsp:cNvSpPr/>
      </dsp:nvSpPr>
      <dsp:spPr>
        <a:xfrm rot="16200000">
          <a:off x="3928398" y="3234703"/>
          <a:ext cx="1916438" cy="230998"/>
        </a:xfrm>
        <a:prstGeom prst="rect">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F8D7215-215E-49CE-AC65-2198C7D456C6}">
      <dsp:nvSpPr>
        <dsp:cNvPr id="0" name=""/>
        <dsp:cNvSpPr/>
      </dsp:nvSpPr>
      <dsp:spPr>
        <a:xfrm>
          <a:off x="4369011" y="3936257"/>
          <a:ext cx="2566654" cy="1539992"/>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Modelling (2 weeks)</a:t>
          </a:r>
        </a:p>
        <a:p>
          <a:pPr marL="0" lvl="0" indent="0" algn="ctr" defTabSz="711200">
            <a:lnSpc>
              <a:spcPct val="90000"/>
            </a:lnSpc>
            <a:spcBef>
              <a:spcPct val="0"/>
            </a:spcBef>
            <a:spcAft>
              <a:spcPct val="35000"/>
            </a:spcAft>
            <a:buNone/>
          </a:pPr>
          <a:r>
            <a:rPr lang="en-US" sz="1200" kern="1200" dirty="0"/>
            <a:t>Build ETL, Train Models, Evaluate Models with different metrices &amp; baselines, Sanity check of the Models</a:t>
          </a:r>
        </a:p>
      </dsp:txBody>
      <dsp:txXfrm>
        <a:off x="4414116" y="3981362"/>
        <a:ext cx="2476444" cy="1449782"/>
      </dsp:txXfrm>
    </dsp:sp>
    <dsp:sp modelId="{4E0D2A9C-C070-466E-9E85-60816315BEA8}">
      <dsp:nvSpPr>
        <dsp:cNvPr id="0" name=""/>
        <dsp:cNvSpPr/>
      </dsp:nvSpPr>
      <dsp:spPr>
        <a:xfrm rot="16200000">
          <a:off x="3928398" y="1309712"/>
          <a:ext cx="1916438" cy="230998"/>
        </a:xfrm>
        <a:prstGeom prst="rect">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D1DCC20-8FCF-4F6A-9F7F-F9E00FB12E18}">
      <dsp:nvSpPr>
        <dsp:cNvPr id="0" name=""/>
        <dsp:cNvSpPr/>
      </dsp:nvSpPr>
      <dsp:spPr>
        <a:xfrm>
          <a:off x="4369011" y="2011266"/>
          <a:ext cx="2566654" cy="1539992"/>
        </a:xfrm>
        <a:prstGeom prst="roundRect">
          <a:avLst>
            <a:gd name="adj" fmla="val 10000"/>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Productization (2 weeks)</a:t>
          </a:r>
        </a:p>
        <a:p>
          <a:pPr marL="0" lvl="0" indent="0" algn="ctr" defTabSz="711200">
            <a:lnSpc>
              <a:spcPct val="90000"/>
            </a:lnSpc>
            <a:spcBef>
              <a:spcPct val="0"/>
            </a:spcBef>
            <a:spcAft>
              <a:spcPct val="35000"/>
            </a:spcAft>
            <a:buNone/>
          </a:pPr>
          <a:r>
            <a:rPr lang="en-US" sz="1200" kern="1200" dirty="0"/>
            <a:t>Configuration / Customization requirements in Collection product,</a:t>
          </a:r>
        </a:p>
        <a:p>
          <a:pPr marL="0" lvl="0" indent="0" algn="ctr" defTabSz="711200">
            <a:lnSpc>
              <a:spcPct val="90000"/>
            </a:lnSpc>
            <a:spcBef>
              <a:spcPct val="0"/>
            </a:spcBef>
            <a:spcAft>
              <a:spcPct val="35000"/>
            </a:spcAft>
            <a:buNone/>
          </a:pPr>
          <a:r>
            <a:rPr lang="en-US" sz="1200" kern="1200" dirty="0"/>
            <a:t> </a:t>
          </a:r>
        </a:p>
        <a:p>
          <a:pPr marL="0" lvl="0" indent="0" algn="ctr" defTabSz="711200">
            <a:lnSpc>
              <a:spcPct val="90000"/>
            </a:lnSpc>
            <a:spcBef>
              <a:spcPct val="0"/>
            </a:spcBef>
            <a:spcAft>
              <a:spcPct val="35000"/>
            </a:spcAft>
            <a:buNone/>
          </a:pPr>
          <a:endParaRPr lang="en-US" sz="1200" kern="1200" dirty="0"/>
        </a:p>
      </dsp:txBody>
      <dsp:txXfrm>
        <a:off x="4414116" y="2056371"/>
        <a:ext cx="2476444" cy="1449782"/>
      </dsp:txXfrm>
    </dsp:sp>
    <dsp:sp modelId="{9C0234A8-A60E-4EF5-8D47-B258974E4090}">
      <dsp:nvSpPr>
        <dsp:cNvPr id="0" name=""/>
        <dsp:cNvSpPr/>
      </dsp:nvSpPr>
      <dsp:spPr>
        <a:xfrm>
          <a:off x="4890893" y="347217"/>
          <a:ext cx="3405098" cy="230998"/>
        </a:xfrm>
        <a:prstGeom prst="rect">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ECDDEB0-82AD-4C9F-B4F6-5549BF675AA3}">
      <dsp:nvSpPr>
        <dsp:cNvPr id="0" name=""/>
        <dsp:cNvSpPr/>
      </dsp:nvSpPr>
      <dsp:spPr>
        <a:xfrm>
          <a:off x="4369011" y="86275"/>
          <a:ext cx="2566654" cy="1539992"/>
        </a:xfrm>
        <a:prstGeom prst="roundRect">
          <a:avLst>
            <a:gd name="adj" fmla="val 10000"/>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Production Movement </a:t>
          </a:r>
        </a:p>
        <a:p>
          <a:pPr marL="0" lvl="0" indent="0" algn="ctr" defTabSz="711200">
            <a:lnSpc>
              <a:spcPct val="90000"/>
            </a:lnSpc>
            <a:spcBef>
              <a:spcPct val="0"/>
            </a:spcBef>
            <a:spcAft>
              <a:spcPct val="35000"/>
            </a:spcAft>
            <a:buNone/>
          </a:pPr>
          <a:r>
            <a:rPr lang="en-US" sz="1600" kern="1200" dirty="0"/>
            <a:t>(2 days)</a:t>
          </a:r>
        </a:p>
        <a:p>
          <a:pPr marL="0" lvl="0" indent="0" algn="ctr" defTabSz="711200">
            <a:lnSpc>
              <a:spcPct val="90000"/>
            </a:lnSpc>
            <a:spcBef>
              <a:spcPct val="0"/>
            </a:spcBef>
            <a:spcAft>
              <a:spcPct val="35000"/>
            </a:spcAft>
            <a:buNone/>
          </a:pPr>
          <a:r>
            <a:rPr lang="en-US" sz="1600" kern="1200" dirty="0"/>
            <a:t>Production Usage of Models </a:t>
          </a:r>
          <a:endParaRPr lang="en-US" sz="1200" kern="1200" dirty="0"/>
        </a:p>
      </dsp:txBody>
      <dsp:txXfrm>
        <a:off x="4414116" y="131380"/>
        <a:ext cx="2476444" cy="1449782"/>
      </dsp:txXfrm>
    </dsp:sp>
    <dsp:sp modelId="{898B767F-F474-423A-9C74-FD16DCD63846}">
      <dsp:nvSpPr>
        <dsp:cNvPr id="0" name=""/>
        <dsp:cNvSpPr/>
      </dsp:nvSpPr>
      <dsp:spPr>
        <a:xfrm>
          <a:off x="7782661" y="86275"/>
          <a:ext cx="2566654" cy="1539992"/>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Result Review &amp; Model Optimization</a:t>
          </a:r>
        </a:p>
        <a:p>
          <a:pPr marL="0" lvl="0" indent="0" algn="ctr" defTabSz="622300">
            <a:lnSpc>
              <a:spcPct val="90000"/>
            </a:lnSpc>
            <a:spcBef>
              <a:spcPct val="0"/>
            </a:spcBef>
            <a:spcAft>
              <a:spcPct val="35000"/>
            </a:spcAft>
            <a:buNone/>
          </a:pPr>
          <a:r>
            <a:rPr lang="en-US" sz="1400" kern="1200" dirty="0"/>
            <a:t>Review model performance,</a:t>
          </a:r>
        </a:p>
        <a:p>
          <a:pPr marL="0" lvl="0" indent="0" algn="ctr" defTabSz="622300">
            <a:lnSpc>
              <a:spcPct val="90000"/>
            </a:lnSpc>
            <a:spcBef>
              <a:spcPct val="0"/>
            </a:spcBef>
            <a:spcAft>
              <a:spcPct val="35000"/>
            </a:spcAft>
            <a:buNone/>
          </a:pPr>
          <a:r>
            <a:rPr lang="en-US" sz="1400" kern="1200" dirty="0"/>
            <a:t>Recalibration requirements to be assessed</a:t>
          </a:r>
          <a:endParaRPr lang="en-US" sz="1100" kern="1200" dirty="0"/>
        </a:p>
      </dsp:txBody>
      <dsp:txXfrm>
        <a:off x="7827766" y="131380"/>
        <a:ext cx="2476444" cy="1449782"/>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A44371-0B65-455E-B064-0CA1DF67E567}" type="datetimeFigureOut">
              <a:rPr lang="en-US" smtClean="0"/>
              <a:pPr/>
              <a:t>05-Feb-20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B75C12-E934-4202-A7C2-9AF889AF9702}" type="slidenum">
              <a:rPr lang="en-US" smtClean="0"/>
              <a:pPr/>
              <a:t>‹#›</a:t>
            </a:fld>
            <a:endParaRPr lang="en-US"/>
          </a:p>
        </p:txBody>
      </p:sp>
    </p:spTree>
    <p:extLst>
      <p:ext uri="{BB962C8B-B14F-4D97-AF65-F5344CB8AC3E}">
        <p14:creationId xmlns:p14="http://schemas.microsoft.com/office/powerpoint/2010/main" val="4124517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FB7EEC0-5CE1-4479-90B0-5320DD4718BE}" type="slidenum">
              <a:rPr lang="en-US" smtClean="0"/>
              <a:pPr/>
              <a:t>5</a:t>
            </a:fld>
            <a:endParaRPr lang="en-US" dirty="0"/>
          </a:p>
        </p:txBody>
      </p:sp>
    </p:spTree>
    <p:extLst>
      <p:ext uri="{BB962C8B-B14F-4D97-AF65-F5344CB8AC3E}">
        <p14:creationId xmlns:p14="http://schemas.microsoft.com/office/powerpoint/2010/main" val="63407753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26" name="Picture 25"/>
          <p:cNvPicPr>
            <a:picLocks noChangeAspect="1"/>
          </p:cNvPicPr>
          <p:nvPr userDrawn="1"/>
        </p:nvPicPr>
        <p:blipFill rotWithShape="1">
          <a:blip r:embed="rId2" cstate="print">
            <a:extLst>
              <a:ext uri="{28A0092B-C50C-407E-A947-70E740481C1C}">
                <a14:useLocalDpi xmlns:a14="http://schemas.microsoft.com/office/drawing/2010/main" val="0"/>
              </a:ext>
            </a:extLst>
          </a:blip>
          <a:srcRect l="3114" t="78108" r="2008"/>
          <a:stretch/>
        </p:blipFill>
        <p:spPr>
          <a:xfrm rot="10800000">
            <a:off x="469265" y="5847080"/>
            <a:ext cx="11253892" cy="647700"/>
          </a:xfrm>
          <a:prstGeom prst="rect">
            <a:avLst/>
          </a:prstGeom>
        </p:spPr>
      </p:pic>
      <p:pic>
        <p:nvPicPr>
          <p:cNvPr id="16" name="Picture 1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42953" y="1798899"/>
            <a:ext cx="4323027" cy="1812403"/>
          </a:xfrm>
          <a:prstGeom prst="rect">
            <a:avLst/>
          </a:prstGeom>
        </p:spPr>
      </p:pic>
      <p:sp>
        <p:nvSpPr>
          <p:cNvPr id="21" name="Rectangle 20"/>
          <p:cNvSpPr/>
          <p:nvPr userDrawn="1"/>
        </p:nvSpPr>
        <p:spPr>
          <a:xfrm>
            <a:off x="469493" y="361951"/>
            <a:ext cx="11253014" cy="6134098"/>
          </a:xfrm>
          <a:prstGeom prst="rect">
            <a:avLst/>
          </a:prstGeom>
          <a:noFill/>
          <a:ln w="22225">
            <a:solidFill>
              <a:srgbClr val="78BEE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p:cNvGrpSpPr/>
          <p:nvPr userDrawn="1"/>
        </p:nvGrpSpPr>
        <p:grpSpPr>
          <a:xfrm>
            <a:off x="11568786" y="528638"/>
            <a:ext cx="278117" cy="804153"/>
            <a:chOff x="11568786" y="528638"/>
            <a:chExt cx="278117" cy="804153"/>
          </a:xfrm>
        </p:grpSpPr>
        <p:sp>
          <p:nvSpPr>
            <p:cNvPr id="23" name="Rectangle 22"/>
            <p:cNvSpPr/>
            <p:nvPr/>
          </p:nvSpPr>
          <p:spPr>
            <a:xfrm>
              <a:off x="11568786" y="528638"/>
              <a:ext cx="278117" cy="8041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612269" y="641866"/>
              <a:ext cx="230498" cy="596634"/>
            </a:xfrm>
            <a:prstGeom prst="rect">
              <a:avLst/>
            </a:prstGeom>
          </p:spPr>
        </p:pic>
      </p:grpSp>
    </p:spTree>
    <p:extLst>
      <p:ext uri="{BB962C8B-B14F-4D97-AF65-F5344CB8AC3E}">
        <p14:creationId xmlns:p14="http://schemas.microsoft.com/office/powerpoint/2010/main" val="225894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17" name="Rectangle 16"/>
          <p:cNvSpPr/>
          <p:nvPr userDrawn="1"/>
        </p:nvSpPr>
        <p:spPr>
          <a:xfrm>
            <a:off x="469493" y="361951"/>
            <a:ext cx="11253014" cy="6134098"/>
          </a:xfrm>
          <a:prstGeom prst="rect">
            <a:avLst/>
          </a:prstGeom>
          <a:noFill/>
          <a:ln w="22225">
            <a:solidFill>
              <a:srgbClr val="78BEE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p:cNvGrpSpPr/>
          <p:nvPr userDrawn="1"/>
        </p:nvGrpSpPr>
        <p:grpSpPr>
          <a:xfrm>
            <a:off x="673099" y="6141329"/>
            <a:ext cx="3677660" cy="716671"/>
            <a:chOff x="673099" y="6141329"/>
            <a:chExt cx="3677660" cy="716671"/>
          </a:xfrm>
        </p:grpSpPr>
        <p:sp>
          <p:nvSpPr>
            <p:cNvPr id="5" name="Rectangle 4"/>
            <p:cNvSpPr/>
            <p:nvPr userDrawn="1"/>
          </p:nvSpPr>
          <p:spPr>
            <a:xfrm>
              <a:off x="673099" y="6141329"/>
              <a:ext cx="3677659" cy="7166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preferRelativeResize="0">
              <a:picLocks noChangeAspect="1"/>
            </p:cNvPicPr>
            <p:nvPr userDrawn="1"/>
          </p:nvPicPr>
          <p:blipFill rotWithShape="1">
            <a:blip r:embed="rId2" cstate="print">
              <a:extLst>
                <a:ext uri="{28A0092B-C50C-407E-A947-70E740481C1C}">
                  <a14:useLocalDpi xmlns:a14="http://schemas.microsoft.com/office/drawing/2010/main" val="0"/>
                </a:ext>
              </a:extLst>
            </a:blip>
            <a:srcRect l="-2191" t="-7286" r="-5961" b="-2420"/>
            <a:stretch/>
          </p:blipFill>
          <p:spPr>
            <a:xfrm>
              <a:off x="771525" y="6247271"/>
              <a:ext cx="1257300" cy="534686"/>
            </a:xfrm>
            <a:prstGeom prst="rect">
              <a:avLst/>
            </a:prstGeom>
          </p:spPr>
        </p:pic>
        <p:sp>
          <p:nvSpPr>
            <p:cNvPr id="7" name="TextBox 6"/>
            <p:cNvSpPr txBox="1"/>
            <p:nvPr userDrawn="1"/>
          </p:nvSpPr>
          <p:spPr>
            <a:xfrm>
              <a:off x="1981200" y="6391942"/>
              <a:ext cx="2369559" cy="215444"/>
            </a:xfrm>
            <a:prstGeom prst="rect">
              <a:avLst/>
            </a:prstGeom>
            <a:noFill/>
          </p:spPr>
          <p:txBody>
            <a:bodyPr wrap="none" rtlCol="0">
              <a:spAutoFit/>
            </a:bodyPr>
            <a:lstStyle/>
            <a:p>
              <a:r>
                <a:rPr lang="en-US" sz="800" dirty="0">
                  <a:solidFill>
                    <a:srgbClr val="C3C3C3"/>
                  </a:solidFill>
                  <a:latin typeface="Arial" panose="020B0604020202020204" pitchFamily="34" charset="0"/>
                  <a:cs typeface="Arial" panose="020B0604020202020204" pitchFamily="34" charset="0"/>
                </a:rPr>
                <a:t>Copyright © 2019 </a:t>
              </a:r>
              <a:r>
                <a:rPr lang="en-US" sz="800" dirty="0" err="1">
                  <a:solidFill>
                    <a:srgbClr val="C3C3C3"/>
                  </a:solidFill>
                  <a:latin typeface="Arial" panose="020B0604020202020204" pitchFamily="34" charset="0"/>
                  <a:cs typeface="Arial" panose="020B0604020202020204" pitchFamily="34" charset="0"/>
                </a:rPr>
                <a:t>EbixCash</a:t>
              </a:r>
              <a:r>
                <a:rPr lang="en-US" sz="800" dirty="0">
                  <a:solidFill>
                    <a:srgbClr val="C3C3C3"/>
                  </a:solidFill>
                  <a:latin typeface="Arial" panose="020B0604020202020204" pitchFamily="34" charset="0"/>
                  <a:cs typeface="Arial" panose="020B0604020202020204" pitchFamily="34" charset="0"/>
                </a:rPr>
                <a:t>, All rights reserved.</a:t>
              </a:r>
            </a:p>
          </p:txBody>
        </p:sp>
      </p:grpSp>
      <p:grpSp>
        <p:nvGrpSpPr>
          <p:cNvPr id="12" name="Group 11"/>
          <p:cNvGrpSpPr/>
          <p:nvPr userDrawn="1"/>
        </p:nvGrpSpPr>
        <p:grpSpPr>
          <a:xfrm>
            <a:off x="11568786" y="528638"/>
            <a:ext cx="278117" cy="804153"/>
            <a:chOff x="11568786" y="528638"/>
            <a:chExt cx="278117" cy="804153"/>
          </a:xfrm>
        </p:grpSpPr>
        <p:sp>
          <p:nvSpPr>
            <p:cNvPr id="13" name="Rectangle 12"/>
            <p:cNvSpPr/>
            <p:nvPr/>
          </p:nvSpPr>
          <p:spPr>
            <a:xfrm>
              <a:off x="11568786" y="528638"/>
              <a:ext cx="278117" cy="8041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612269" y="641866"/>
              <a:ext cx="230498" cy="596634"/>
            </a:xfrm>
            <a:prstGeom prst="rect">
              <a:avLst/>
            </a:prstGeom>
          </p:spPr>
        </p:pic>
      </p:grpSp>
    </p:spTree>
    <p:extLst>
      <p:ext uri="{BB962C8B-B14F-4D97-AF65-F5344CB8AC3E}">
        <p14:creationId xmlns:p14="http://schemas.microsoft.com/office/powerpoint/2010/main" val="1541531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34" name="Picture 33"/>
          <p:cNvPicPr>
            <a:picLocks noChangeAspect="1"/>
          </p:cNvPicPr>
          <p:nvPr userDrawn="1"/>
        </p:nvPicPr>
        <p:blipFill rotWithShape="1">
          <a:blip r:embed="rId2" cstate="print">
            <a:extLst>
              <a:ext uri="{28A0092B-C50C-407E-A947-70E740481C1C}">
                <a14:useLocalDpi xmlns:a14="http://schemas.microsoft.com/office/drawing/2010/main" val="0"/>
              </a:ext>
            </a:extLst>
          </a:blip>
          <a:srcRect l="3114" t="78108" r="2008"/>
          <a:stretch/>
        </p:blipFill>
        <p:spPr>
          <a:xfrm rot="10800000">
            <a:off x="469265" y="5847080"/>
            <a:ext cx="11253892" cy="647700"/>
          </a:xfrm>
          <a:prstGeom prst="rect">
            <a:avLst/>
          </a:prstGeom>
        </p:spPr>
      </p:pic>
      <p:sp>
        <p:nvSpPr>
          <p:cNvPr id="33" name="Rectangle 32"/>
          <p:cNvSpPr/>
          <p:nvPr userDrawn="1"/>
        </p:nvSpPr>
        <p:spPr>
          <a:xfrm>
            <a:off x="469493" y="361951"/>
            <a:ext cx="11253014" cy="6134098"/>
          </a:xfrm>
          <a:prstGeom prst="rect">
            <a:avLst/>
          </a:prstGeom>
          <a:noFill/>
          <a:ln w="22225">
            <a:solidFill>
              <a:srgbClr val="78BEE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p:cNvGrpSpPr/>
          <p:nvPr userDrawn="1"/>
        </p:nvGrpSpPr>
        <p:grpSpPr>
          <a:xfrm>
            <a:off x="11568786" y="528638"/>
            <a:ext cx="278117" cy="804153"/>
            <a:chOff x="11568786" y="528638"/>
            <a:chExt cx="278117" cy="804153"/>
          </a:xfrm>
        </p:grpSpPr>
        <p:sp>
          <p:nvSpPr>
            <p:cNvPr id="31" name="Rectangle 30"/>
            <p:cNvSpPr/>
            <p:nvPr/>
          </p:nvSpPr>
          <p:spPr>
            <a:xfrm>
              <a:off x="11568786" y="528638"/>
              <a:ext cx="278117" cy="8041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612269" y="641866"/>
              <a:ext cx="230498" cy="596634"/>
            </a:xfrm>
            <a:prstGeom prst="rect">
              <a:avLst/>
            </a:prstGeom>
          </p:spPr>
        </p:pic>
      </p:grpSp>
    </p:spTree>
    <p:extLst>
      <p:ext uri="{BB962C8B-B14F-4D97-AF65-F5344CB8AC3E}">
        <p14:creationId xmlns:p14="http://schemas.microsoft.com/office/powerpoint/2010/main" val="3374795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805339FD-9F21-4961-A754-BF0825869373}" type="datetimeFigureOut">
              <a:rPr lang="en-US" smtClean="0"/>
              <a:t>05-Feb-20</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EE55660C-780C-4F9A-8399-E121088C8CC7}" type="slidenum">
              <a:rPr lang="en-US" smtClean="0"/>
              <a:t>‹#›</a:t>
            </a:fld>
            <a:endParaRPr lang="en-US"/>
          </a:p>
        </p:txBody>
      </p:sp>
    </p:spTree>
    <p:extLst>
      <p:ext uri="{BB962C8B-B14F-4D97-AF65-F5344CB8AC3E}">
        <p14:creationId xmlns:p14="http://schemas.microsoft.com/office/powerpoint/2010/main" val="952963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805339FD-9F21-4961-A754-BF0825869373}" type="datetimeFigureOut">
              <a:rPr lang="en-US" smtClean="0"/>
              <a:t>05-Feb-20</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EE55660C-780C-4F9A-8399-E121088C8CC7}" type="slidenum">
              <a:rPr lang="en-US" smtClean="0"/>
              <a:t>‹#›</a:t>
            </a:fld>
            <a:endParaRPr lang="en-US"/>
          </a:p>
        </p:txBody>
      </p:sp>
    </p:spTree>
    <p:extLst>
      <p:ext uri="{BB962C8B-B14F-4D97-AF65-F5344CB8AC3E}">
        <p14:creationId xmlns:p14="http://schemas.microsoft.com/office/powerpoint/2010/main" val="16789058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805339FD-9F21-4961-A754-BF0825869373}" type="datetimeFigureOut">
              <a:rPr lang="en-US" smtClean="0"/>
              <a:t>05-Feb-20</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EE55660C-780C-4F9A-8399-E121088C8CC7}" type="slidenum">
              <a:rPr lang="en-US" smtClean="0"/>
              <a:t>‹#›</a:t>
            </a:fld>
            <a:endParaRPr lang="en-US"/>
          </a:p>
        </p:txBody>
      </p:sp>
    </p:spTree>
    <p:extLst>
      <p:ext uri="{BB962C8B-B14F-4D97-AF65-F5344CB8AC3E}">
        <p14:creationId xmlns:p14="http://schemas.microsoft.com/office/powerpoint/2010/main" val="3646111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805339FD-9F21-4961-A754-BF0825869373}" type="datetimeFigureOut">
              <a:rPr lang="en-US" smtClean="0"/>
              <a:t>05-Feb-20</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EE55660C-780C-4F9A-8399-E121088C8CC7}" type="slidenum">
              <a:rPr lang="en-US" smtClean="0"/>
              <a:t>‹#›</a:t>
            </a:fld>
            <a:endParaRPr lang="en-US"/>
          </a:p>
        </p:txBody>
      </p:sp>
    </p:spTree>
    <p:extLst>
      <p:ext uri="{BB962C8B-B14F-4D97-AF65-F5344CB8AC3E}">
        <p14:creationId xmlns:p14="http://schemas.microsoft.com/office/powerpoint/2010/main" val="4247336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805339FD-9F21-4961-A754-BF0825869373}" type="datetimeFigureOut">
              <a:rPr lang="en-US" smtClean="0"/>
              <a:t>05-Feb-20</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EE55660C-780C-4F9A-8399-E121088C8CC7}" type="slidenum">
              <a:rPr lang="en-US" smtClean="0"/>
              <a:t>‹#›</a:t>
            </a:fld>
            <a:endParaRPr lang="en-US"/>
          </a:p>
        </p:txBody>
      </p:sp>
    </p:spTree>
    <p:extLst>
      <p:ext uri="{BB962C8B-B14F-4D97-AF65-F5344CB8AC3E}">
        <p14:creationId xmlns:p14="http://schemas.microsoft.com/office/powerpoint/2010/main" val="2249057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805339FD-9F21-4961-A754-BF0825869373}" type="datetimeFigureOut">
              <a:rPr lang="en-US" smtClean="0"/>
              <a:t>05-Feb-20</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EE55660C-780C-4F9A-8399-E121088C8CC7}" type="slidenum">
              <a:rPr lang="en-US" smtClean="0"/>
              <a:t>‹#›</a:t>
            </a:fld>
            <a:endParaRPr lang="en-US"/>
          </a:p>
        </p:txBody>
      </p:sp>
    </p:spTree>
    <p:extLst>
      <p:ext uri="{BB962C8B-B14F-4D97-AF65-F5344CB8AC3E}">
        <p14:creationId xmlns:p14="http://schemas.microsoft.com/office/powerpoint/2010/main" val="2929005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805339FD-9F21-4961-A754-BF0825869373}" type="datetimeFigureOut">
              <a:rPr lang="en-US" smtClean="0"/>
              <a:t>05-Feb-20</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EE55660C-780C-4F9A-8399-E121088C8CC7}" type="slidenum">
              <a:rPr lang="en-US" smtClean="0"/>
              <a:t>‹#›</a:t>
            </a:fld>
            <a:endParaRPr lang="en-US"/>
          </a:p>
        </p:txBody>
      </p:sp>
    </p:spTree>
    <p:extLst>
      <p:ext uri="{BB962C8B-B14F-4D97-AF65-F5344CB8AC3E}">
        <p14:creationId xmlns:p14="http://schemas.microsoft.com/office/powerpoint/2010/main" val="4330918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805339FD-9F21-4961-A754-BF0825869373}" type="datetimeFigureOut">
              <a:rPr lang="en-US" smtClean="0"/>
              <a:t>05-Feb-20</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EE55660C-780C-4F9A-8399-E121088C8CC7}" type="slidenum">
              <a:rPr lang="en-US" smtClean="0"/>
              <a:t>‹#›</a:t>
            </a:fld>
            <a:endParaRPr lang="en-US"/>
          </a:p>
        </p:txBody>
      </p:sp>
    </p:spTree>
    <p:extLst>
      <p:ext uri="{BB962C8B-B14F-4D97-AF65-F5344CB8AC3E}">
        <p14:creationId xmlns:p14="http://schemas.microsoft.com/office/powerpoint/2010/main" val="3395810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805339FD-9F21-4961-A754-BF0825869373}" type="datetimeFigureOut">
              <a:rPr lang="en-US" smtClean="0"/>
              <a:t>05-Feb-20</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EE55660C-780C-4F9A-8399-E121088C8CC7}" type="slidenum">
              <a:rPr lang="en-US" smtClean="0"/>
              <a:t>‹#›</a:t>
            </a:fld>
            <a:endParaRPr lang="en-US"/>
          </a:p>
        </p:txBody>
      </p:sp>
    </p:spTree>
    <p:extLst>
      <p:ext uri="{BB962C8B-B14F-4D97-AF65-F5344CB8AC3E}">
        <p14:creationId xmlns:p14="http://schemas.microsoft.com/office/powerpoint/2010/main" val="11001771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38200" y="6356350"/>
            <a:ext cx="2743200" cy="365125"/>
          </a:xfrm>
          <a:prstGeom prst="rect">
            <a:avLst/>
          </a:prstGeom>
        </p:spPr>
        <p:txBody>
          <a:bodyPr/>
          <a:lstStyle/>
          <a:p>
            <a:fld id="{DDD40CF3-EC5F-414C-90AF-E6F436FF2E03}" type="datetimeFigureOut">
              <a:rPr lang="en-US" smtClean="0"/>
              <a:t>05-Feb-20</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05C12359-1A34-4C14-81B1-0AFC0F95C5FD}" type="slidenum">
              <a:rPr lang="en-US" smtClean="0"/>
              <a:t>‹#›</a:t>
            </a:fld>
            <a:endParaRPr lang="en-US"/>
          </a:p>
        </p:txBody>
      </p:sp>
    </p:spTree>
    <p:extLst>
      <p:ext uri="{BB962C8B-B14F-4D97-AF65-F5344CB8AC3E}">
        <p14:creationId xmlns:p14="http://schemas.microsoft.com/office/powerpoint/2010/main" val="9987803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38200" y="6356350"/>
            <a:ext cx="2743200" cy="365125"/>
          </a:xfrm>
          <a:prstGeom prst="rect">
            <a:avLst/>
          </a:prstGeom>
        </p:spPr>
        <p:txBody>
          <a:bodyPr/>
          <a:lstStyle/>
          <a:p>
            <a:fld id="{DDD40CF3-EC5F-414C-90AF-E6F436FF2E03}" type="datetimeFigureOut">
              <a:rPr lang="en-US" smtClean="0"/>
              <a:t>05-Feb-20</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05C12359-1A34-4C14-81B1-0AFC0F95C5FD}" type="slidenum">
              <a:rPr lang="en-US" smtClean="0"/>
              <a:t>‹#›</a:t>
            </a:fld>
            <a:endParaRPr lang="en-US"/>
          </a:p>
        </p:txBody>
      </p:sp>
    </p:spTree>
    <p:extLst>
      <p:ext uri="{BB962C8B-B14F-4D97-AF65-F5344CB8AC3E}">
        <p14:creationId xmlns:p14="http://schemas.microsoft.com/office/powerpoint/2010/main" val="1053441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3877960"/>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jpeg"/></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119552" y="3599695"/>
            <a:ext cx="5952912" cy="954107"/>
          </a:xfrm>
          <a:prstGeom prst="rect">
            <a:avLst/>
          </a:prstGeom>
          <a:noFill/>
        </p:spPr>
        <p:txBody>
          <a:bodyPr wrap="none" rtlCol="0">
            <a:spAutoFit/>
          </a:bodyPr>
          <a:lstStyle/>
          <a:p>
            <a:pPr algn="ctr"/>
            <a:r>
              <a:rPr lang="en-US" sz="2800" dirty="0">
                <a:solidFill>
                  <a:srgbClr val="8367AC"/>
                </a:solidFill>
              </a:rPr>
              <a:t>Collections Analytics Generation Engine</a:t>
            </a:r>
          </a:p>
          <a:p>
            <a:pPr algn="ctr"/>
            <a:r>
              <a:rPr lang="en-US" sz="2800" dirty="0">
                <a:solidFill>
                  <a:srgbClr val="8367AC"/>
                </a:solidFill>
              </a:rPr>
              <a:t>(CAGE)</a:t>
            </a:r>
          </a:p>
        </p:txBody>
      </p:sp>
    </p:spTree>
    <p:extLst>
      <p:ext uri="{BB962C8B-B14F-4D97-AF65-F5344CB8AC3E}">
        <p14:creationId xmlns:p14="http://schemas.microsoft.com/office/powerpoint/2010/main" val="41186770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E0EDC-4567-4F36-B06A-4AEAF6EA87F1}"/>
              </a:ext>
            </a:extLst>
          </p:cNvPr>
          <p:cNvSpPr txBox="1">
            <a:spLocks/>
          </p:cNvSpPr>
          <p:nvPr/>
        </p:nvSpPr>
        <p:spPr>
          <a:xfrm>
            <a:off x="735122" y="522416"/>
            <a:ext cx="10763250" cy="5445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srgbClr val="5B2892"/>
                </a:solidFill>
                <a:latin typeface="+mn-lt"/>
                <a:ea typeface="+mn-ea"/>
                <a:cs typeface="+mn-cs"/>
              </a:rPr>
              <a:t>Need for CAGE </a:t>
            </a:r>
          </a:p>
        </p:txBody>
      </p:sp>
      <p:sp>
        <p:nvSpPr>
          <p:cNvPr id="3" name="Rectangle: Rounded Corners 2">
            <a:extLst>
              <a:ext uri="{FF2B5EF4-FFF2-40B4-BE49-F238E27FC236}">
                <a16:creationId xmlns:a16="http://schemas.microsoft.com/office/drawing/2014/main" id="{F9E847C0-BE02-4CCD-8845-C6A9A11924B7}"/>
              </a:ext>
            </a:extLst>
          </p:cNvPr>
          <p:cNvSpPr/>
          <p:nvPr/>
        </p:nvSpPr>
        <p:spPr>
          <a:xfrm>
            <a:off x="745348" y="1066928"/>
            <a:ext cx="10416137" cy="513067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Wingdings" panose="05000000000000000000" pitchFamily="2" charset="2"/>
              <a:buChar char="v"/>
            </a:pPr>
            <a:r>
              <a:rPr lang="en-US" sz="2000" dirty="0"/>
              <a:t>Observations:</a:t>
            </a:r>
          </a:p>
          <a:p>
            <a:pPr marL="742950" lvl="1" indent="-285750">
              <a:buFont typeface="Arial" panose="020B0604020202020204" pitchFamily="34" charset="0"/>
              <a:buChar char="•"/>
            </a:pPr>
            <a:r>
              <a:rPr lang="en-US" sz="2000" dirty="0"/>
              <a:t>High Cost Actions (Agency, Repossession, Legal) probably leads to faster collections</a:t>
            </a:r>
          </a:p>
          <a:p>
            <a:pPr marL="742950" lvl="1" indent="-285750">
              <a:buFont typeface="Arial" panose="020B0604020202020204" pitchFamily="34" charset="0"/>
              <a:buChar char="•"/>
            </a:pPr>
            <a:r>
              <a:rPr lang="en-US" sz="2000" dirty="0"/>
              <a:t>Low Cost Actions (Notifications) may lead to delay in collections</a:t>
            </a:r>
          </a:p>
          <a:p>
            <a:pPr marL="742950" lvl="1" indent="-285750">
              <a:buFont typeface="Arial" panose="020B0604020202020204" pitchFamily="34" charset="0"/>
              <a:buChar char="•"/>
            </a:pPr>
            <a:r>
              <a:rPr lang="en-US" sz="2000" dirty="0"/>
              <a:t>Sequential execution of Actions based on cost may delay collections</a:t>
            </a:r>
          </a:p>
          <a:p>
            <a:pPr lvl="1"/>
            <a:endParaRPr lang="en-US" sz="2000" dirty="0"/>
          </a:p>
          <a:p>
            <a:pPr marL="342900" indent="-342900">
              <a:buFont typeface="Wingdings" panose="05000000000000000000" pitchFamily="2" charset="2"/>
              <a:buChar char="v"/>
            </a:pPr>
            <a:r>
              <a:rPr lang="en-US" sz="2000" dirty="0"/>
              <a:t>Two Identified Problems to Solve:</a:t>
            </a:r>
          </a:p>
          <a:p>
            <a:pPr lvl="1"/>
            <a:endParaRPr lang="en-US" sz="2000" dirty="0"/>
          </a:p>
          <a:p>
            <a:pPr marL="800100" lvl="1" indent="-342900">
              <a:buFont typeface="Wingdings" panose="05000000000000000000" pitchFamily="2" charset="2"/>
              <a:buChar char="Ø"/>
            </a:pPr>
            <a:r>
              <a:rPr lang="en-US" sz="2000" dirty="0"/>
              <a:t>Problem Statement 1: (What Channel)</a:t>
            </a:r>
          </a:p>
          <a:p>
            <a:pPr marL="1200150" lvl="2" indent="-285750">
              <a:buFont typeface="Arial" panose="020B0604020202020204" pitchFamily="34" charset="0"/>
              <a:buChar char="•"/>
            </a:pPr>
            <a:r>
              <a:rPr lang="en-US" sz="2000" dirty="0"/>
              <a:t>To Identify Customers who would respond/pay to Low Cost Actions</a:t>
            </a:r>
          </a:p>
          <a:p>
            <a:pPr marL="1200150" lvl="2" indent="-285750">
              <a:buFont typeface="Arial" panose="020B0604020202020204" pitchFamily="34" charset="0"/>
              <a:buChar char="•"/>
            </a:pPr>
            <a:r>
              <a:rPr lang="en-US" sz="2000" dirty="0"/>
              <a:t>To Identify Customers who would respond/pay only to High Cost</a:t>
            </a:r>
          </a:p>
          <a:p>
            <a:pPr marL="800100" lvl="1" indent="-342900">
              <a:buFont typeface="Wingdings" panose="05000000000000000000" pitchFamily="2" charset="2"/>
              <a:buChar char="Ø"/>
            </a:pPr>
            <a:endParaRPr lang="en-US" sz="2000" dirty="0"/>
          </a:p>
          <a:p>
            <a:pPr marL="800100" lvl="1" indent="-342900">
              <a:buFont typeface="Wingdings" panose="05000000000000000000" pitchFamily="2" charset="2"/>
              <a:buChar char="Ø"/>
            </a:pPr>
            <a:r>
              <a:rPr lang="en-US" sz="2000" dirty="0"/>
              <a:t>Problem Statement 2: (Whom to Prioritize)</a:t>
            </a:r>
          </a:p>
          <a:p>
            <a:pPr marL="1657350" lvl="3" indent="-285750">
              <a:buFont typeface="Arial" panose="020B0604020202020204" pitchFamily="34" charset="0"/>
              <a:buChar char="•"/>
            </a:pPr>
            <a:r>
              <a:rPr lang="en-US" sz="2000" dirty="0"/>
              <a:t>With limited Resources (Tele-Callers, Budgets to spend on Agency Commission), whom do we focus first</a:t>
            </a:r>
          </a:p>
        </p:txBody>
      </p:sp>
    </p:spTree>
    <p:extLst>
      <p:ext uri="{BB962C8B-B14F-4D97-AF65-F5344CB8AC3E}">
        <p14:creationId xmlns:p14="http://schemas.microsoft.com/office/powerpoint/2010/main" val="685938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AB4EA-34BE-4737-9906-FB139A2ADBD3}"/>
              </a:ext>
            </a:extLst>
          </p:cNvPr>
          <p:cNvSpPr txBox="1">
            <a:spLocks/>
          </p:cNvSpPr>
          <p:nvPr/>
        </p:nvSpPr>
        <p:spPr>
          <a:xfrm>
            <a:off x="735122" y="522416"/>
            <a:ext cx="10763250" cy="5445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srgbClr val="5B2892"/>
                </a:solidFill>
                <a:latin typeface="+mn-lt"/>
                <a:ea typeface="+mn-ea"/>
                <a:cs typeface="+mn-cs"/>
              </a:rPr>
              <a:t>Predictive Analytics</a:t>
            </a:r>
          </a:p>
        </p:txBody>
      </p:sp>
      <p:sp>
        <p:nvSpPr>
          <p:cNvPr id="3" name="Rectangle: Rounded Corners 2">
            <a:extLst>
              <a:ext uri="{FF2B5EF4-FFF2-40B4-BE49-F238E27FC236}">
                <a16:creationId xmlns:a16="http://schemas.microsoft.com/office/drawing/2014/main" id="{2E6DC47E-EBF0-440C-BC9E-4ABFFE27CFAD}"/>
              </a:ext>
            </a:extLst>
          </p:cNvPr>
          <p:cNvSpPr/>
          <p:nvPr/>
        </p:nvSpPr>
        <p:spPr>
          <a:xfrm>
            <a:off x="745349" y="1348839"/>
            <a:ext cx="4797630" cy="45007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Machine Learning Model 1:</a:t>
            </a:r>
          </a:p>
          <a:p>
            <a:pPr algn="ctr"/>
            <a:r>
              <a:rPr lang="en-US" b="1" dirty="0"/>
              <a:t>Problem Statement:</a:t>
            </a:r>
            <a:r>
              <a:rPr lang="en-US" dirty="0"/>
              <a:t> What is the most  efficient collections channel, that will be cost effective, will help collect faster and </a:t>
            </a:r>
          </a:p>
          <a:p>
            <a:pPr algn="ctr"/>
            <a:r>
              <a:rPr lang="en-US" dirty="0"/>
              <a:t>will help collect more</a:t>
            </a:r>
          </a:p>
          <a:p>
            <a:pPr algn="ctr"/>
            <a:endParaRPr lang="en-US" dirty="0"/>
          </a:p>
          <a:p>
            <a:pPr algn="ctr"/>
            <a:r>
              <a:rPr lang="en-US" b="1" dirty="0"/>
              <a:t>Solution:</a:t>
            </a:r>
            <a:r>
              <a:rPr lang="en-US" dirty="0"/>
              <a:t> Use the Follow-up/Collections Action history and Cure data. </a:t>
            </a:r>
          </a:p>
          <a:p>
            <a:pPr algn="ctr"/>
            <a:r>
              <a:rPr lang="en-US" u="sng" dirty="0"/>
              <a:t>Last Collections Channel resulting in  Account cure is considered most effective</a:t>
            </a:r>
          </a:p>
          <a:p>
            <a:pPr algn="ctr"/>
            <a:endParaRPr lang="en-US" dirty="0"/>
          </a:p>
          <a:p>
            <a:pPr algn="ctr"/>
            <a:r>
              <a:rPr lang="en-US" dirty="0"/>
              <a:t>Machine Learning models to predict for existing and a first-time defaulters</a:t>
            </a:r>
            <a:endParaRPr lang="en-US" b="1" dirty="0"/>
          </a:p>
          <a:p>
            <a:pPr algn="ctr"/>
            <a:endParaRPr lang="en-US" dirty="0"/>
          </a:p>
        </p:txBody>
      </p:sp>
      <p:sp>
        <p:nvSpPr>
          <p:cNvPr id="5" name="TextBox 4">
            <a:extLst>
              <a:ext uri="{FF2B5EF4-FFF2-40B4-BE49-F238E27FC236}">
                <a16:creationId xmlns:a16="http://schemas.microsoft.com/office/drawing/2014/main" id="{39AA4351-B88A-41BC-9A4A-4AF487A6850E}"/>
              </a:ext>
            </a:extLst>
          </p:cNvPr>
          <p:cNvSpPr txBox="1"/>
          <p:nvPr/>
        </p:nvSpPr>
        <p:spPr>
          <a:xfrm>
            <a:off x="5727700" y="1494611"/>
            <a:ext cx="5770672" cy="233910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b="1" u="sng" dirty="0"/>
              <a:t>Existing Data:</a:t>
            </a:r>
          </a:p>
          <a:p>
            <a:pPr marL="285750" indent="-285750">
              <a:buFont typeface="Arial" panose="020B0604020202020204" pitchFamily="34" charset="0"/>
              <a:buChar char="•"/>
            </a:pPr>
            <a:r>
              <a:rPr lang="en-US" sz="1600" dirty="0"/>
              <a:t>Customer Data (from loan origination system)</a:t>
            </a:r>
          </a:p>
          <a:p>
            <a:pPr marL="285750" indent="-285750">
              <a:buFont typeface="Arial" panose="020B0604020202020204" pitchFamily="34" charset="0"/>
              <a:buChar char="•"/>
            </a:pPr>
            <a:r>
              <a:rPr lang="en-US" sz="1600" dirty="0"/>
              <a:t>Application Data (from loan origination system)</a:t>
            </a:r>
          </a:p>
          <a:p>
            <a:pPr marL="285750" indent="-285750">
              <a:buFont typeface="Arial" panose="020B0604020202020204" pitchFamily="34" charset="0"/>
              <a:buChar char="•"/>
            </a:pPr>
            <a:r>
              <a:rPr lang="en-US" sz="1600" dirty="0"/>
              <a:t>Debt Collections Data </a:t>
            </a:r>
          </a:p>
          <a:p>
            <a:pPr marL="742950" lvl="1" indent="-285750">
              <a:buFont typeface="Arial" panose="020B0604020202020204" pitchFamily="34" charset="0"/>
              <a:buChar char="•"/>
            </a:pPr>
            <a:r>
              <a:rPr lang="en-US" sz="1600" dirty="0"/>
              <a:t>Action Dates/Time</a:t>
            </a:r>
          </a:p>
          <a:p>
            <a:pPr marL="742950" lvl="1" indent="-285750">
              <a:buFont typeface="Arial" panose="020B0604020202020204" pitchFamily="34" charset="0"/>
              <a:buChar char="•"/>
            </a:pPr>
            <a:r>
              <a:rPr lang="en-US" sz="1600" dirty="0"/>
              <a:t>Overdue Days when Action Taken</a:t>
            </a:r>
          </a:p>
          <a:p>
            <a:pPr marL="742950" lvl="1" indent="-285750">
              <a:buFont typeface="Arial" panose="020B0604020202020204" pitchFamily="34" charset="0"/>
              <a:buChar char="•"/>
            </a:pPr>
            <a:r>
              <a:rPr lang="en-US" sz="1600" dirty="0"/>
              <a:t>Cure Dates / Payment Dates / Payment Amount</a:t>
            </a:r>
          </a:p>
          <a:p>
            <a:pPr marL="742950" lvl="1" indent="-285750">
              <a:buFont typeface="Arial" panose="020B0604020202020204" pitchFamily="34" charset="0"/>
              <a:buChar char="•"/>
            </a:pPr>
            <a:r>
              <a:rPr lang="en-US" sz="1600" dirty="0"/>
              <a:t>Days between Cure and Action</a:t>
            </a:r>
          </a:p>
          <a:p>
            <a:endParaRPr lang="en-US" sz="1600" dirty="0"/>
          </a:p>
        </p:txBody>
      </p:sp>
      <p:sp>
        <p:nvSpPr>
          <p:cNvPr id="6" name="TextBox 5">
            <a:extLst>
              <a:ext uri="{FF2B5EF4-FFF2-40B4-BE49-F238E27FC236}">
                <a16:creationId xmlns:a16="http://schemas.microsoft.com/office/drawing/2014/main" id="{27BEE1CC-56F6-4569-A9B8-FDF8268B4352}"/>
              </a:ext>
            </a:extLst>
          </p:cNvPr>
          <p:cNvSpPr txBox="1"/>
          <p:nvPr/>
        </p:nvSpPr>
        <p:spPr>
          <a:xfrm>
            <a:off x="5727700" y="4089538"/>
            <a:ext cx="5770673" cy="160043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400" b="1" u="sng" dirty="0"/>
              <a:t>Collections Channel:</a:t>
            </a:r>
          </a:p>
          <a:p>
            <a:pPr marL="285750" indent="-285750">
              <a:buFont typeface="Arial" panose="020B0604020202020204" pitchFamily="34" charset="0"/>
              <a:buChar char="•"/>
            </a:pPr>
            <a:r>
              <a:rPr lang="en-US" sz="1400" b="1" u="sng" dirty="0"/>
              <a:t>Self Cure</a:t>
            </a:r>
            <a:r>
              <a:rPr lang="en-US" sz="1400" dirty="0"/>
              <a:t>: Pays within 5 days of Delinquency, with or without reminders</a:t>
            </a:r>
          </a:p>
          <a:p>
            <a:pPr marL="285750" indent="-285750">
              <a:buFont typeface="Arial" panose="020B0604020202020204" pitchFamily="34" charset="0"/>
              <a:buChar char="•"/>
            </a:pPr>
            <a:r>
              <a:rPr lang="en-US" sz="1400" b="1" u="sng" dirty="0"/>
              <a:t>Digital Channel </a:t>
            </a:r>
            <a:r>
              <a:rPr lang="en-US" sz="1400" dirty="0"/>
              <a:t>– Pays after SMS, Emails, Voice &amp; Chat Bots, WhatsApp, Voice Blast reminders</a:t>
            </a:r>
          </a:p>
          <a:p>
            <a:pPr marL="285750" indent="-285750">
              <a:buFont typeface="Arial" panose="020B0604020202020204" pitchFamily="34" charset="0"/>
              <a:buChar char="•"/>
            </a:pPr>
            <a:r>
              <a:rPr lang="en-US" sz="1400" dirty="0"/>
              <a:t>Pays after </a:t>
            </a:r>
            <a:r>
              <a:rPr lang="en-US" sz="1400" b="1" u="sng" dirty="0"/>
              <a:t>Tele Calling</a:t>
            </a:r>
          </a:p>
          <a:p>
            <a:pPr marL="285750" indent="-285750">
              <a:buFont typeface="Arial" panose="020B0604020202020204" pitchFamily="34" charset="0"/>
              <a:buChar char="•"/>
            </a:pPr>
            <a:r>
              <a:rPr lang="en-US" sz="1400" dirty="0"/>
              <a:t>Pays after </a:t>
            </a:r>
            <a:r>
              <a:rPr lang="en-US" sz="1400" b="1" u="sng" dirty="0"/>
              <a:t>Field Visit</a:t>
            </a:r>
            <a:r>
              <a:rPr lang="en-US" sz="1400" dirty="0"/>
              <a:t> by External Agency</a:t>
            </a:r>
          </a:p>
          <a:p>
            <a:pPr marL="285750" indent="-285750">
              <a:buFont typeface="Arial" panose="020B0604020202020204" pitchFamily="34" charset="0"/>
              <a:buChar char="•"/>
            </a:pPr>
            <a:r>
              <a:rPr lang="en-US" sz="1400" dirty="0"/>
              <a:t>Pays after </a:t>
            </a:r>
            <a:r>
              <a:rPr lang="en-US" sz="1400" b="1" u="sng" dirty="0"/>
              <a:t>Legal Collections</a:t>
            </a:r>
            <a:r>
              <a:rPr lang="en-US" sz="1400" dirty="0"/>
              <a:t> Actions</a:t>
            </a:r>
          </a:p>
        </p:txBody>
      </p:sp>
    </p:spTree>
    <p:extLst>
      <p:ext uri="{BB962C8B-B14F-4D97-AF65-F5344CB8AC3E}">
        <p14:creationId xmlns:p14="http://schemas.microsoft.com/office/powerpoint/2010/main" val="1925405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AB4EA-34BE-4737-9906-FB139A2ADBD3}"/>
              </a:ext>
            </a:extLst>
          </p:cNvPr>
          <p:cNvSpPr txBox="1">
            <a:spLocks/>
          </p:cNvSpPr>
          <p:nvPr/>
        </p:nvSpPr>
        <p:spPr>
          <a:xfrm>
            <a:off x="735122" y="522416"/>
            <a:ext cx="10763250" cy="5445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srgbClr val="5B2892"/>
                </a:solidFill>
                <a:latin typeface="+mn-lt"/>
                <a:ea typeface="+mn-ea"/>
                <a:cs typeface="+mn-cs"/>
              </a:rPr>
              <a:t>Predictive Analytics</a:t>
            </a:r>
          </a:p>
        </p:txBody>
      </p:sp>
      <p:sp>
        <p:nvSpPr>
          <p:cNvPr id="4" name="Rectangle: Rounded Corners 3">
            <a:extLst>
              <a:ext uri="{FF2B5EF4-FFF2-40B4-BE49-F238E27FC236}">
                <a16:creationId xmlns:a16="http://schemas.microsoft.com/office/drawing/2014/main" id="{31637D4C-8532-49BB-8D73-10B6CE8B084E}"/>
              </a:ext>
            </a:extLst>
          </p:cNvPr>
          <p:cNvSpPr/>
          <p:nvPr/>
        </p:nvSpPr>
        <p:spPr>
          <a:xfrm>
            <a:off x="735122" y="1346035"/>
            <a:ext cx="4797630" cy="45007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Machine Learning Model 2:</a:t>
            </a:r>
          </a:p>
          <a:p>
            <a:pPr algn="ctr"/>
            <a:r>
              <a:rPr lang="en-US" dirty="0"/>
              <a:t>Problem Statement: Which accounts should we Action first, so that we make best use of  available scare resources</a:t>
            </a:r>
          </a:p>
          <a:p>
            <a:pPr algn="ctr"/>
            <a:endParaRPr lang="en-US" dirty="0"/>
          </a:p>
          <a:p>
            <a:pPr algn="ctr"/>
            <a:r>
              <a:rPr lang="en-US" b="1" dirty="0"/>
              <a:t>Solution: </a:t>
            </a:r>
            <a:r>
              <a:rPr lang="en-US" dirty="0"/>
              <a:t>Analyze the Ability and Willingness of the customer, to know the probability of customer Paying</a:t>
            </a:r>
          </a:p>
          <a:p>
            <a:pPr algn="ctr"/>
            <a:endParaRPr lang="en-US" dirty="0"/>
          </a:p>
          <a:p>
            <a:pPr algn="ctr"/>
            <a:r>
              <a:rPr lang="en-US" dirty="0"/>
              <a:t>Machine Learning models to predict payment propensity for existing and the first timer customers in Debt Collections</a:t>
            </a:r>
          </a:p>
        </p:txBody>
      </p:sp>
      <p:sp>
        <p:nvSpPr>
          <p:cNvPr id="5" name="TextBox 4">
            <a:extLst>
              <a:ext uri="{FF2B5EF4-FFF2-40B4-BE49-F238E27FC236}">
                <a16:creationId xmlns:a16="http://schemas.microsoft.com/office/drawing/2014/main" id="{0D8F8FB2-B2E9-4F52-99CA-2965A19E4D83}"/>
              </a:ext>
            </a:extLst>
          </p:cNvPr>
          <p:cNvSpPr txBox="1"/>
          <p:nvPr/>
        </p:nvSpPr>
        <p:spPr>
          <a:xfrm>
            <a:off x="5727700" y="1066929"/>
            <a:ext cx="5770672" cy="3108543"/>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400" b="1" u="sng" dirty="0"/>
              <a:t>Existing Data:</a:t>
            </a:r>
          </a:p>
          <a:p>
            <a:pPr marL="285750" indent="-285750">
              <a:buFont typeface="Arial" panose="020B0604020202020204" pitchFamily="34" charset="0"/>
              <a:buChar char="•"/>
            </a:pPr>
            <a:r>
              <a:rPr lang="en-US" sz="1400" dirty="0"/>
              <a:t>Customer Profile (from LOS)</a:t>
            </a:r>
          </a:p>
          <a:p>
            <a:pPr marL="285750" indent="-285750">
              <a:buFont typeface="Arial" panose="020B0604020202020204" pitchFamily="34" charset="0"/>
              <a:buChar char="•"/>
            </a:pPr>
            <a:r>
              <a:rPr lang="en-US" sz="1400" dirty="0"/>
              <a:t>Application Profile (From LOS)</a:t>
            </a:r>
          </a:p>
          <a:p>
            <a:pPr marL="285750" indent="-285750">
              <a:buFont typeface="Arial" panose="020B0604020202020204" pitchFamily="34" charset="0"/>
              <a:buChar char="•"/>
            </a:pPr>
            <a:r>
              <a:rPr lang="en-US" sz="1400" dirty="0"/>
              <a:t>Ability Score </a:t>
            </a:r>
          </a:p>
          <a:p>
            <a:pPr marL="742950" lvl="1" indent="-285750">
              <a:buFont typeface="Arial" panose="020B0604020202020204" pitchFamily="34" charset="0"/>
              <a:buChar char="•"/>
            </a:pPr>
            <a:r>
              <a:rPr lang="en-US" sz="1400" dirty="0"/>
              <a:t>Customers re-payment History patterns</a:t>
            </a:r>
          </a:p>
          <a:p>
            <a:pPr lvl="1"/>
            <a:r>
              <a:rPr lang="en-US" sz="1400" dirty="0"/>
              <a:t>(High Ability – Max Bucket History not greater than 1 or 2, Check ) </a:t>
            </a:r>
          </a:p>
          <a:p>
            <a:pPr marL="285750" indent="-285750">
              <a:buFont typeface="Arial" panose="020B0604020202020204" pitchFamily="34" charset="0"/>
              <a:buChar char="•"/>
            </a:pPr>
            <a:r>
              <a:rPr lang="en-US" sz="1400" dirty="0"/>
              <a:t>Willingness Score</a:t>
            </a:r>
          </a:p>
          <a:p>
            <a:pPr marL="742950" lvl="1" indent="-285750">
              <a:buFont typeface="Arial" panose="020B0604020202020204" pitchFamily="34" charset="0"/>
              <a:buChar char="•"/>
            </a:pPr>
            <a:r>
              <a:rPr lang="en-US" sz="1400" dirty="0"/>
              <a:t>Analyze other account of customers</a:t>
            </a:r>
          </a:p>
          <a:p>
            <a:pPr lvl="1"/>
            <a:r>
              <a:rPr lang="en-US" sz="1400" dirty="0"/>
              <a:t>(Low Willingness – If other accounts are written off or &gt; 4 buckets or Paid after Legal/Field)</a:t>
            </a:r>
          </a:p>
          <a:p>
            <a:endParaRPr lang="en-US" sz="1400" dirty="0"/>
          </a:p>
          <a:p>
            <a:r>
              <a:rPr lang="en-US" sz="1400" dirty="0"/>
              <a:t>Propensity Score: Models to determine propensity based on Ability and Willingness of the customer to re-pay the overdue amount</a:t>
            </a:r>
          </a:p>
          <a:p>
            <a:pPr marL="742950" lvl="1" indent="-285750">
              <a:buFont typeface="Arial" panose="020B0604020202020204" pitchFamily="34" charset="0"/>
              <a:buChar char="•"/>
            </a:pPr>
            <a:endParaRPr lang="en-US" sz="1400" dirty="0"/>
          </a:p>
        </p:txBody>
      </p:sp>
      <p:sp>
        <p:nvSpPr>
          <p:cNvPr id="6" name="TextBox 5">
            <a:extLst>
              <a:ext uri="{FF2B5EF4-FFF2-40B4-BE49-F238E27FC236}">
                <a16:creationId xmlns:a16="http://schemas.microsoft.com/office/drawing/2014/main" id="{09BF1247-C12A-408D-B28B-0E00A44AFD53}"/>
              </a:ext>
            </a:extLst>
          </p:cNvPr>
          <p:cNvSpPr txBox="1"/>
          <p:nvPr/>
        </p:nvSpPr>
        <p:spPr>
          <a:xfrm>
            <a:off x="5727699" y="4381133"/>
            <a:ext cx="5770673" cy="203132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400" b="1" u="sng" dirty="0"/>
              <a:t>Propensity Score on Tele Calling:</a:t>
            </a:r>
          </a:p>
          <a:p>
            <a:pPr marL="285750" indent="-285750">
              <a:buFont typeface="Arial" panose="020B0604020202020204" pitchFamily="34" charset="0"/>
              <a:buChar char="•"/>
            </a:pPr>
            <a:r>
              <a:rPr lang="en-US" sz="1400" dirty="0"/>
              <a:t>High Propensity – (Business Strategy) Tele Calling</a:t>
            </a:r>
          </a:p>
          <a:p>
            <a:pPr marL="285750" indent="-285750">
              <a:buFont typeface="Arial" panose="020B0604020202020204" pitchFamily="34" charset="0"/>
              <a:buChar char="•"/>
            </a:pPr>
            <a:r>
              <a:rPr lang="en-US" sz="1400" dirty="0"/>
              <a:t>Medium Propensity – (Business Strategy) Intensify Digital Collections</a:t>
            </a:r>
          </a:p>
          <a:p>
            <a:pPr marL="285750" indent="-285750">
              <a:buFont typeface="Arial" panose="020B0604020202020204" pitchFamily="34" charset="0"/>
              <a:buChar char="•"/>
            </a:pPr>
            <a:endParaRPr lang="en-US" sz="1400" dirty="0"/>
          </a:p>
          <a:p>
            <a:r>
              <a:rPr lang="en-US" sz="1400" b="1" u="sng" dirty="0"/>
              <a:t>Propensity Score on Field Collections:</a:t>
            </a:r>
          </a:p>
          <a:p>
            <a:pPr marL="285750" indent="-285750">
              <a:buFont typeface="Arial" panose="020B0604020202020204" pitchFamily="34" charset="0"/>
              <a:buChar char="•"/>
            </a:pPr>
            <a:r>
              <a:rPr lang="en-US" sz="1400" dirty="0"/>
              <a:t>High Propensity – (Business Strategy) Tele Calling first (Try to collect as much, to reduce field collections cost)</a:t>
            </a:r>
          </a:p>
          <a:p>
            <a:pPr marL="285750" indent="-285750">
              <a:buFont typeface="Arial" panose="020B0604020202020204" pitchFamily="34" charset="0"/>
              <a:buChar char="•"/>
            </a:pPr>
            <a:r>
              <a:rPr lang="en-US" sz="1400" dirty="0"/>
              <a:t>Medium &amp; Low Propensity – (Business Strategy)  Field Collections </a:t>
            </a:r>
          </a:p>
          <a:p>
            <a:pPr marL="285750" indent="-285750">
              <a:buFont typeface="Arial" panose="020B0604020202020204" pitchFamily="34" charset="0"/>
              <a:buChar char="•"/>
            </a:pPr>
            <a:r>
              <a:rPr lang="en-US" sz="1400" dirty="0"/>
              <a:t>Left over of High Propensity – (Business Strategy)  Field Collections</a:t>
            </a:r>
          </a:p>
        </p:txBody>
      </p:sp>
    </p:spTree>
    <p:extLst>
      <p:ext uri="{BB962C8B-B14F-4D97-AF65-F5344CB8AC3E}">
        <p14:creationId xmlns:p14="http://schemas.microsoft.com/office/powerpoint/2010/main" val="3247847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2454989-2B5C-4083-A707-D9F4E94F9235}"/>
              </a:ext>
            </a:extLst>
          </p:cNvPr>
          <p:cNvSpPr txBox="1">
            <a:spLocks/>
          </p:cNvSpPr>
          <p:nvPr/>
        </p:nvSpPr>
        <p:spPr>
          <a:xfrm>
            <a:off x="617537" y="482790"/>
            <a:ext cx="10956925" cy="54451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5B2892"/>
                </a:solidFill>
                <a:latin typeface="+mn-lt"/>
                <a:ea typeface="+mn-ea"/>
                <a:cs typeface="+mn-cs"/>
              </a:rPr>
              <a:t>Recommend Optimum Collections Channel (through Classification)</a:t>
            </a:r>
            <a:endParaRPr lang="en-US" sz="2800" dirty="0">
              <a:solidFill>
                <a:srgbClr val="5B2892"/>
              </a:solidFill>
              <a:latin typeface="+mn-lt"/>
              <a:ea typeface="+mn-ea"/>
              <a:cs typeface="+mn-cs"/>
            </a:endParaRPr>
          </a:p>
        </p:txBody>
      </p:sp>
      <p:pic>
        <p:nvPicPr>
          <p:cNvPr id="93186" name="Picture 2"/>
          <p:cNvPicPr>
            <a:picLocks noChangeAspect="1" noChangeArrowheads="1"/>
          </p:cNvPicPr>
          <p:nvPr/>
        </p:nvPicPr>
        <p:blipFill rotWithShape="1">
          <a:blip r:embed="rId3"/>
          <a:srcRect r="6342"/>
          <a:stretch/>
        </p:blipFill>
        <p:spPr bwMode="auto">
          <a:xfrm>
            <a:off x="601882" y="1326553"/>
            <a:ext cx="5127631" cy="4044118"/>
          </a:xfrm>
          <a:prstGeom prst="rect">
            <a:avLst/>
          </a:prstGeom>
          <a:noFill/>
          <a:ln w="9525">
            <a:noFill/>
            <a:miter lim="800000"/>
            <a:headEnd/>
            <a:tailEnd/>
          </a:ln>
          <a:effectLst/>
        </p:spPr>
      </p:pic>
      <p:grpSp>
        <p:nvGrpSpPr>
          <p:cNvPr id="2" name="Group 1">
            <a:extLst>
              <a:ext uri="{FF2B5EF4-FFF2-40B4-BE49-F238E27FC236}">
                <a16:creationId xmlns:a16="http://schemas.microsoft.com/office/drawing/2014/main" id="{FE89A065-8AB0-4FCD-8497-3A99A0DC48A0}"/>
              </a:ext>
            </a:extLst>
          </p:cNvPr>
          <p:cNvGrpSpPr/>
          <p:nvPr/>
        </p:nvGrpSpPr>
        <p:grpSpPr>
          <a:xfrm>
            <a:off x="5630779" y="2129589"/>
            <a:ext cx="5469170" cy="1993825"/>
            <a:chOff x="5577385" y="1788349"/>
            <a:chExt cx="5370436" cy="1918217"/>
          </a:xfrm>
        </p:grpSpPr>
        <p:pic>
          <p:nvPicPr>
            <p:cNvPr id="6" name="Picture 5" descr="man.png">
              <a:extLst>
                <a:ext uri="{FF2B5EF4-FFF2-40B4-BE49-F238E27FC236}">
                  <a16:creationId xmlns:a16="http://schemas.microsoft.com/office/drawing/2014/main" id="{63A251CE-DB35-4FF0-8AFF-08A223857E49}"/>
                </a:ext>
              </a:extLst>
            </p:cNvPr>
            <p:cNvPicPr>
              <a:picLocks noChangeAspect="1"/>
            </p:cNvPicPr>
            <p:nvPr/>
          </p:nvPicPr>
          <p:blipFill>
            <a:blip r:embed="rId4" cstate="print"/>
            <a:stretch>
              <a:fillRect/>
            </a:stretch>
          </p:blipFill>
          <p:spPr>
            <a:xfrm>
              <a:off x="5577385" y="2404842"/>
              <a:ext cx="802005" cy="861979"/>
            </a:xfrm>
            <a:prstGeom prst="rect">
              <a:avLst/>
            </a:prstGeom>
          </p:spPr>
        </p:pic>
        <p:pic>
          <p:nvPicPr>
            <p:cNvPr id="8" name="Picture 7" descr="telephone.png">
              <a:extLst>
                <a:ext uri="{FF2B5EF4-FFF2-40B4-BE49-F238E27FC236}">
                  <a16:creationId xmlns:a16="http://schemas.microsoft.com/office/drawing/2014/main" id="{6E421DB2-634B-487C-8AEB-46030F6AF67B}"/>
                </a:ext>
              </a:extLst>
            </p:cNvPr>
            <p:cNvPicPr>
              <a:picLocks noChangeAspect="1"/>
            </p:cNvPicPr>
            <p:nvPr/>
          </p:nvPicPr>
          <p:blipFill>
            <a:blip r:embed="rId5" cstate="print"/>
            <a:stretch>
              <a:fillRect/>
            </a:stretch>
          </p:blipFill>
          <p:spPr>
            <a:xfrm>
              <a:off x="6889309" y="2005815"/>
              <a:ext cx="325803" cy="350166"/>
            </a:xfrm>
            <a:prstGeom prst="rect">
              <a:avLst/>
            </a:prstGeom>
          </p:spPr>
        </p:pic>
        <p:pic>
          <p:nvPicPr>
            <p:cNvPr id="9" name="Picture 8" descr="call.png">
              <a:extLst>
                <a:ext uri="{FF2B5EF4-FFF2-40B4-BE49-F238E27FC236}">
                  <a16:creationId xmlns:a16="http://schemas.microsoft.com/office/drawing/2014/main" id="{28DC986C-FA8D-48FA-A49A-E8602AF176EF}"/>
                </a:ext>
              </a:extLst>
            </p:cNvPr>
            <p:cNvPicPr>
              <a:picLocks noChangeAspect="1"/>
            </p:cNvPicPr>
            <p:nvPr/>
          </p:nvPicPr>
          <p:blipFill>
            <a:blip r:embed="rId6" cstate="print"/>
            <a:stretch>
              <a:fillRect/>
            </a:stretch>
          </p:blipFill>
          <p:spPr>
            <a:xfrm>
              <a:off x="6859002" y="3266822"/>
              <a:ext cx="409148" cy="439744"/>
            </a:xfrm>
            <a:prstGeom prst="rect">
              <a:avLst/>
            </a:prstGeom>
          </p:spPr>
        </p:pic>
        <p:pic>
          <p:nvPicPr>
            <p:cNvPr id="10" name="Picture 9" descr="msg.png">
              <a:extLst>
                <a:ext uri="{FF2B5EF4-FFF2-40B4-BE49-F238E27FC236}">
                  <a16:creationId xmlns:a16="http://schemas.microsoft.com/office/drawing/2014/main" id="{F6C3C8D1-9415-4DDE-AB63-6CF644F68B79}"/>
                </a:ext>
              </a:extLst>
            </p:cNvPr>
            <p:cNvPicPr>
              <a:picLocks noChangeAspect="1"/>
            </p:cNvPicPr>
            <p:nvPr/>
          </p:nvPicPr>
          <p:blipFill>
            <a:blip r:embed="rId7" cstate="print"/>
            <a:stretch>
              <a:fillRect/>
            </a:stretch>
          </p:blipFill>
          <p:spPr>
            <a:xfrm rot="2743575">
              <a:off x="6727948" y="2509209"/>
              <a:ext cx="565560" cy="526209"/>
            </a:xfrm>
            <a:prstGeom prst="rect">
              <a:avLst/>
            </a:prstGeom>
          </p:spPr>
        </p:pic>
        <p:cxnSp>
          <p:nvCxnSpPr>
            <p:cNvPr id="11" name="Straight Arrow Connector 10">
              <a:extLst>
                <a:ext uri="{FF2B5EF4-FFF2-40B4-BE49-F238E27FC236}">
                  <a16:creationId xmlns:a16="http://schemas.microsoft.com/office/drawing/2014/main" id="{AD96F604-F919-40A4-AFC0-1937066B2B9A}"/>
                </a:ext>
              </a:extLst>
            </p:cNvPr>
            <p:cNvCxnSpPr/>
            <p:nvPr/>
          </p:nvCxnSpPr>
          <p:spPr>
            <a:xfrm flipV="1">
              <a:off x="6379528" y="2318892"/>
              <a:ext cx="363687" cy="44418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1090DE8-5CD6-45ED-AB1C-297E09C1BC9B}"/>
                </a:ext>
              </a:extLst>
            </p:cNvPr>
            <p:cNvCxnSpPr/>
            <p:nvPr/>
          </p:nvCxnSpPr>
          <p:spPr>
            <a:xfrm flipV="1">
              <a:off x="6418170" y="2763004"/>
              <a:ext cx="440832" cy="1776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007C8F4-0648-415B-A05E-EB9E03C2DB27}"/>
                </a:ext>
              </a:extLst>
            </p:cNvPr>
            <p:cNvCxnSpPr/>
            <p:nvPr/>
          </p:nvCxnSpPr>
          <p:spPr>
            <a:xfrm>
              <a:off x="6417859" y="2814418"/>
              <a:ext cx="325114" cy="50341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4" name="Picture 13" descr="que.jpg">
              <a:extLst>
                <a:ext uri="{FF2B5EF4-FFF2-40B4-BE49-F238E27FC236}">
                  <a16:creationId xmlns:a16="http://schemas.microsoft.com/office/drawing/2014/main" id="{94BCF21C-F7E1-4762-967A-44554560B31B}"/>
                </a:ext>
              </a:extLst>
            </p:cNvPr>
            <p:cNvPicPr>
              <a:picLocks noChangeAspect="1"/>
            </p:cNvPicPr>
            <p:nvPr/>
          </p:nvPicPr>
          <p:blipFill>
            <a:blip r:embed="rId8" cstate="print"/>
            <a:stretch>
              <a:fillRect/>
            </a:stretch>
          </p:blipFill>
          <p:spPr>
            <a:xfrm>
              <a:off x="6205709" y="2620903"/>
              <a:ext cx="274921" cy="302045"/>
            </a:xfrm>
            <a:prstGeom prst="rect">
              <a:avLst/>
            </a:prstGeom>
          </p:spPr>
        </p:pic>
        <p:pic>
          <p:nvPicPr>
            <p:cNvPr id="15" name="Picture 14" descr="clus.JPG">
              <a:extLst>
                <a:ext uri="{FF2B5EF4-FFF2-40B4-BE49-F238E27FC236}">
                  <a16:creationId xmlns:a16="http://schemas.microsoft.com/office/drawing/2014/main" id="{B6EB0542-9014-4CA2-9644-7A41A191E30D}"/>
                </a:ext>
              </a:extLst>
            </p:cNvPr>
            <p:cNvPicPr>
              <a:picLocks noChangeAspect="1"/>
            </p:cNvPicPr>
            <p:nvPr/>
          </p:nvPicPr>
          <p:blipFill>
            <a:blip r:embed="rId9" cstate="print"/>
            <a:stretch>
              <a:fillRect/>
            </a:stretch>
          </p:blipFill>
          <p:spPr>
            <a:xfrm>
              <a:off x="7799284" y="2123634"/>
              <a:ext cx="1901779" cy="1339590"/>
            </a:xfrm>
            <a:prstGeom prst="rect">
              <a:avLst/>
            </a:prstGeom>
          </p:spPr>
        </p:pic>
        <p:pic>
          <p:nvPicPr>
            <p:cNvPr id="16" name="Picture 15" descr="man.png">
              <a:extLst>
                <a:ext uri="{FF2B5EF4-FFF2-40B4-BE49-F238E27FC236}">
                  <a16:creationId xmlns:a16="http://schemas.microsoft.com/office/drawing/2014/main" id="{40F5B204-96D4-4108-9A5C-2C9DB5DF5F3E}"/>
                </a:ext>
              </a:extLst>
            </p:cNvPr>
            <p:cNvPicPr>
              <a:picLocks noChangeAspect="1"/>
            </p:cNvPicPr>
            <p:nvPr/>
          </p:nvPicPr>
          <p:blipFill>
            <a:blip r:embed="rId10" cstate="print"/>
            <a:stretch>
              <a:fillRect/>
            </a:stretch>
          </p:blipFill>
          <p:spPr>
            <a:xfrm>
              <a:off x="5778374" y="2668457"/>
              <a:ext cx="306103" cy="328994"/>
            </a:xfrm>
            <a:prstGeom prst="rect">
              <a:avLst/>
            </a:prstGeom>
          </p:spPr>
        </p:pic>
        <p:pic>
          <p:nvPicPr>
            <p:cNvPr id="17" name="Picture 16" descr="man.png">
              <a:extLst>
                <a:ext uri="{FF2B5EF4-FFF2-40B4-BE49-F238E27FC236}">
                  <a16:creationId xmlns:a16="http://schemas.microsoft.com/office/drawing/2014/main" id="{1ADCFE02-B228-4DD9-897C-040D2AC825B2}"/>
                </a:ext>
              </a:extLst>
            </p:cNvPr>
            <p:cNvPicPr>
              <a:picLocks noChangeAspect="1"/>
            </p:cNvPicPr>
            <p:nvPr/>
          </p:nvPicPr>
          <p:blipFill>
            <a:blip r:embed="rId4" cstate="print"/>
            <a:stretch>
              <a:fillRect/>
            </a:stretch>
          </p:blipFill>
          <p:spPr>
            <a:xfrm>
              <a:off x="7843280" y="2472864"/>
              <a:ext cx="745558" cy="801311"/>
            </a:xfrm>
            <a:prstGeom prst="rect">
              <a:avLst/>
            </a:prstGeom>
          </p:spPr>
        </p:pic>
        <p:pic>
          <p:nvPicPr>
            <p:cNvPr id="18" name="Picture 17" descr="telephone.png">
              <a:extLst>
                <a:ext uri="{FF2B5EF4-FFF2-40B4-BE49-F238E27FC236}">
                  <a16:creationId xmlns:a16="http://schemas.microsoft.com/office/drawing/2014/main" id="{C8582A5D-C0BD-4923-9F75-885B3A93305F}"/>
                </a:ext>
              </a:extLst>
            </p:cNvPr>
            <p:cNvPicPr>
              <a:picLocks noChangeAspect="1"/>
            </p:cNvPicPr>
            <p:nvPr/>
          </p:nvPicPr>
          <p:blipFill>
            <a:blip r:embed="rId5" cstate="print"/>
            <a:stretch>
              <a:fillRect/>
            </a:stretch>
          </p:blipFill>
          <p:spPr>
            <a:xfrm>
              <a:off x="10097435" y="2468168"/>
              <a:ext cx="370127" cy="397805"/>
            </a:xfrm>
            <a:prstGeom prst="rect">
              <a:avLst/>
            </a:prstGeom>
          </p:spPr>
        </p:pic>
        <p:cxnSp>
          <p:nvCxnSpPr>
            <p:cNvPr id="19" name="Straight Arrow Connector 18">
              <a:extLst>
                <a:ext uri="{FF2B5EF4-FFF2-40B4-BE49-F238E27FC236}">
                  <a16:creationId xmlns:a16="http://schemas.microsoft.com/office/drawing/2014/main" id="{424E6309-DE1D-49C0-9D1D-A104B6F5E6C2}"/>
                </a:ext>
              </a:extLst>
            </p:cNvPr>
            <p:cNvCxnSpPr/>
            <p:nvPr/>
          </p:nvCxnSpPr>
          <p:spPr>
            <a:xfrm>
              <a:off x="9703062" y="2631036"/>
              <a:ext cx="394373" cy="5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20" name="Picture 19" descr="telephone.png">
              <a:extLst>
                <a:ext uri="{FF2B5EF4-FFF2-40B4-BE49-F238E27FC236}">
                  <a16:creationId xmlns:a16="http://schemas.microsoft.com/office/drawing/2014/main" id="{2F05D786-BEA9-47D2-B0A1-3A5AC9FAA0C9}"/>
                </a:ext>
              </a:extLst>
            </p:cNvPr>
            <p:cNvPicPr>
              <a:picLocks noChangeAspect="1"/>
            </p:cNvPicPr>
            <p:nvPr/>
          </p:nvPicPr>
          <p:blipFill>
            <a:blip r:embed="rId11" cstate="print"/>
            <a:stretch>
              <a:fillRect/>
            </a:stretch>
          </p:blipFill>
          <p:spPr>
            <a:xfrm>
              <a:off x="7799284" y="2129567"/>
              <a:ext cx="179483" cy="192905"/>
            </a:xfrm>
            <a:prstGeom prst="rect">
              <a:avLst/>
            </a:prstGeom>
          </p:spPr>
        </p:pic>
        <p:pic>
          <p:nvPicPr>
            <p:cNvPr id="21" name="Picture 20" descr="msg.png">
              <a:extLst>
                <a:ext uri="{FF2B5EF4-FFF2-40B4-BE49-F238E27FC236}">
                  <a16:creationId xmlns:a16="http://schemas.microsoft.com/office/drawing/2014/main" id="{662FFC92-80D9-4E44-884A-31229FDA4163}"/>
                </a:ext>
              </a:extLst>
            </p:cNvPr>
            <p:cNvPicPr>
              <a:picLocks noChangeAspect="1"/>
            </p:cNvPicPr>
            <p:nvPr/>
          </p:nvPicPr>
          <p:blipFill>
            <a:blip r:embed="rId12" cstate="print"/>
            <a:stretch>
              <a:fillRect/>
            </a:stretch>
          </p:blipFill>
          <p:spPr>
            <a:xfrm rot="2743575">
              <a:off x="9386525" y="2074292"/>
              <a:ext cx="326147" cy="303454"/>
            </a:xfrm>
            <a:prstGeom prst="rect">
              <a:avLst/>
            </a:prstGeom>
          </p:spPr>
        </p:pic>
        <p:pic>
          <p:nvPicPr>
            <p:cNvPr id="22" name="Picture 21" descr="call.png">
              <a:extLst>
                <a:ext uri="{FF2B5EF4-FFF2-40B4-BE49-F238E27FC236}">
                  <a16:creationId xmlns:a16="http://schemas.microsoft.com/office/drawing/2014/main" id="{D92B5892-489E-454B-85A7-002384F2C688}"/>
                </a:ext>
              </a:extLst>
            </p:cNvPr>
            <p:cNvPicPr>
              <a:picLocks noChangeAspect="1"/>
            </p:cNvPicPr>
            <p:nvPr/>
          </p:nvPicPr>
          <p:blipFill>
            <a:blip r:embed="rId13" cstate="print"/>
            <a:stretch>
              <a:fillRect/>
            </a:stretch>
          </p:blipFill>
          <p:spPr>
            <a:xfrm>
              <a:off x="8759355" y="3227840"/>
              <a:ext cx="211213" cy="227008"/>
            </a:xfrm>
            <a:prstGeom prst="rect">
              <a:avLst/>
            </a:prstGeom>
          </p:spPr>
        </p:pic>
        <p:sp>
          <p:nvSpPr>
            <p:cNvPr id="23" name="TextBox 22">
              <a:extLst>
                <a:ext uri="{FF2B5EF4-FFF2-40B4-BE49-F238E27FC236}">
                  <a16:creationId xmlns:a16="http://schemas.microsoft.com/office/drawing/2014/main" id="{D260A4DA-B31C-4D80-AB29-AF6FBB1727BA}"/>
                </a:ext>
              </a:extLst>
            </p:cNvPr>
            <p:cNvSpPr txBox="1"/>
            <p:nvPr/>
          </p:nvSpPr>
          <p:spPr>
            <a:xfrm>
              <a:off x="5766139" y="1788349"/>
              <a:ext cx="2000985" cy="414547"/>
            </a:xfrm>
            <a:prstGeom prst="rect">
              <a:avLst/>
            </a:prstGeom>
            <a:noFill/>
          </p:spPr>
          <p:txBody>
            <a:bodyPr wrap="square" rtlCol="0">
              <a:spAutoFit/>
            </a:bodyPr>
            <a:lstStyle/>
            <a:p>
              <a:r>
                <a:rPr lang="en-US" sz="1050" dirty="0"/>
                <a:t>Possible </a:t>
              </a:r>
            </a:p>
            <a:p>
              <a:r>
                <a:rPr lang="en-US" sz="1050" dirty="0"/>
                <a:t>Next Channel</a:t>
              </a:r>
            </a:p>
          </p:txBody>
        </p:sp>
        <p:sp>
          <p:nvSpPr>
            <p:cNvPr id="24" name="TextBox 23">
              <a:extLst>
                <a:ext uri="{FF2B5EF4-FFF2-40B4-BE49-F238E27FC236}">
                  <a16:creationId xmlns:a16="http://schemas.microsoft.com/office/drawing/2014/main" id="{A41BD774-B566-4B54-8B80-5D6813B3310B}"/>
                </a:ext>
              </a:extLst>
            </p:cNvPr>
            <p:cNvSpPr txBox="1"/>
            <p:nvPr/>
          </p:nvSpPr>
          <p:spPr>
            <a:xfrm>
              <a:off x="9987302" y="2148707"/>
              <a:ext cx="960519" cy="414547"/>
            </a:xfrm>
            <a:prstGeom prst="rect">
              <a:avLst/>
            </a:prstGeom>
            <a:noFill/>
          </p:spPr>
          <p:txBody>
            <a:bodyPr wrap="none" rtlCol="0">
              <a:spAutoFit/>
            </a:bodyPr>
            <a:lstStyle/>
            <a:p>
              <a:r>
                <a:rPr lang="en-US" sz="1050" dirty="0"/>
                <a:t>Best Possible </a:t>
              </a:r>
            </a:p>
            <a:p>
              <a:r>
                <a:rPr lang="en-US" sz="1050" dirty="0"/>
                <a:t>Channel</a:t>
              </a:r>
            </a:p>
          </p:txBody>
        </p:sp>
      </p:grpSp>
    </p:spTree>
    <p:extLst>
      <p:ext uri="{BB962C8B-B14F-4D97-AF65-F5344CB8AC3E}">
        <p14:creationId xmlns:p14="http://schemas.microsoft.com/office/powerpoint/2010/main" val="2077723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327C9-C158-45DD-A7E3-2BBD78E4C374}"/>
              </a:ext>
            </a:extLst>
          </p:cNvPr>
          <p:cNvSpPr txBox="1">
            <a:spLocks/>
          </p:cNvSpPr>
          <p:nvPr/>
        </p:nvSpPr>
        <p:spPr>
          <a:xfrm>
            <a:off x="735122" y="522416"/>
            <a:ext cx="10763250" cy="5445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srgbClr val="5B2892"/>
                </a:solidFill>
                <a:latin typeface="+mn-lt"/>
                <a:ea typeface="+mn-ea"/>
                <a:cs typeface="+mn-cs"/>
              </a:rPr>
              <a:t>Predictive Analytics – Technically Explained</a:t>
            </a:r>
          </a:p>
        </p:txBody>
      </p:sp>
      <p:graphicFrame>
        <p:nvGraphicFramePr>
          <p:cNvPr id="8" name="Diagram 7">
            <a:extLst>
              <a:ext uri="{FF2B5EF4-FFF2-40B4-BE49-F238E27FC236}">
                <a16:creationId xmlns:a16="http://schemas.microsoft.com/office/drawing/2014/main" id="{BFA9E429-0D53-4626-99C1-BAEB354F94EA}"/>
              </a:ext>
            </a:extLst>
          </p:cNvPr>
          <p:cNvGraphicFramePr/>
          <p:nvPr>
            <p:extLst>
              <p:ext uri="{D42A27DB-BD31-4B8C-83A1-F6EECF244321}">
                <p14:modId xmlns:p14="http://schemas.microsoft.com/office/powerpoint/2010/main" val="4041209953"/>
              </p:ext>
            </p:extLst>
          </p:nvPr>
        </p:nvGraphicFramePr>
        <p:xfrm>
          <a:off x="1005840" y="1435608"/>
          <a:ext cx="4862766" cy="39867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 name="Diagram 8">
            <a:extLst>
              <a:ext uri="{FF2B5EF4-FFF2-40B4-BE49-F238E27FC236}">
                <a16:creationId xmlns:a16="http://schemas.microsoft.com/office/drawing/2014/main" id="{C1DB7F35-AB41-4D85-8B5D-9E3703BBCB3B}"/>
              </a:ext>
            </a:extLst>
          </p:cNvPr>
          <p:cNvGraphicFramePr/>
          <p:nvPr>
            <p:extLst>
              <p:ext uri="{D42A27DB-BD31-4B8C-83A1-F6EECF244321}">
                <p14:modId xmlns:p14="http://schemas.microsoft.com/office/powerpoint/2010/main" val="1262464828"/>
              </p:ext>
            </p:extLst>
          </p:nvPr>
        </p:nvGraphicFramePr>
        <p:xfrm>
          <a:off x="6096000" y="1435608"/>
          <a:ext cx="5326062" cy="398678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4076292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25736FF-4B60-4965-83BD-E18493F84DCC}"/>
              </a:ext>
            </a:extLst>
          </p:cNvPr>
          <p:cNvSpPr/>
          <p:nvPr/>
        </p:nvSpPr>
        <p:spPr>
          <a:xfrm>
            <a:off x="4371060" y="2538482"/>
            <a:ext cx="3439236" cy="38867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t" anchorCtr="0"/>
          <a:lstStyle/>
          <a:p>
            <a:pPr algn="r"/>
            <a:r>
              <a:rPr lang="en-US" dirty="0"/>
              <a:t>Overall 2 to 3 weeks</a:t>
            </a:r>
          </a:p>
        </p:txBody>
      </p:sp>
      <p:sp>
        <p:nvSpPr>
          <p:cNvPr id="2" name="Title 1">
            <a:extLst>
              <a:ext uri="{FF2B5EF4-FFF2-40B4-BE49-F238E27FC236}">
                <a16:creationId xmlns:a16="http://schemas.microsoft.com/office/drawing/2014/main" id="{2BB4E90E-7C55-4D75-8FE3-EB82DA90AA95}"/>
              </a:ext>
            </a:extLst>
          </p:cNvPr>
          <p:cNvSpPr txBox="1">
            <a:spLocks/>
          </p:cNvSpPr>
          <p:nvPr/>
        </p:nvSpPr>
        <p:spPr>
          <a:xfrm>
            <a:off x="720608" y="304706"/>
            <a:ext cx="10763250" cy="5445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srgbClr val="5B2892"/>
                </a:solidFill>
                <a:latin typeface="+mn-lt"/>
                <a:ea typeface="+mn-ea"/>
                <a:cs typeface="+mn-cs"/>
              </a:rPr>
              <a:t>High Level Plan (  8 to 10 weeks)</a:t>
            </a:r>
          </a:p>
        </p:txBody>
      </p:sp>
      <p:graphicFrame>
        <p:nvGraphicFramePr>
          <p:cNvPr id="3" name="Diagram 2">
            <a:extLst>
              <a:ext uri="{FF2B5EF4-FFF2-40B4-BE49-F238E27FC236}">
                <a16:creationId xmlns:a16="http://schemas.microsoft.com/office/drawing/2014/main" id="{EF9C795F-20F4-4B92-9360-6D11393EFA94}"/>
              </a:ext>
            </a:extLst>
          </p:cNvPr>
          <p:cNvGraphicFramePr/>
          <p:nvPr>
            <p:extLst>
              <p:ext uri="{D42A27DB-BD31-4B8C-83A1-F6EECF244321}">
                <p14:modId xmlns:p14="http://schemas.microsoft.com/office/powerpoint/2010/main" val="2652497405"/>
              </p:ext>
            </p:extLst>
          </p:nvPr>
        </p:nvGraphicFramePr>
        <p:xfrm>
          <a:off x="572315" y="821266"/>
          <a:ext cx="10804744" cy="54779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77496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11CDA-AB6C-488C-8949-91FD74F1CAED}"/>
              </a:ext>
            </a:extLst>
          </p:cNvPr>
          <p:cNvSpPr txBox="1">
            <a:spLocks/>
          </p:cNvSpPr>
          <p:nvPr/>
        </p:nvSpPr>
        <p:spPr>
          <a:xfrm>
            <a:off x="735122" y="522416"/>
            <a:ext cx="10763250" cy="5445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srgbClr val="5B2892"/>
                </a:solidFill>
                <a:latin typeface="+mn-lt"/>
                <a:ea typeface="+mn-ea"/>
                <a:cs typeface="+mn-cs"/>
              </a:rPr>
              <a:t>Implementation of Analytics in Debt Collections</a:t>
            </a:r>
          </a:p>
        </p:txBody>
      </p:sp>
      <p:sp>
        <p:nvSpPr>
          <p:cNvPr id="4" name="TextBox 3">
            <a:extLst>
              <a:ext uri="{FF2B5EF4-FFF2-40B4-BE49-F238E27FC236}">
                <a16:creationId xmlns:a16="http://schemas.microsoft.com/office/drawing/2014/main" id="{69BFF59D-CB06-464E-A543-8639441CE6FF}"/>
              </a:ext>
            </a:extLst>
          </p:cNvPr>
          <p:cNvSpPr txBox="1"/>
          <p:nvPr/>
        </p:nvSpPr>
        <p:spPr>
          <a:xfrm>
            <a:off x="693628" y="994737"/>
            <a:ext cx="10509327" cy="6296211"/>
          </a:xfrm>
          <a:prstGeom prst="rect">
            <a:avLst/>
          </a:prstGeom>
          <a:noFill/>
        </p:spPr>
        <p:txBody>
          <a:bodyPr wrap="square" rtlCol="0">
            <a:spAutoFit/>
          </a:bodyPr>
          <a:lstStyle/>
          <a:p>
            <a:pPr marL="285750" lvl="0" indent="-285750">
              <a:lnSpc>
                <a:spcPct val="150000"/>
              </a:lnSpc>
              <a:buFont typeface="Arial" panose="020B0604020202020204" pitchFamily="34" charset="0"/>
              <a:buChar char="•"/>
            </a:pPr>
            <a:r>
              <a:rPr lang="en-US" sz="1200" dirty="0"/>
              <a:t>Create 2 UDF in Collections System - Collections Channel &amp; Propensity to Pay</a:t>
            </a:r>
          </a:p>
          <a:p>
            <a:pPr marL="285750" lvl="0" indent="-285750">
              <a:lnSpc>
                <a:spcPct val="150000"/>
              </a:lnSpc>
              <a:buFont typeface="Arial" panose="020B0604020202020204" pitchFamily="34" charset="0"/>
              <a:buChar char="•"/>
            </a:pPr>
            <a:r>
              <a:rPr lang="en-US" sz="1200" dirty="0"/>
              <a:t>The Machine learning model will provide:</a:t>
            </a:r>
          </a:p>
          <a:p>
            <a:pPr marL="742950" lvl="1" indent="-285750">
              <a:lnSpc>
                <a:spcPct val="150000"/>
              </a:lnSpc>
              <a:buFont typeface="Arial" panose="020B0604020202020204" pitchFamily="34" charset="0"/>
              <a:buChar char="•"/>
            </a:pPr>
            <a:r>
              <a:rPr lang="en-US" sz="1200" dirty="0"/>
              <a:t>“</a:t>
            </a:r>
            <a:r>
              <a:rPr lang="en-US" sz="1200" b="1" dirty="0"/>
              <a:t>Collections Channel</a:t>
            </a:r>
            <a:r>
              <a:rPr lang="en-US" sz="1200" dirty="0"/>
              <a:t>“ for accounts with DPD &gt;0 and &lt;= 3</a:t>
            </a:r>
          </a:p>
          <a:p>
            <a:pPr marL="742950" lvl="1" indent="-285750">
              <a:lnSpc>
                <a:spcPct val="150000"/>
              </a:lnSpc>
              <a:buFont typeface="Arial" panose="020B0604020202020204" pitchFamily="34" charset="0"/>
              <a:buChar char="•"/>
            </a:pPr>
            <a:r>
              <a:rPr lang="en-US" sz="1200" dirty="0"/>
              <a:t>“</a:t>
            </a:r>
            <a:r>
              <a:rPr lang="en-US" sz="1200" b="1" dirty="0"/>
              <a:t>Propensity to Pay”</a:t>
            </a:r>
            <a:r>
              <a:rPr lang="en-US" sz="1200" dirty="0"/>
              <a:t> for all Accounts</a:t>
            </a:r>
          </a:p>
          <a:p>
            <a:pPr marL="285750" lvl="0" indent="-285750">
              <a:lnSpc>
                <a:spcPct val="150000"/>
              </a:lnSpc>
              <a:buFont typeface="Arial" panose="020B0604020202020204" pitchFamily="34" charset="0"/>
              <a:buChar char="•"/>
            </a:pPr>
            <a:r>
              <a:rPr lang="en-US" sz="1200" dirty="0"/>
              <a:t>Accounts will be updated with the values provided by the Model</a:t>
            </a:r>
          </a:p>
          <a:p>
            <a:pPr marL="285750" lvl="0" indent="-285750">
              <a:lnSpc>
                <a:spcPct val="150000"/>
              </a:lnSpc>
              <a:buFont typeface="Arial" panose="020B0604020202020204" pitchFamily="34" charset="0"/>
              <a:buChar char="•"/>
            </a:pPr>
            <a:r>
              <a:rPr lang="en-US" sz="1200" dirty="0"/>
              <a:t>For an existing Collections Segment – Create a Challenger Segment with 10% random accounts in it</a:t>
            </a:r>
          </a:p>
          <a:p>
            <a:pPr marL="285750" lvl="0" indent="-285750">
              <a:lnSpc>
                <a:spcPct val="150000"/>
              </a:lnSpc>
              <a:buFont typeface="Arial" panose="020B0604020202020204" pitchFamily="34" charset="0"/>
              <a:buChar char="•"/>
            </a:pPr>
            <a:r>
              <a:rPr lang="en-US" sz="1400" b="1" dirty="0"/>
              <a:t>On Challenger Segment: </a:t>
            </a:r>
          </a:p>
          <a:p>
            <a:pPr marL="742950" lvl="1" indent="-285750">
              <a:lnSpc>
                <a:spcPct val="150000"/>
              </a:lnSpc>
              <a:buFont typeface="Arial" panose="020B0604020202020204" pitchFamily="34" charset="0"/>
              <a:buChar char="•"/>
            </a:pPr>
            <a:r>
              <a:rPr lang="en-US" sz="1200" dirty="0"/>
              <a:t>follow Strategy - </a:t>
            </a:r>
            <a:r>
              <a:rPr lang="en-US" sz="1200" b="1" dirty="0"/>
              <a:t>“Collections Channel”</a:t>
            </a:r>
            <a:r>
              <a:rPr lang="en-US" sz="1200" dirty="0"/>
              <a:t> as suggested by Model</a:t>
            </a:r>
          </a:p>
          <a:p>
            <a:pPr marL="1200150" lvl="2" indent="-285750">
              <a:buFont typeface="Arial" panose="020B0604020202020204" pitchFamily="34" charset="0"/>
              <a:buChar char="•"/>
            </a:pPr>
            <a:r>
              <a:rPr lang="en-US" sz="1200" dirty="0"/>
              <a:t>Self cure accounts – Need no action</a:t>
            </a:r>
          </a:p>
          <a:p>
            <a:pPr marL="1200150" lvl="2" indent="-285750">
              <a:buFont typeface="Arial" panose="020B0604020202020204" pitchFamily="34" charset="0"/>
              <a:buChar char="•"/>
            </a:pPr>
            <a:r>
              <a:rPr lang="en-US" sz="1200" dirty="0"/>
              <a:t>Digital Collections – Automated Notifications</a:t>
            </a:r>
          </a:p>
          <a:p>
            <a:pPr marL="1200150" lvl="2" indent="-285750">
              <a:buFont typeface="Arial" panose="020B0604020202020204" pitchFamily="34" charset="0"/>
              <a:buChar char="•"/>
            </a:pPr>
            <a:r>
              <a:rPr lang="en-US" sz="1200" dirty="0"/>
              <a:t>Tele-Calling </a:t>
            </a:r>
          </a:p>
          <a:p>
            <a:pPr marL="1200150" lvl="2" indent="-285750">
              <a:buFont typeface="Arial" panose="020B0604020202020204" pitchFamily="34" charset="0"/>
              <a:buChar char="•"/>
            </a:pPr>
            <a:r>
              <a:rPr lang="en-US" sz="1200" dirty="0"/>
              <a:t>Field Collections</a:t>
            </a:r>
          </a:p>
          <a:p>
            <a:pPr marL="742950" lvl="1" indent="-285750">
              <a:buFont typeface="Arial" panose="020B0604020202020204" pitchFamily="34" charset="0"/>
              <a:buChar char="•"/>
            </a:pPr>
            <a:r>
              <a:rPr lang="en-US" sz="1200" dirty="0"/>
              <a:t>Implement Prioritization Rules based on “Propensity to Pay”</a:t>
            </a:r>
          </a:p>
          <a:p>
            <a:pPr marL="285750" indent="-285750">
              <a:lnSpc>
                <a:spcPct val="150000"/>
              </a:lnSpc>
              <a:buFont typeface="Arial" panose="020B0604020202020204" pitchFamily="34" charset="0"/>
              <a:buChar char="•"/>
            </a:pPr>
            <a:r>
              <a:rPr lang="en-US" sz="1400" b="1" dirty="0"/>
              <a:t>Month End Report to compare Champion and Challenger for Bucket 1 (DPD 1-30)</a:t>
            </a:r>
          </a:p>
          <a:p>
            <a:pPr marL="742950" lvl="1" indent="-285750">
              <a:buFont typeface="Arial" panose="020B0604020202020204" pitchFamily="34" charset="0"/>
              <a:buChar char="•"/>
            </a:pPr>
            <a:r>
              <a:rPr lang="en-US" sz="1200" dirty="0"/>
              <a:t>Compare Cost of Collections versus Collections</a:t>
            </a:r>
          </a:p>
          <a:p>
            <a:pPr marL="742950" lvl="1" indent="-285750">
              <a:buFont typeface="Arial" panose="020B0604020202020204" pitchFamily="34" charset="0"/>
              <a:buChar char="•"/>
            </a:pPr>
            <a:r>
              <a:rPr lang="en-US" sz="1200" dirty="0"/>
              <a:t>% of Cure</a:t>
            </a:r>
          </a:p>
          <a:p>
            <a:pPr marL="742950" lvl="1" indent="-285750">
              <a:buFont typeface="Arial" panose="020B0604020202020204" pitchFamily="34" charset="0"/>
              <a:buChar char="•"/>
            </a:pPr>
            <a:r>
              <a:rPr lang="en-US" sz="1200" dirty="0"/>
              <a:t>% of Flow to Bucket 2 (DPD 31-60)</a:t>
            </a:r>
          </a:p>
          <a:p>
            <a:pPr marL="742950" lvl="1" indent="-285750">
              <a:buFont typeface="Arial" panose="020B0604020202020204" pitchFamily="34" charset="0"/>
              <a:buChar char="•"/>
            </a:pPr>
            <a:r>
              <a:rPr lang="en-US" sz="1200" dirty="0"/>
              <a:t>Time to Collect Indicators</a:t>
            </a:r>
          </a:p>
          <a:p>
            <a:pPr marL="285750" indent="-285750">
              <a:lnSpc>
                <a:spcPct val="150000"/>
              </a:lnSpc>
              <a:buFont typeface="Arial" panose="020B0604020202020204" pitchFamily="34" charset="0"/>
              <a:buChar char="•"/>
            </a:pPr>
            <a:r>
              <a:rPr lang="en-US" sz="1400" b="1" dirty="0"/>
              <a:t>Model Performance Assessment</a:t>
            </a:r>
            <a:endParaRPr lang="en-US" sz="1200" b="1" dirty="0"/>
          </a:p>
          <a:p>
            <a:pPr marL="742950" lvl="1" indent="-285750">
              <a:lnSpc>
                <a:spcPct val="150000"/>
              </a:lnSpc>
              <a:buFont typeface="Arial" panose="020B0604020202020204" pitchFamily="34" charset="0"/>
              <a:buChar char="•"/>
            </a:pPr>
            <a:r>
              <a:rPr lang="en-US" sz="1200" dirty="0"/>
              <a:t>On the Challenger Segment: Validate the Models for Accuracy on “Collections Channel” </a:t>
            </a:r>
          </a:p>
          <a:p>
            <a:pPr marL="742950" lvl="1" indent="-285750">
              <a:lnSpc>
                <a:spcPct val="150000"/>
              </a:lnSpc>
              <a:buFont typeface="Arial" panose="020B0604020202020204" pitchFamily="34" charset="0"/>
              <a:buChar char="•"/>
            </a:pPr>
            <a:r>
              <a:rPr lang="en-US" sz="1200" dirty="0"/>
              <a:t>On the Entire base validate the “Propensity to Pay” </a:t>
            </a:r>
          </a:p>
          <a:p>
            <a:pPr marL="742950" lvl="1" indent="-285750">
              <a:lnSpc>
                <a:spcPct val="150000"/>
              </a:lnSpc>
              <a:buFont typeface="Arial" panose="020B0604020202020204" pitchFamily="34" charset="0"/>
              <a:buChar char="•"/>
            </a:pPr>
            <a:r>
              <a:rPr lang="en-US" sz="1200" dirty="0"/>
              <a:t>Re-calibrate as necessary to fine tune the Models </a:t>
            </a:r>
          </a:p>
          <a:p>
            <a:pPr marL="742950" lvl="1" indent="-285750">
              <a:buFont typeface="Arial" panose="020B0604020202020204" pitchFamily="34" charset="0"/>
              <a:buChar char="•"/>
            </a:pPr>
            <a:endParaRPr lang="en-US" sz="1200" dirty="0"/>
          </a:p>
          <a:p>
            <a:pPr marL="742950" lvl="1" indent="-285750">
              <a:buFont typeface="Arial" panose="020B0604020202020204" pitchFamily="34" charset="0"/>
              <a:buChar char="•"/>
            </a:pPr>
            <a:endParaRPr lang="en-US" sz="1200" dirty="0"/>
          </a:p>
          <a:p>
            <a:endParaRPr lang="en-US" sz="1200" dirty="0"/>
          </a:p>
          <a:p>
            <a:pPr>
              <a:lnSpc>
                <a:spcPct val="150000"/>
              </a:lnSpc>
            </a:pPr>
            <a:endParaRPr lang="en-US" sz="1200" dirty="0"/>
          </a:p>
        </p:txBody>
      </p:sp>
    </p:spTree>
    <p:extLst>
      <p:ext uri="{BB962C8B-B14F-4D97-AF65-F5344CB8AC3E}">
        <p14:creationId xmlns:p14="http://schemas.microsoft.com/office/powerpoint/2010/main" val="1440138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3DCB-99FF-4C91-A538-6AB6DDAEB248}"/>
              </a:ext>
            </a:extLst>
          </p:cNvPr>
          <p:cNvSpPr txBox="1">
            <a:spLocks/>
          </p:cNvSpPr>
          <p:nvPr/>
        </p:nvSpPr>
        <p:spPr>
          <a:xfrm>
            <a:off x="720608" y="388930"/>
            <a:ext cx="10763250" cy="5445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srgbClr val="5B2892"/>
                </a:solidFill>
                <a:latin typeface="+mn-lt"/>
                <a:ea typeface="+mn-ea"/>
                <a:cs typeface="+mn-cs"/>
              </a:rPr>
              <a:t>Commercials</a:t>
            </a:r>
          </a:p>
        </p:txBody>
      </p:sp>
      <p:graphicFrame>
        <p:nvGraphicFramePr>
          <p:cNvPr id="3" name="Table 3">
            <a:extLst>
              <a:ext uri="{FF2B5EF4-FFF2-40B4-BE49-F238E27FC236}">
                <a16:creationId xmlns:a16="http://schemas.microsoft.com/office/drawing/2014/main" id="{0C58E16C-F0C9-4C32-A196-CE99D9643320}"/>
              </a:ext>
            </a:extLst>
          </p:cNvPr>
          <p:cNvGraphicFramePr>
            <a:graphicFrameLocks noGrp="1"/>
          </p:cNvGraphicFramePr>
          <p:nvPr>
            <p:extLst>
              <p:ext uri="{D42A27DB-BD31-4B8C-83A1-F6EECF244321}">
                <p14:modId xmlns:p14="http://schemas.microsoft.com/office/powerpoint/2010/main" val="3353432882"/>
              </p:ext>
            </p:extLst>
          </p:nvPr>
        </p:nvGraphicFramePr>
        <p:xfrm>
          <a:off x="720608" y="1179896"/>
          <a:ext cx="10396571" cy="4893492"/>
        </p:xfrm>
        <a:graphic>
          <a:graphicData uri="http://schemas.openxmlformats.org/drawingml/2006/table">
            <a:tbl>
              <a:tblPr firstRow="1" bandRow="1">
                <a:tableStyleId>{5C22544A-7EE6-4342-B048-85BDC9FD1C3A}</a:tableStyleId>
              </a:tblPr>
              <a:tblGrid>
                <a:gridCol w="7407557">
                  <a:extLst>
                    <a:ext uri="{9D8B030D-6E8A-4147-A177-3AD203B41FA5}">
                      <a16:colId xmlns:a16="http://schemas.microsoft.com/office/drawing/2014/main" val="1400533966"/>
                    </a:ext>
                  </a:extLst>
                </a:gridCol>
                <a:gridCol w="2989014">
                  <a:extLst>
                    <a:ext uri="{9D8B030D-6E8A-4147-A177-3AD203B41FA5}">
                      <a16:colId xmlns:a16="http://schemas.microsoft.com/office/drawing/2014/main" val="4058087887"/>
                    </a:ext>
                  </a:extLst>
                </a:gridCol>
              </a:tblGrid>
              <a:tr h="467958">
                <a:tc>
                  <a:txBody>
                    <a:bodyPr/>
                    <a:lstStyle/>
                    <a:p>
                      <a:r>
                        <a:rPr lang="en-US" sz="2000" dirty="0"/>
                        <a:t>Professional Services</a:t>
                      </a:r>
                    </a:p>
                  </a:txBody>
                  <a:tcPr/>
                </a:tc>
                <a:tc>
                  <a:txBody>
                    <a:bodyPr/>
                    <a:lstStyle/>
                    <a:p>
                      <a:r>
                        <a:rPr lang="en-US" sz="2000" dirty="0"/>
                        <a:t>Amount (INR)</a:t>
                      </a:r>
                    </a:p>
                  </a:txBody>
                  <a:tcPr/>
                </a:tc>
                <a:extLst>
                  <a:ext uri="{0D108BD9-81ED-4DB2-BD59-A6C34878D82A}">
                    <a16:rowId xmlns:a16="http://schemas.microsoft.com/office/drawing/2014/main" val="3615198410"/>
                  </a:ext>
                </a:extLst>
              </a:tr>
              <a:tr h="467958">
                <a:tc>
                  <a:txBody>
                    <a:bodyPr/>
                    <a:lstStyle/>
                    <a:p>
                      <a:r>
                        <a:rPr lang="en-US" sz="2000" dirty="0"/>
                        <a:t>License - Collections Analytics Generation Engine (CAGE)</a:t>
                      </a:r>
                    </a:p>
                  </a:txBody>
                  <a:tcPr/>
                </a:tc>
                <a:tc>
                  <a:txBody>
                    <a:bodyPr/>
                    <a:lstStyle/>
                    <a:p>
                      <a:r>
                        <a:rPr lang="en-US" sz="2000" dirty="0"/>
                        <a:t>Free of Cost</a:t>
                      </a:r>
                    </a:p>
                  </a:txBody>
                  <a:tcPr/>
                </a:tc>
                <a:extLst>
                  <a:ext uri="{0D108BD9-81ED-4DB2-BD59-A6C34878D82A}">
                    <a16:rowId xmlns:a16="http://schemas.microsoft.com/office/drawing/2014/main" val="378432359"/>
                  </a:ext>
                </a:extLst>
              </a:tr>
              <a:tr h="467958">
                <a:tc>
                  <a:txBody>
                    <a:bodyPr/>
                    <a:lstStyle/>
                    <a:p>
                      <a:r>
                        <a:rPr lang="en-US" sz="2000" dirty="0"/>
                        <a:t>Professional Fees for Delivery of Models</a:t>
                      </a:r>
                    </a:p>
                  </a:txBody>
                  <a:tcPr/>
                </a:tc>
                <a:tc>
                  <a:txBody>
                    <a:bodyPr/>
                    <a:lstStyle/>
                    <a:p>
                      <a:r>
                        <a:rPr lang="en-US" sz="2000" dirty="0"/>
                        <a:t>Free of Cost</a:t>
                      </a:r>
                    </a:p>
                  </a:txBody>
                  <a:tcPr/>
                </a:tc>
                <a:extLst>
                  <a:ext uri="{0D108BD9-81ED-4DB2-BD59-A6C34878D82A}">
                    <a16:rowId xmlns:a16="http://schemas.microsoft.com/office/drawing/2014/main" val="3191644217"/>
                  </a:ext>
                </a:extLst>
              </a:tr>
              <a:tr h="1187894">
                <a:tc>
                  <a:txBody>
                    <a:bodyPr/>
                    <a:lstStyle/>
                    <a:p>
                      <a:r>
                        <a:rPr lang="en-US" sz="2000" dirty="0"/>
                        <a:t>Implementation of Models in Ebix Debt Collections</a:t>
                      </a:r>
                    </a:p>
                    <a:p>
                      <a:pPr marL="285750" indent="-285750">
                        <a:buFontTx/>
                        <a:buChar char="-"/>
                      </a:pPr>
                      <a:r>
                        <a:rPr lang="en-US" sz="2000" dirty="0"/>
                        <a:t>Configuration &amp; Integration</a:t>
                      </a:r>
                    </a:p>
                    <a:p>
                      <a:pPr marL="285750" indent="-285750">
                        <a:buFontTx/>
                        <a:buChar char="-"/>
                      </a:pPr>
                      <a:r>
                        <a:rPr lang="en-US" sz="2000" dirty="0"/>
                        <a:t>Testing Support</a:t>
                      </a:r>
                    </a:p>
                  </a:txBody>
                  <a:tcPr/>
                </a:tc>
                <a:tc>
                  <a:txBody>
                    <a:bodyPr/>
                    <a:lstStyle/>
                    <a:p>
                      <a:r>
                        <a:rPr lang="en-US" sz="2000" dirty="0"/>
                        <a:t>Free of Cost</a:t>
                      </a:r>
                    </a:p>
                  </a:txBody>
                  <a:tcPr/>
                </a:tc>
                <a:extLst>
                  <a:ext uri="{0D108BD9-81ED-4DB2-BD59-A6C34878D82A}">
                    <a16:rowId xmlns:a16="http://schemas.microsoft.com/office/drawing/2014/main" val="2580994054"/>
                  </a:ext>
                </a:extLst>
              </a:tr>
              <a:tr h="467958">
                <a:tc>
                  <a:txBody>
                    <a:bodyPr/>
                    <a:lstStyle/>
                    <a:p>
                      <a:r>
                        <a:rPr lang="en-US" sz="2000" dirty="0"/>
                        <a:t>Post-Production Model Assessment- 3 months </a:t>
                      </a:r>
                    </a:p>
                  </a:txBody>
                  <a:tcPr/>
                </a:tc>
                <a:tc>
                  <a:txBody>
                    <a:bodyPr/>
                    <a:lstStyle/>
                    <a:p>
                      <a:r>
                        <a:rPr lang="en-US" sz="2000" dirty="0"/>
                        <a:t>Free of Cost</a:t>
                      </a:r>
                    </a:p>
                  </a:txBody>
                  <a:tcPr/>
                </a:tc>
                <a:extLst>
                  <a:ext uri="{0D108BD9-81ED-4DB2-BD59-A6C34878D82A}">
                    <a16:rowId xmlns:a16="http://schemas.microsoft.com/office/drawing/2014/main" val="3625261345"/>
                  </a:ext>
                </a:extLst>
              </a:tr>
              <a:tr h="827926">
                <a:tc>
                  <a:txBody>
                    <a:bodyPr/>
                    <a:lstStyle/>
                    <a:p>
                      <a:r>
                        <a:rPr lang="en-US" sz="2000" dirty="0"/>
                        <a:t>4</a:t>
                      </a:r>
                      <a:r>
                        <a:rPr lang="en-US" sz="2000" baseline="30000" dirty="0"/>
                        <a:t>th</a:t>
                      </a:r>
                      <a:r>
                        <a:rPr lang="en-US" sz="2000" dirty="0"/>
                        <a:t> Month onwards AMC </a:t>
                      </a:r>
                    </a:p>
                    <a:p>
                      <a:r>
                        <a:rPr lang="en-US" sz="2000" dirty="0"/>
                        <a:t>(Quarterly Mode Assessment and Recalibration)</a:t>
                      </a:r>
                    </a:p>
                  </a:txBody>
                  <a:tcPr/>
                </a:tc>
                <a:tc>
                  <a:txBody>
                    <a:bodyPr/>
                    <a:lstStyle/>
                    <a:p>
                      <a:r>
                        <a:rPr lang="en-US" sz="2000" dirty="0"/>
                        <a:t>8 Lakhs per year</a:t>
                      </a:r>
                    </a:p>
                  </a:txBody>
                  <a:tcPr/>
                </a:tc>
                <a:extLst>
                  <a:ext uri="{0D108BD9-81ED-4DB2-BD59-A6C34878D82A}">
                    <a16:rowId xmlns:a16="http://schemas.microsoft.com/office/drawing/2014/main" val="3673976654"/>
                  </a:ext>
                </a:extLst>
              </a:tr>
              <a:tr h="827926">
                <a:tc>
                  <a:txBody>
                    <a:bodyPr/>
                    <a:lstStyle/>
                    <a:p>
                      <a:endParaRPr lang="en-US" sz="2000" dirty="0"/>
                    </a:p>
                    <a:p>
                      <a:r>
                        <a:rPr lang="en-US" sz="2000" dirty="0"/>
                        <a:t>Travel &amp; Living Expense </a:t>
                      </a:r>
                    </a:p>
                  </a:txBody>
                  <a:tcPr/>
                </a:tc>
                <a:tc>
                  <a:txBody>
                    <a:bodyPr/>
                    <a:lstStyle/>
                    <a:p>
                      <a:endParaRPr lang="en-US" sz="2000" dirty="0"/>
                    </a:p>
                    <a:p>
                      <a:r>
                        <a:rPr lang="en-US" sz="2000" dirty="0"/>
                        <a:t>Approx. 1 to 1.5 Lakhs</a:t>
                      </a:r>
                    </a:p>
                    <a:p>
                      <a:r>
                        <a:rPr lang="en-US" sz="2000" dirty="0"/>
                        <a:t>(billed at actuals)</a:t>
                      </a:r>
                    </a:p>
                  </a:txBody>
                  <a:tcPr/>
                </a:tc>
                <a:extLst>
                  <a:ext uri="{0D108BD9-81ED-4DB2-BD59-A6C34878D82A}">
                    <a16:rowId xmlns:a16="http://schemas.microsoft.com/office/drawing/2014/main" val="1108903794"/>
                  </a:ext>
                </a:extLst>
              </a:tr>
            </a:tbl>
          </a:graphicData>
        </a:graphic>
      </p:graphicFrame>
    </p:spTree>
    <p:extLst>
      <p:ext uri="{BB962C8B-B14F-4D97-AF65-F5344CB8AC3E}">
        <p14:creationId xmlns:p14="http://schemas.microsoft.com/office/powerpoint/2010/main" val="3959823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AEE07-A4B3-4CA6-A603-184B4051AB7B}"/>
              </a:ext>
            </a:extLst>
          </p:cNvPr>
          <p:cNvSpPr txBox="1">
            <a:spLocks/>
          </p:cNvSpPr>
          <p:nvPr/>
        </p:nvSpPr>
        <p:spPr>
          <a:xfrm>
            <a:off x="714375" y="2884487"/>
            <a:ext cx="10763250" cy="544513"/>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rgbClr val="8367AC"/>
                </a:solidFill>
                <a:latin typeface="+mn-lt"/>
                <a:ea typeface="+mn-ea"/>
                <a:cs typeface="+mn-cs"/>
              </a:rPr>
              <a:t>T H A N K  Y O U</a:t>
            </a:r>
          </a:p>
        </p:txBody>
      </p:sp>
    </p:spTree>
    <p:extLst>
      <p:ext uri="{BB962C8B-B14F-4D97-AF65-F5344CB8AC3E}">
        <p14:creationId xmlns:p14="http://schemas.microsoft.com/office/powerpoint/2010/main" val="1745912643"/>
      </p:ext>
    </p:extLst>
  </p:cSld>
  <p:clrMapOvr>
    <a:masterClrMapping/>
  </p:clrMapOvr>
</p:sld>
</file>

<file path=ppt/theme/theme1.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3214</TotalTime>
  <Words>1169</Words>
  <Application>Microsoft Office PowerPoint</Application>
  <PresentationFormat>Widescreen</PresentationFormat>
  <Paragraphs>158</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Wingdings</vt:lpstr>
      <vt:lpstr>1_Custom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Neeraj Nema</dc:creator>
  <cp:lastModifiedBy>Chandrasen Wadikar</cp:lastModifiedBy>
  <cp:revision>81</cp:revision>
  <dcterms:created xsi:type="dcterms:W3CDTF">2018-02-02T12:57:26Z</dcterms:created>
  <dcterms:modified xsi:type="dcterms:W3CDTF">2020-02-05T09:05:15Z</dcterms:modified>
</cp:coreProperties>
</file>