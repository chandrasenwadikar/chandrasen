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79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5D163ED-04A6-40CE-9809-8513E90E090A}" type="datetimeFigureOut">
              <a:rPr lang="en-US" smtClean="0"/>
              <a:t>29-Oct-20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28981D-A35D-49D8-A207-D399B147E666}" type="slidenum">
              <a:rPr lang="en-US" smtClean="0"/>
              <a:t>‹#›</a:t>
            </a:fld>
            <a:endParaRPr lang="en-US"/>
          </a:p>
        </p:txBody>
      </p:sp>
    </p:spTree>
    <p:extLst>
      <p:ext uri="{BB962C8B-B14F-4D97-AF65-F5344CB8AC3E}">
        <p14:creationId xmlns:p14="http://schemas.microsoft.com/office/powerpoint/2010/main" val="20723074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D5D163ED-04A6-40CE-9809-8513E90E090A}" type="datetimeFigureOut">
              <a:rPr lang="en-US" smtClean="0"/>
              <a:t>29-Oct-20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28981D-A35D-49D8-A207-D399B147E666}" type="slidenum">
              <a:rPr lang="en-US" smtClean="0"/>
              <a:t>‹#›</a:t>
            </a:fld>
            <a:endParaRPr lang="en-US"/>
          </a:p>
        </p:txBody>
      </p:sp>
    </p:spTree>
    <p:extLst>
      <p:ext uri="{BB962C8B-B14F-4D97-AF65-F5344CB8AC3E}">
        <p14:creationId xmlns:p14="http://schemas.microsoft.com/office/powerpoint/2010/main" val="36463932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D163ED-04A6-40CE-9809-8513E90E090A}" type="datetimeFigureOut">
              <a:rPr lang="en-US" smtClean="0"/>
              <a:t>29-Oct-20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28981D-A35D-49D8-A207-D399B147E666}" type="slidenum">
              <a:rPr lang="en-US" smtClean="0"/>
              <a:t>‹#›</a:t>
            </a:fld>
            <a:endParaRPr lang="en-US"/>
          </a:p>
        </p:txBody>
      </p:sp>
    </p:spTree>
    <p:extLst>
      <p:ext uri="{BB962C8B-B14F-4D97-AF65-F5344CB8AC3E}">
        <p14:creationId xmlns:p14="http://schemas.microsoft.com/office/powerpoint/2010/main" val="13046489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5D163ED-04A6-40CE-9809-8513E90E090A}" type="datetimeFigureOut">
              <a:rPr lang="en-US" smtClean="0"/>
              <a:t>29-Oct-20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28981D-A35D-49D8-A207-D399B147E666}" type="slidenum">
              <a:rPr lang="en-US" smtClean="0"/>
              <a:t>‹#›</a:t>
            </a:fld>
            <a:endParaRPr lang="en-US"/>
          </a:p>
        </p:txBody>
      </p:sp>
    </p:spTree>
    <p:extLst>
      <p:ext uri="{BB962C8B-B14F-4D97-AF65-F5344CB8AC3E}">
        <p14:creationId xmlns:p14="http://schemas.microsoft.com/office/powerpoint/2010/main" val="31839133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5D163ED-04A6-40CE-9809-8513E90E090A}" type="datetimeFigureOut">
              <a:rPr lang="en-US" smtClean="0"/>
              <a:t>29-Oct-20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C28981D-A35D-49D8-A207-D399B147E666}" type="slidenum">
              <a:rPr lang="en-US" smtClean="0"/>
              <a:t>‹#›</a:t>
            </a:fld>
            <a:endParaRPr lang="en-US"/>
          </a:p>
        </p:txBody>
      </p:sp>
    </p:spTree>
    <p:extLst>
      <p:ext uri="{BB962C8B-B14F-4D97-AF65-F5344CB8AC3E}">
        <p14:creationId xmlns:p14="http://schemas.microsoft.com/office/powerpoint/2010/main" val="6125584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D5D163ED-04A6-40CE-9809-8513E90E090A}" type="datetimeFigureOut">
              <a:rPr lang="en-US" smtClean="0"/>
              <a:t>29-Oct-20</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1C28981D-A35D-49D8-A207-D399B147E666}" type="slidenum">
              <a:rPr lang="en-US" smtClean="0"/>
              <a:t>‹#›</a:t>
            </a:fld>
            <a:endParaRPr lang="en-US"/>
          </a:p>
        </p:txBody>
      </p:sp>
    </p:spTree>
    <p:extLst>
      <p:ext uri="{BB962C8B-B14F-4D97-AF65-F5344CB8AC3E}">
        <p14:creationId xmlns:p14="http://schemas.microsoft.com/office/powerpoint/2010/main" val="4802110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D5D163ED-04A6-40CE-9809-8513E90E090A}" type="datetimeFigureOut">
              <a:rPr lang="en-US" smtClean="0"/>
              <a:t>29-Oct-20</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1C28981D-A35D-49D8-A207-D399B147E666}" type="slidenum">
              <a:rPr lang="en-US" smtClean="0"/>
              <a:t>‹#›</a:t>
            </a:fld>
            <a:endParaRPr lang="en-US"/>
          </a:p>
        </p:txBody>
      </p:sp>
    </p:spTree>
    <p:extLst>
      <p:ext uri="{BB962C8B-B14F-4D97-AF65-F5344CB8AC3E}">
        <p14:creationId xmlns:p14="http://schemas.microsoft.com/office/powerpoint/2010/main" val="36930489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D5D163ED-04A6-40CE-9809-8513E90E090A}" type="datetimeFigureOut">
              <a:rPr lang="en-US" smtClean="0"/>
              <a:t>29-Oct-20</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1C28981D-A35D-49D8-A207-D399B147E666}" type="slidenum">
              <a:rPr lang="en-US" smtClean="0"/>
              <a:t>‹#›</a:t>
            </a:fld>
            <a:endParaRPr lang="en-US"/>
          </a:p>
        </p:txBody>
      </p:sp>
    </p:spTree>
    <p:extLst>
      <p:ext uri="{BB962C8B-B14F-4D97-AF65-F5344CB8AC3E}">
        <p14:creationId xmlns:p14="http://schemas.microsoft.com/office/powerpoint/2010/main" val="1794885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5D163ED-04A6-40CE-9809-8513E90E090A}" type="datetimeFigureOut">
              <a:rPr lang="en-US" smtClean="0"/>
              <a:t>29-Oct-20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28981D-A35D-49D8-A207-D399B147E666}" type="slidenum">
              <a:rPr lang="en-US" smtClean="0"/>
              <a:t>‹#›</a:t>
            </a:fld>
            <a:endParaRPr lang="en-US"/>
          </a:p>
        </p:txBody>
      </p:sp>
    </p:spTree>
    <p:extLst>
      <p:ext uri="{BB962C8B-B14F-4D97-AF65-F5344CB8AC3E}">
        <p14:creationId xmlns:p14="http://schemas.microsoft.com/office/powerpoint/2010/main" val="19036702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5D163ED-04A6-40CE-9809-8513E90E090A}" type="datetimeFigureOut">
              <a:rPr lang="en-US" smtClean="0"/>
              <a:t>29-Oct-20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28981D-A35D-49D8-A207-D399B147E666}" type="slidenum">
              <a:rPr lang="en-US" smtClean="0"/>
              <a:t>‹#›</a:t>
            </a:fld>
            <a:endParaRPr lang="en-US"/>
          </a:p>
        </p:txBody>
      </p:sp>
    </p:spTree>
    <p:extLst>
      <p:ext uri="{BB962C8B-B14F-4D97-AF65-F5344CB8AC3E}">
        <p14:creationId xmlns:p14="http://schemas.microsoft.com/office/powerpoint/2010/main" val="19296530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D5D163ED-04A6-40CE-9809-8513E90E090A}" type="datetimeFigureOut">
              <a:rPr lang="en-US" smtClean="0"/>
              <a:t>29-Oct-20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28981D-A35D-49D8-A207-D399B147E666}" type="slidenum">
              <a:rPr lang="en-US" smtClean="0"/>
              <a:t>‹#›</a:t>
            </a:fld>
            <a:endParaRPr lang="en-US"/>
          </a:p>
        </p:txBody>
      </p:sp>
    </p:spTree>
    <p:extLst>
      <p:ext uri="{BB962C8B-B14F-4D97-AF65-F5344CB8AC3E}">
        <p14:creationId xmlns:p14="http://schemas.microsoft.com/office/powerpoint/2010/main" val="26502463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D5D163ED-04A6-40CE-9809-8513E90E090A}" type="datetimeFigureOut">
              <a:rPr lang="en-US" smtClean="0"/>
              <a:t>29-Oct-20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28981D-A35D-49D8-A207-D399B147E666}"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4111380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D163ED-04A6-40CE-9809-8513E90E090A}" type="datetimeFigureOut">
              <a:rPr lang="en-US" smtClean="0"/>
              <a:t>29-Oct-20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28981D-A35D-49D8-A207-D399B147E666}" type="slidenum">
              <a:rPr lang="en-US" smtClean="0"/>
              <a:t>‹#›</a:t>
            </a:fld>
            <a:endParaRPr lang="en-US"/>
          </a:p>
        </p:txBody>
      </p:sp>
    </p:spTree>
    <p:extLst>
      <p:ext uri="{BB962C8B-B14F-4D97-AF65-F5344CB8AC3E}">
        <p14:creationId xmlns:p14="http://schemas.microsoft.com/office/powerpoint/2010/main" val="10357415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D5D163ED-04A6-40CE-9809-8513E90E090A}" type="datetimeFigureOut">
              <a:rPr lang="en-US" smtClean="0"/>
              <a:t>29-Oct-20</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28981D-A35D-49D8-A207-D399B147E666}" type="slidenum">
              <a:rPr lang="en-US" smtClean="0"/>
              <a:t>‹#›</a:t>
            </a:fld>
            <a:endParaRPr lang="en-US"/>
          </a:p>
        </p:txBody>
      </p:sp>
    </p:spTree>
    <p:extLst>
      <p:ext uri="{BB962C8B-B14F-4D97-AF65-F5344CB8AC3E}">
        <p14:creationId xmlns:p14="http://schemas.microsoft.com/office/powerpoint/2010/main" val="10699514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D5D163ED-04A6-40CE-9809-8513E90E090A}" type="datetimeFigureOut">
              <a:rPr lang="en-US" smtClean="0"/>
              <a:t>29-Oct-20</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28981D-A35D-49D8-A207-D399B147E666}" type="slidenum">
              <a:rPr lang="en-US" smtClean="0"/>
              <a:t>‹#›</a:t>
            </a:fld>
            <a:endParaRPr lang="en-US"/>
          </a:p>
        </p:txBody>
      </p:sp>
    </p:spTree>
    <p:extLst>
      <p:ext uri="{BB962C8B-B14F-4D97-AF65-F5344CB8AC3E}">
        <p14:creationId xmlns:p14="http://schemas.microsoft.com/office/powerpoint/2010/main" val="28738682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D163ED-04A6-40CE-9809-8513E90E090A}" type="datetimeFigureOut">
              <a:rPr lang="en-US" smtClean="0"/>
              <a:t>29-Oct-20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28981D-A35D-49D8-A207-D399B147E666}" type="slidenum">
              <a:rPr lang="en-US" smtClean="0"/>
              <a:t>‹#›</a:t>
            </a:fld>
            <a:endParaRPr lang="en-US"/>
          </a:p>
        </p:txBody>
      </p:sp>
    </p:spTree>
    <p:extLst>
      <p:ext uri="{BB962C8B-B14F-4D97-AF65-F5344CB8AC3E}">
        <p14:creationId xmlns:p14="http://schemas.microsoft.com/office/powerpoint/2010/main" val="40174218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D163ED-04A6-40CE-9809-8513E90E090A}" type="datetimeFigureOut">
              <a:rPr lang="en-US" smtClean="0"/>
              <a:t>29-Oct-20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28981D-A35D-49D8-A207-D399B147E666}" type="slidenum">
              <a:rPr lang="en-US" smtClean="0"/>
              <a:t>‹#›</a:t>
            </a:fld>
            <a:endParaRPr lang="en-US"/>
          </a:p>
        </p:txBody>
      </p:sp>
    </p:spTree>
    <p:extLst>
      <p:ext uri="{BB962C8B-B14F-4D97-AF65-F5344CB8AC3E}">
        <p14:creationId xmlns:p14="http://schemas.microsoft.com/office/powerpoint/2010/main" val="12276438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D5D163ED-04A6-40CE-9809-8513E90E090A}" type="datetimeFigureOut">
              <a:rPr lang="en-US" smtClean="0"/>
              <a:t>29-Oct-20</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1C28981D-A35D-49D8-A207-D399B147E666}" type="slidenum">
              <a:rPr lang="en-US" smtClean="0"/>
              <a:t>‹#›</a:t>
            </a:fld>
            <a:endParaRPr lang="en-US"/>
          </a:p>
        </p:txBody>
      </p:sp>
    </p:spTree>
    <p:extLst>
      <p:ext uri="{BB962C8B-B14F-4D97-AF65-F5344CB8AC3E}">
        <p14:creationId xmlns:p14="http://schemas.microsoft.com/office/powerpoint/2010/main" val="299709763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94E91-E522-4AA0-B9D4-044D62085ADF}"/>
              </a:ext>
            </a:extLst>
          </p:cNvPr>
          <p:cNvSpPr>
            <a:spLocks noGrp="1"/>
          </p:cNvSpPr>
          <p:nvPr>
            <p:ph type="ctrTitle"/>
          </p:nvPr>
        </p:nvSpPr>
        <p:spPr>
          <a:xfrm>
            <a:off x="717452" y="586380"/>
            <a:ext cx="10058400" cy="1140655"/>
          </a:xfrm>
        </p:spPr>
        <p:txBody>
          <a:bodyPr anchor="ctr"/>
          <a:lstStyle/>
          <a:p>
            <a:pPr algn="r"/>
            <a:r>
              <a:rPr lang="en-US" sz="3600" dirty="0"/>
              <a:t>Prediction of Power Generation - storytelling</a:t>
            </a:r>
          </a:p>
        </p:txBody>
      </p:sp>
      <p:sp>
        <p:nvSpPr>
          <p:cNvPr id="3" name="Subtitle 2">
            <a:extLst>
              <a:ext uri="{FF2B5EF4-FFF2-40B4-BE49-F238E27FC236}">
                <a16:creationId xmlns:a16="http://schemas.microsoft.com/office/drawing/2014/main" id="{648278EA-BB6E-4CAE-B83A-CD1ABE7A4035}"/>
              </a:ext>
            </a:extLst>
          </p:cNvPr>
          <p:cNvSpPr>
            <a:spLocks noGrp="1"/>
          </p:cNvSpPr>
          <p:nvPr>
            <p:ph type="subTitle" idx="1"/>
          </p:nvPr>
        </p:nvSpPr>
        <p:spPr>
          <a:xfrm>
            <a:off x="815926" y="1727035"/>
            <a:ext cx="10397429" cy="3911765"/>
          </a:xfrm>
        </p:spPr>
        <p:txBody>
          <a:bodyPr>
            <a:normAutofit/>
          </a:bodyPr>
          <a:lstStyle/>
          <a:p>
            <a:pPr marL="457200" indent="-457200">
              <a:buAutoNum type="arabicPeriod"/>
            </a:pPr>
            <a:r>
              <a:rPr lang="en-US" dirty="0"/>
              <a:t>Business , data understand</a:t>
            </a:r>
          </a:p>
          <a:p>
            <a:pPr marL="457200" indent="-457200">
              <a:buAutoNum type="arabicPeriod"/>
            </a:pPr>
            <a:r>
              <a:rPr lang="en-US" dirty="0"/>
              <a:t>Study problem statements</a:t>
            </a:r>
          </a:p>
          <a:p>
            <a:pPr marL="457200" indent="-457200">
              <a:buAutoNum type="arabicPeriod"/>
            </a:pPr>
            <a:r>
              <a:rPr lang="en-US" dirty="0"/>
              <a:t>Apply the basic statistical techniques</a:t>
            </a:r>
          </a:p>
          <a:p>
            <a:pPr marL="457200" indent="-457200">
              <a:buAutoNum type="arabicPeriod"/>
            </a:pPr>
            <a:r>
              <a:rPr lang="en-US" dirty="0"/>
              <a:t>Data miniging techniques</a:t>
            </a:r>
          </a:p>
          <a:p>
            <a:pPr marL="457200" indent="-457200">
              <a:buAutoNum type="arabicPeriod"/>
            </a:pPr>
            <a:r>
              <a:rPr lang="en-US" dirty="0"/>
              <a:t>Train- test split</a:t>
            </a:r>
          </a:p>
          <a:p>
            <a:pPr marL="457200" indent="-457200">
              <a:buAutoNum type="arabicPeriod"/>
            </a:pPr>
            <a:r>
              <a:rPr lang="en-US" dirty="0"/>
              <a:t>Feature scaling</a:t>
            </a:r>
          </a:p>
          <a:p>
            <a:pPr marL="457200" indent="-457200">
              <a:buAutoNum type="arabicPeriod"/>
            </a:pPr>
            <a:r>
              <a:rPr lang="en-US" dirty="0"/>
              <a:t>Model building</a:t>
            </a:r>
          </a:p>
          <a:p>
            <a:pPr marL="457200" indent="-457200">
              <a:buAutoNum type="arabicPeriod"/>
            </a:pPr>
            <a:r>
              <a:rPr lang="en-US" dirty="0"/>
              <a:t>Visualize the results </a:t>
            </a:r>
          </a:p>
          <a:p>
            <a:pPr marL="457200" indent="-457200">
              <a:buAutoNum type="arabicPeriod"/>
            </a:pPr>
            <a:r>
              <a:rPr lang="en-US" dirty="0"/>
              <a:t>Model metrics study , and take inferences</a:t>
            </a:r>
          </a:p>
        </p:txBody>
      </p:sp>
    </p:spTree>
    <p:extLst>
      <p:ext uri="{BB962C8B-B14F-4D97-AF65-F5344CB8AC3E}">
        <p14:creationId xmlns:p14="http://schemas.microsoft.com/office/powerpoint/2010/main" val="16791418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100D-5947-4AD8-9821-909457F8B247}"/>
              </a:ext>
            </a:extLst>
          </p:cNvPr>
          <p:cNvSpPr>
            <a:spLocks noGrp="1"/>
          </p:cNvSpPr>
          <p:nvPr>
            <p:ph type="title"/>
          </p:nvPr>
        </p:nvSpPr>
        <p:spPr>
          <a:xfrm>
            <a:off x="646111" y="452718"/>
            <a:ext cx="10059403" cy="1400530"/>
          </a:xfrm>
        </p:spPr>
        <p:txBody>
          <a:bodyPr/>
          <a:lstStyle/>
          <a:p>
            <a:pPr algn="ctr"/>
            <a:r>
              <a:rPr lang="en-US" dirty="0"/>
              <a:t>Business , data understand, Study problem statements</a:t>
            </a:r>
            <a:br>
              <a:rPr lang="en-US" dirty="0"/>
            </a:br>
            <a:br>
              <a:rPr lang="en-US" dirty="0"/>
            </a:br>
            <a:endParaRPr lang="en-US" dirty="0"/>
          </a:p>
        </p:txBody>
      </p:sp>
      <p:sp>
        <p:nvSpPr>
          <p:cNvPr id="3" name="Content Placeholder 2">
            <a:extLst>
              <a:ext uri="{FF2B5EF4-FFF2-40B4-BE49-F238E27FC236}">
                <a16:creationId xmlns:a16="http://schemas.microsoft.com/office/drawing/2014/main" id="{30BFEEAF-8E3A-4CAA-ABA2-B90AE0607F14}"/>
              </a:ext>
            </a:extLst>
          </p:cNvPr>
          <p:cNvSpPr>
            <a:spLocks noGrp="1"/>
          </p:cNvSpPr>
          <p:nvPr>
            <p:ph idx="1"/>
          </p:nvPr>
        </p:nvSpPr>
        <p:spPr>
          <a:xfrm>
            <a:off x="520505" y="1853248"/>
            <a:ext cx="11127543" cy="4395151"/>
          </a:xfrm>
        </p:spPr>
        <p:txBody>
          <a:bodyPr/>
          <a:lstStyle/>
          <a:p>
            <a:r>
              <a:rPr lang="en-US" dirty="0"/>
              <a:t>First understand the business, then relate that understanding , learning with the provided data .</a:t>
            </a:r>
          </a:p>
          <a:p>
            <a:r>
              <a:rPr lang="en-US" dirty="0"/>
              <a:t>Study each observations and records of the given data sets.</a:t>
            </a:r>
          </a:p>
          <a:p>
            <a:r>
              <a:rPr lang="en-US" dirty="0"/>
              <a:t>Understand the problem statement and re-apply data learning and understanding.</a:t>
            </a:r>
          </a:p>
          <a:p>
            <a:r>
              <a:rPr lang="en-US" dirty="0"/>
              <a:t>Understand the various patterns which would mainly impacting on the energy generation role and belonging attributes for the same.</a:t>
            </a:r>
          </a:p>
          <a:p>
            <a:r>
              <a:rPr lang="en-US" dirty="0"/>
              <a:t>Looking at all three data sets , “</a:t>
            </a:r>
            <a:r>
              <a:rPr lang="en-US" dirty="0" err="1"/>
              <a:t>power_actual</a:t>
            </a:r>
            <a:r>
              <a:rPr lang="en-US" dirty="0"/>
              <a:t> “ having the three observations and same observations of attributes nor presented in any other two data sets. </a:t>
            </a:r>
          </a:p>
          <a:p>
            <a:r>
              <a:rPr lang="en-US" dirty="0"/>
              <a:t>Whereas , other two data sets , having unique identifier .</a:t>
            </a:r>
          </a:p>
        </p:txBody>
      </p:sp>
    </p:spTree>
    <p:extLst>
      <p:ext uri="{BB962C8B-B14F-4D97-AF65-F5344CB8AC3E}">
        <p14:creationId xmlns:p14="http://schemas.microsoft.com/office/powerpoint/2010/main" val="223304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AC189-B4B5-404C-A8CE-83A97CE1B1B7}"/>
              </a:ext>
            </a:extLst>
          </p:cNvPr>
          <p:cNvSpPr>
            <a:spLocks noGrp="1"/>
          </p:cNvSpPr>
          <p:nvPr>
            <p:ph type="title"/>
          </p:nvPr>
        </p:nvSpPr>
        <p:spPr>
          <a:xfrm>
            <a:off x="407963" y="452718"/>
            <a:ext cx="10818055" cy="1400530"/>
          </a:xfrm>
        </p:spPr>
        <p:txBody>
          <a:bodyPr/>
          <a:lstStyle/>
          <a:p>
            <a:pPr marL="457200" indent="-457200" algn="ctr"/>
            <a:r>
              <a:rPr lang="en-US" dirty="0"/>
              <a:t>Apply the basic statistical techniques and Data miniging techniques</a:t>
            </a:r>
            <a:br>
              <a:rPr lang="en-US" dirty="0"/>
            </a:br>
            <a:endParaRPr lang="en-US" dirty="0"/>
          </a:p>
        </p:txBody>
      </p:sp>
      <p:sp>
        <p:nvSpPr>
          <p:cNvPr id="3" name="Content Placeholder 2">
            <a:extLst>
              <a:ext uri="{FF2B5EF4-FFF2-40B4-BE49-F238E27FC236}">
                <a16:creationId xmlns:a16="http://schemas.microsoft.com/office/drawing/2014/main" id="{C3EB3E24-28E3-4893-89B0-A6E196672904}"/>
              </a:ext>
            </a:extLst>
          </p:cNvPr>
          <p:cNvSpPr>
            <a:spLocks noGrp="1"/>
          </p:cNvSpPr>
          <p:nvPr>
            <p:ph idx="1"/>
          </p:nvPr>
        </p:nvSpPr>
        <p:spPr>
          <a:xfrm>
            <a:off x="1103312" y="2052918"/>
            <a:ext cx="9911691" cy="4474491"/>
          </a:xfrm>
        </p:spPr>
        <p:txBody>
          <a:bodyPr>
            <a:normAutofit fontScale="92500" lnSpcReduction="20000"/>
          </a:bodyPr>
          <a:lstStyle/>
          <a:p>
            <a:r>
              <a:rPr lang="en-US" dirty="0"/>
              <a:t>After  completion of first phase , and looking at problem statements and data sets, it is concluded that the assignment related to Regression, Time series analysis. </a:t>
            </a:r>
          </a:p>
          <a:p>
            <a:r>
              <a:rPr lang="en-US" dirty="0"/>
              <a:t>Choose to move with Linear Regression – Reason is that the all data sets have maximum continuous variables , and it is in moving trends.</a:t>
            </a:r>
          </a:p>
          <a:p>
            <a:r>
              <a:rPr lang="en-US" dirty="0"/>
              <a:t>Used </a:t>
            </a:r>
            <a:r>
              <a:rPr lang="en-US" dirty="0" err="1"/>
              <a:t>Jupyter</a:t>
            </a:r>
            <a:r>
              <a:rPr lang="en-US" dirty="0"/>
              <a:t> notebook , where initially import the required packages , and read the data sets , using </a:t>
            </a:r>
            <a:r>
              <a:rPr lang="en-US" dirty="0" err="1"/>
              <a:t>pands</a:t>
            </a:r>
            <a:r>
              <a:rPr lang="en-US" dirty="0"/>
              <a:t> package. </a:t>
            </a:r>
          </a:p>
          <a:p>
            <a:r>
              <a:rPr lang="en-US" dirty="0"/>
              <a:t>Apply statistical terminologies , which are mainly to find the shape, dimensions, percentile, quartile etc.</a:t>
            </a:r>
          </a:p>
          <a:p>
            <a:r>
              <a:rPr lang="en-US" dirty="0"/>
              <a:t>Handled the missing values , converting “datetime” into Pandas “datetime” format. </a:t>
            </a:r>
          </a:p>
          <a:p>
            <a:r>
              <a:rPr lang="en-US" dirty="0"/>
              <a:t>The above basic analysis applied on “</a:t>
            </a:r>
            <a:r>
              <a:rPr lang="en-US" dirty="0" err="1"/>
              <a:t>power_actual</a:t>
            </a:r>
            <a:r>
              <a:rPr lang="en-US" dirty="0"/>
              <a:t>” data set.</a:t>
            </a:r>
          </a:p>
          <a:p>
            <a:r>
              <a:rPr lang="en-US" dirty="0"/>
              <a:t>Moving to next level import the “</a:t>
            </a:r>
            <a:r>
              <a:rPr lang="en-US" dirty="0" err="1"/>
              <a:t>weather_actuals</a:t>
            </a:r>
            <a:r>
              <a:rPr lang="en-US" dirty="0"/>
              <a:t>” , data set and applied the data mining , data transformation techniques.</a:t>
            </a:r>
          </a:p>
          <a:p>
            <a:r>
              <a:rPr lang="en-US" dirty="0"/>
              <a:t>The same applied to “</a:t>
            </a:r>
            <a:r>
              <a:rPr lang="en-US" dirty="0" err="1"/>
              <a:t>weather_forecast</a:t>
            </a:r>
            <a:r>
              <a:rPr lang="en-US" dirty="0"/>
              <a:t>”.</a:t>
            </a:r>
          </a:p>
          <a:p>
            <a:pPr marL="0" indent="0">
              <a:buNone/>
            </a:pPr>
            <a:endParaRPr lang="en-US" dirty="0"/>
          </a:p>
        </p:txBody>
      </p:sp>
    </p:spTree>
    <p:extLst>
      <p:ext uri="{BB962C8B-B14F-4D97-AF65-F5344CB8AC3E}">
        <p14:creationId xmlns:p14="http://schemas.microsoft.com/office/powerpoint/2010/main" val="24176211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52A97-135E-49C9-91DE-60590F203E25}"/>
              </a:ext>
            </a:extLst>
          </p:cNvPr>
          <p:cNvSpPr>
            <a:spLocks noGrp="1"/>
          </p:cNvSpPr>
          <p:nvPr>
            <p:ph type="title"/>
          </p:nvPr>
        </p:nvSpPr>
        <p:spPr/>
        <p:txBody>
          <a:bodyPr/>
          <a:lstStyle/>
          <a:p>
            <a:pPr marL="457200" indent="-457200" algn="ctr">
              <a:lnSpc>
                <a:spcPct val="150000"/>
              </a:lnSpc>
            </a:pPr>
            <a:r>
              <a:rPr lang="en-US" dirty="0"/>
              <a:t>Train- test split, Feature scaling</a:t>
            </a:r>
            <a:br>
              <a:rPr lang="en-US" dirty="0"/>
            </a:br>
            <a:endParaRPr lang="en-US" dirty="0"/>
          </a:p>
        </p:txBody>
      </p:sp>
      <p:sp>
        <p:nvSpPr>
          <p:cNvPr id="3" name="Content Placeholder 2">
            <a:extLst>
              <a:ext uri="{FF2B5EF4-FFF2-40B4-BE49-F238E27FC236}">
                <a16:creationId xmlns:a16="http://schemas.microsoft.com/office/drawing/2014/main" id="{6FE90C4E-6AB8-4F1A-8946-6F15AF1A85E2}"/>
              </a:ext>
            </a:extLst>
          </p:cNvPr>
          <p:cNvSpPr>
            <a:spLocks noGrp="1"/>
          </p:cNvSpPr>
          <p:nvPr>
            <p:ph idx="1"/>
          </p:nvPr>
        </p:nvSpPr>
        <p:spPr>
          <a:xfrm>
            <a:off x="492369" y="1463040"/>
            <a:ext cx="11338560" cy="5120640"/>
          </a:xfrm>
        </p:spPr>
        <p:txBody>
          <a:bodyPr>
            <a:normAutofit fontScale="92500" lnSpcReduction="10000"/>
          </a:bodyPr>
          <a:lstStyle/>
          <a:p>
            <a:r>
              <a:rPr lang="en-US" dirty="0"/>
              <a:t>Now “</a:t>
            </a:r>
            <a:r>
              <a:rPr lang="en-US" dirty="0" err="1"/>
              <a:t>weather_actuals</a:t>
            </a:r>
            <a:r>
              <a:rPr lang="en-US" dirty="0"/>
              <a:t>” and “</a:t>
            </a:r>
            <a:r>
              <a:rPr lang="en-US" dirty="0" err="1"/>
              <a:t>weather_forecast</a:t>
            </a:r>
            <a:r>
              <a:rPr lang="en-US" dirty="0"/>
              <a:t>’ concatenate in one data frame.</a:t>
            </a:r>
          </a:p>
          <a:p>
            <a:r>
              <a:rPr lang="en-US" dirty="0"/>
              <a:t>After concatenation of these data sets , re-apply data mining , transformation techniques.</a:t>
            </a:r>
          </a:p>
          <a:p>
            <a:r>
              <a:rPr lang="en-US" dirty="0"/>
              <a:t>Handled the missing values , noise appeared in data set.</a:t>
            </a:r>
          </a:p>
          <a:p>
            <a:r>
              <a:rPr lang="en-US" dirty="0"/>
              <a:t>The common attribute is “Temperature”  in both data sets  and can consider as dependent variable . When the Temperature increases at certain point , while considering different observations, and attributes belongs to them , then the generation of power increases for specific level of percentage , based on each attribute performance.</a:t>
            </a:r>
          </a:p>
          <a:p>
            <a:r>
              <a:rPr lang="en-US" dirty="0"/>
              <a:t>The same validated through graphical presentation where most common attributes can play significant role.</a:t>
            </a:r>
          </a:p>
          <a:p>
            <a:r>
              <a:rPr lang="en-US" dirty="0"/>
              <a:t> Dropping observations , which have maximum null significance.</a:t>
            </a:r>
          </a:p>
          <a:p>
            <a:r>
              <a:rPr lang="en-US" dirty="0"/>
              <a:t>Split the data set in train- test with 70, 30 respectively.</a:t>
            </a:r>
          </a:p>
          <a:p>
            <a:r>
              <a:rPr lang="en-US" dirty="0"/>
              <a:t>Apply the feature scaling , where the scalar transform will give us exact attributes which need to transform , after set them on the numerical array.</a:t>
            </a:r>
          </a:p>
          <a:p>
            <a:r>
              <a:rPr lang="en-US" dirty="0"/>
              <a:t>Co-relation matrix initiated , where easy to understand which observation closely corelate to the dependent variable. Visualize scatter plot , while applying different observations.</a:t>
            </a:r>
          </a:p>
          <a:p>
            <a:endParaRPr lang="en-US" dirty="0"/>
          </a:p>
        </p:txBody>
      </p:sp>
    </p:spTree>
    <p:extLst>
      <p:ext uri="{BB962C8B-B14F-4D97-AF65-F5344CB8AC3E}">
        <p14:creationId xmlns:p14="http://schemas.microsoft.com/office/powerpoint/2010/main" val="26523481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C449A-CFA3-4A9F-B220-0F9C6232C883}"/>
              </a:ext>
            </a:extLst>
          </p:cNvPr>
          <p:cNvSpPr>
            <a:spLocks noGrp="1"/>
          </p:cNvSpPr>
          <p:nvPr>
            <p:ph type="title"/>
          </p:nvPr>
        </p:nvSpPr>
        <p:spPr/>
        <p:txBody>
          <a:bodyPr/>
          <a:lstStyle/>
          <a:p>
            <a:pPr marL="457200" indent="-457200" algn="r">
              <a:lnSpc>
                <a:spcPct val="150000"/>
              </a:lnSpc>
            </a:pPr>
            <a:r>
              <a:rPr lang="en-US" dirty="0"/>
              <a:t>Model building, Visualize the results </a:t>
            </a:r>
            <a:br>
              <a:rPr lang="en-US" dirty="0"/>
            </a:br>
            <a:endParaRPr lang="en-US" dirty="0"/>
          </a:p>
        </p:txBody>
      </p:sp>
      <p:sp>
        <p:nvSpPr>
          <p:cNvPr id="3" name="Content Placeholder 2">
            <a:extLst>
              <a:ext uri="{FF2B5EF4-FFF2-40B4-BE49-F238E27FC236}">
                <a16:creationId xmlns:a16="http://schemas.microsoft.com/office/drawing/2014/main" id="{8D80705C-5636-45AA-84C7-6A6A94D27C19}"/>
              </a:ext>
            </a:extLst>
          </p:cNvPr>
          <p:cNvSpPr>
            <a:spLocks noGrp="1"/>
          </p:cNvSpPr>
          <p:nvPr>
            <p:ph idx="1"/>
          </p:nvPr>
        </p:nvSpPr>
        <p:spPr>
          <a:xfrm>
            <a:off x="295422" y="1519312"/>
            <a:ext cx="11690252" cy="4885970"/>
          </a:xfrm>
        </p:spPr>
        <p:txBody>
          <a:bodyPr/>
          <a:lstStyle/>
          <a:p>
            <a:r>
              <a:rPr lang="en-US" dirty="0"/>
              <a:t>After train-test, feature scaling , co-relation , now the next step is to split the set in X and Y for model building.</a:t>
            </a:r>
          </a:p>
          <a:p>
            <a:r>
              <a:rPr lang="en-US" dirty="0"/>
              <a:t>Considered the “ </a:t>
            </a:r>
            <a:r>
              <a:rPr lang="en-US" dirty="0" err="1"/>
              <a:t>dew_point</a:t>
            </a:r>
            <a:r>
              <a:rPr lang="en-US" dirty="0"/>
              <a:t>” which resulted the mostly touching all data points which are mostly gone through the oct. 2019 month and more on .</a:t>
            </a:r>
          </a:p>
          <a:p>
            <a:r>
              <a:rPr lang="en-US" dirty="0"/>
              <a:t>Adding more attributes and observe the performance of model. </a:t>
            </a:r>
          </a:p>
          <a:p>
            <a:r>
              <a:rPr lang="en-US" dirty="0"/>
              <a:t>It is observed that , when adding, below observations, the overall model performance boost.</a:t>
            </a:r>
          </a:p>
          <a:p>
            <a:pPr marL="0" indent="0">
              <a:buNone/>
            </a:pPr>
            <a:r>
              <a:rPr lang="en-US" dirty="0"/>
              <a:t> </a:t>
            </a:r>
            <a:r>
              <a:rPr lang="en-US" dirty="0">
                <a:highlight>
                  <a:srgbClr val="800080"/>
                </a:highlight>
              </a:rPr>
              <a:t>pressure_y','apparent_temperature_x','dew_point_x','wind_bearing_x .</a:t>
            </a:r>
          </a:p>
          <a:p>
            <a:pPr marL="0" indent="0">
              <a:buNone/>
            </a:pPr>
            <a:r>
              <a:rPr lang="en-US" dirty="0"/>
              <a:t>The set duration is always been considered ,but to just setting the duration doesn't give us clear picture of actual improvement in power generation. But the same can be find through applying the observations and their attributes.</a:t>
            </a:r>
          </a:p>
          <a:p>
            <a:pPr marL="0" indent="0">
              <a:buNone/>
            </a:pPr>
            <a:r>
              <a:rPr lang="en-US" dirty="0"/>
              <a:t>To come at certain conclusion , multiple models developed and validated through the different observations.</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33969011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E6C67-E15A-4009-80CB-164C0C864BC9}"/>
              </a:ext>
            </a:extLst>
          </p:cNvPr>
          <p:cNvSpPr>
            <a:spLocks noGrp="1"/>
          </p:cNvSpPr>
          <p:nvPr>
            <p:ph type="title"/>
          </p:nvPr>
        </p:nvSpPr>
        <p:spPr>
          <a:xfrm>
            <a:off x="337625" y="452718"/>
            <a:ext cx="10297550" cy="1400530"/>
          </a:xfrm>
        </p:spPr>
        <p:txBody>
          <a:bodyPr/>
          <a:lstStyle/>
          <a:p>
            <a:pPr algn="ctr"/>
            <a:r>
              <a:rPr lang="en-US" dirty="0"/>
              <a:t>Model metrics study, and take inferences</a:t>
            </a:r>
            <a:br>
              <a:rPr lang="en-US" dirty="0"/>
            </a:br>
            <a:endParaRPr lang="en-US" dirty="0"/>
          </a:p>
        </p:txBody>
      </p:sp>
      <p:sp>
        <p:nvSpPr>
          <p:cNvPr id="3" name="Content Placeholder 2">
            <a:extLst>
              <a:ext uri="{FF2B5EF4-FFF2-40B4-BE49-F238E27FC236}">
                <a16:creationId xmlns:a16="http://schemas.microsoft.com/office/drawing/2014/main" id="{A9523AE4-2F1C-4D2D-9889-3BC3466259D9}"/>
              </a:ext>
            </a:extLst>
          </p:cNvPr>
          <p:cNvSpPr>
            <a:spLocks noGrp="1"/>
          </p:cNvSpPr>
          <p:nvPr>
            <p:ph idx="1"/>
          </p:nvPr>
        </p:nvSpPr>
        <p:spPr>
          <a:xfrm>
            <a:off x="675250" y="2052918"/>
            <a:ext cx="10733648" cy="4352364"/>
          </a:xfrm>
        </p:spPr>
        <p:txBody>
          <a:bodyPr>
            <a:normAutofit lnSpcReduction="10000"/>
          </a:bodyPr>
          <a:lstStyle/>
          <a:p>
            <a:r>
              <a:rPr lang="en-US" dirty="0"/>
              <a:t>After finalizing the model , it is observed that at first model , the power generation ratio is </a:t>
            </a:r>
            <a:r>
              <a:rPr lang="en-US" dirty="0">
                <a:solidFill>
                  <a:srgbClr val="FFFF00"/>
                </a:solidFill>
              </a:rPr>
              <a:t>0.076</a:t>
            </a:r>
            <a:r>
              <a:rPr lang="en-US" dirty="0"/>
              <a:t>, and the same resulted for R squared and adjusted R square too. If examine the coefficient , std err, p distribution, fulfilled the expected criteria. </a:t>
            </a:r>
          </a:p>
          <a:p>
            <a:r>
              <a:rPr lang="en-US" dirty="0"/>
              <a:t>The next model implies towards the more robust way and examine the metrics , each are having significant numbers , after model validation . Meaning when consider the parameters those are mostly impacted to generate the power for specific duration and considered the Oct weather prediction , based on the different observations and records , the performance of model increased. </a:t>
            </a:r>
          </a:p>
          <a:p>
            <a:r>
              <a:rPr lang="en-US" dirty="0"/>
              <a:t>Looking at different attributes of metrics R squared, adjusted R squared having good performance which is </a:t>
            </a:r>
            <a:r>
              <a:rPr lang="en-US" b="1" dirty="0">
                <a:solidFill>
                  <a:srgbClr val="00B050"/>
                </a:solidFill>
              </a:rPr>
              <a:t>0.98</a:t>
            </a:r>
            <a:r>
              <a:rPr lang="en-US" dirty="0"/>
              <a:t>, also Pressure , </a:t>
            </a:r>
            <a:r>
              <a:rPr lang="en-US" dirty="0" err="1"/>
              <a:t>dew_point_x</a:t>
            </a:r>
            <a:r>
              <a:rPr lang="en-US" dirty="0"/>
              <a:t>, </a:t>
            </a:r>
            <a:r>
              <a:rPr lang="en-US" dirty="0" err="1"/>
              <a:t>apparent_temperature_x</a:t>
            </a:r>
            <a:r>
              <a:rPr lang="en-US" dirty="0"/>
              <a:t>, played the significant role to improve the model performance. </a:t>
            </a:r>
          </a:p>
          <a:p>
            <a:r>
              <a:rPr lang="en-US" dirty="0"/>
              <a:t>MSE, RMSE have very less impact on the overall model. The same is calculated , while considered the model (lm_3).</a:t>
            </a:r>
          </a:p>
          <a:p>
            <a:pPr marL="0" indent="0">
              <a:buNone/>
            </a:pPr>
            <a:endParaRPr lang="en-US" dirty="0"/>
          </a:p>
        </p:txBody>
      </p:sp>
    </p:spTree>
    <p:extLst>
      <p:ext uri="{BB962C8B-B14F-4D97-AF65-F5344CB8AC3E}">
        <p14:creationId xmlns:p14="http://schemas.microsoft.com/office/powerpoint/2010/main" val="40832092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8BE9A-23B0-48C4-B96B-7A05FA4CC94B}"/>
              </a:ext>
            </a:extLst>
          </p:cNvPr>
          <p:cNvSpPr>
            <a:spLocks noGrp="1"/>
          </p:cNvSpPr>
          <p:nvPr>
            <p:ph type="title"/>
          </p:nvPr>
        </p:nvSpPr>
        <p:spPr/>
        <p:txBody>
          <a:bodyPr/>
          <a:lstStyle/>
          <a:p>
            <a:pPr algn="ctr"/>
            <a:r>
              <a:rPr lang="en-US" dirty="0"/>
              <a:t>Model metrics study, and take inferences</a:t>
            </a:r>
          </a:p>
        </p:txBody>
      </p:sp>
      <p:sp>
        <p:nvSpPr>
          <p:cNvPr id="3" name="Content Placeholder 2">
            <a:extLst>
              <a:ext uri="{FF2B5EF4-FFF2-40B4-BE49-F238E27FC236}">
                <a16:creationId xmlns:a16="http://schemas.microsoft.com/office/drawing/2014/main" id="{30D1E770-0CB0-490A-8E65-9D5FEB2C830A}"/>
              </a:ext>
            </a:extLst>
          </p:cNvPr>
          <p:cNvSpPr>
            <a:spLocks noGrp="1"/>
          </p:cNvSpPr>
          <p:nvPr>
            <p:ph idx="1"/>
          </p:nvPr>
        </p:nvSpPr>
        <p:spPr>
          <a:xfrm>
            <a:off x="645130" y="2052918"/>
            <a:ext cx="10201061" cy="4195481"/>
          </a:xfrm>
        </p:spPr>
        <p:txBody>
          <a:bodyPr>
            <a:normAutofit fontScale="92500" lnSpcReduction="20000"/>
          </a:bodyPr>
          <a:lstStyle/>
          <a:p>
            <a:r>
              <a:rPr lang="en-US" dirty="0"/>
              <a:t>Inferences from the metrics and overall performance –</a:t>
            </a:r>
          </a:p>
          <a:p>
            <a:r>
              <a:rPr lang="en-US" dirty="0"/>
              <a:t>As per given problem statement , I have applied the model for almost every range of the datetime. The reason is that , model performance and insights are dependent on the different attributes and observations which must considered. </a:t>
            </a:r>
          </a:p>
          <a:p>
            <a:r>
              <a:rPr lang="en-US" dirty="0"/>
              <a:t>The model (lm_3) which generated the result is having good significance for the given duration of time. Hence as I mentioned earlier too , that other observations , along with Oct , weather analysis learned , so that other inter-dependent impact can track.</a:t>
            </a:r>
          </a:p>
          <a:p>
            <a:r>
              <a:rPr lang="en-US" dirty="0"/>
              <a:t>Although the same assignment can handle through Time series as well. Where basically start with define the problem , data collection, analyzing data, handled missing values, apply additive seasonal decomposition, multiplicative seasonal decomposition, ARIMA , model evaluation and result. </a:t>
            </a:r>
          </a:p>
          <a:p>
            <a:r>
              <a:rPr lang="en-US" dirty="0"/>
              <a:t>The same process applied for Linear Regression , where MSE, RMSE, OLS implemented.</a:t>
            </a:r>
          </a:p>
        </p:txBody>
      </p:sp>
    </p:spTree>
    <p:extLst>
      <p:ext uri="{BB962C8B-B14F-4D97-AF65-F5344CB8AC3E}">
        <p14:creationId xmlns:p14="http://schemas.microsoft.com/office/powerpoint/2010/main" val="234558232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150</TotalTime>
  <Words>1032</Words>
  <Application>Microsoft Office PowerPoint</Application>
  <PresentationFormat>Widescreen</PresentationFormat>
  <Paragraphs>55</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Century Gothic</vt:lpstr>
      <vt:lpstr>Wingdings 3</vt:lpstr>
      <vt:lpstr>Ion</vt:lpstr>
      <vt:lpstr>Prediction of Power Generation - storytelling</vt:lpstr>
      <vt:lpstr>Business , data understand, Study problem statements  </vt:lpstr>
      <vt:lpstr>Apply the basic statistical techniques and Data miniging techniques </vt:lpstr>
      <vt:lpstr>Train- test split, Feature scaling </vt:lpstr>
      <vt:lpstr>Model building, Visualize the results  </vt:lpstr>
      <vt:lpstr>Model metrics study, and take inferences </vt:lpstr>
      <vt:lpstr>Model metrics study, and take inferences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Prediction of Power Generation - storytelling</dc:title>
  <dc:creator>Chandrasen Wadikar</dc:creator>
  <cp:lastModifiedBy>Chandrasen Wadikar</cp:lastModifiedBy>
  <cp:revision>15</cp:revision>
  <dcterms:created xsi:type="dcterms:W3CDTF">2020-10-29T09:56:43Z</dcterms:created>
  <dcterms:modified xsi:type="dcterms:W3CDTF">2020-10-29T12:26:49Z</dcterms:modified>
</cp:coreProperties>
</file>