
<file path=[Content_Types].xml><?xml version="1.0" encoding="utf-8"?>
<Types xmlns="http://schemas.openxmlformats.org/package/2006/content-types">
  <Default Extension="emf" ContentType="image/x-emf"/>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26977A-C6FF-46F4-8506-0C789781FDEE}" type="datetimeFigureOut">
              <a:rPr lang="en-US" smtClean="0"/>
              <a:t>13-Aug-19</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1518407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26977A-C6FF-46F4-8506-0C789781FDEE}" type="datetimeFigureOut">
              <a:rPr lang="en-US" smtClean="0"/>
              <a:t>13-Aug-19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1386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26977A-C6FF-46F4-8506-0C789781FDEE}" type="datetimeFigureOut">
              <a:rPr lang="en-US" smtClean="0"/>
              <a:t>13-Aug-19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86353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26977A-C6FF-46F4-8506-0C789781FDEE}" type="datetimeFigureOut">
              <a:rPr lang="en-US" smtClean="0"/>
              <a:t>13-Aug-19</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940690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26977A-C6FF-46F4-8506-0C789781FDEE}" type="datetimeFigureOut">
              <a:rPr lang="en-US" smtClean="0"/>
              <a:t>13-Aug-19</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2171638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26977A-C6FF-46F4-8506-0C789781FDEE}" type="datetimeFigureOut">
              <a:rPr lang="en-US" smtClean="0"/>
              <a:t>13-Aug-19</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2295286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26977A-C6FF-46F4-8506-0C789781FDEE}" type="datetimeFigureOut">
              <a:rPr lang="en-US" smtClean="0"/>
              <a:t>13-Aug-19</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2520506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26977A-C6FF-46F4-8506-0C789781FDEE}" type="datetimeFigureOut">
              <a:rPr lang="en-US" smtClean="0"/>
              <a:t>13-Aug-19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875021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26977A-C6FF-46F4-8506-0C789781FDEE}" type="datetimeFigureOut">
              <a:rPr lang="en-US" smtClean="0"/>
              <a:t>13-Aug-19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2834413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26977A-C6FF-46F4-8506-0C789781FDEE}" type="datetimeFigureOut">
              <a:rPr lang="en-US" smtClean="0"/>
              <a:t>13-Aug-19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643591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26977A-C6FF-46F4-8506-0C789781FDEE}" type="datetimeFigureOut">
              <a:rPr lang="en-US" smtClean="0"/>
              <a:t>13-Aug-19</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955FF-0A02-4677-9EE0-C506B39DCD13}"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615213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626977A-C6FF-46F4-8506-0C789781FDEE}" type="datetimeFigureOut">
              <a:rPr lang="en-US" smtClean="0"/>
              <a:t>13-Aug-19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41728374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626977A-C6FF-46F4-8506-0C789781FDEE}" type="datetimeFigureOut">
              <a:rPr lang="en-US" smtClean="0"/>
              <a:t>13-Aug-19</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955FF-0A02-4677-9EE0-C506B39DCD13}"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49342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626977A-C6FF-46F4-8506-0C789781FDEE}" type="datetimeFigureOut">
              <a:rPr lang="en-US" smtClean="0"/>
              <a:t>13-Aug-19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2246859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26977A-C6FF-46F4-8506-0C789781FDEE}" type="datetimeFigureOut">
              <a:rPr lang="en-US" smtClean="0"/>
              <a:t>13-Aug-19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2570183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26977A-C6FF-46F4-8506-0C789781FDEE}" type="datetimeFigureOut">
              <a:rPr lang="en-US" smtClean="0"/>
              <a:t>13-Aug-19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955FF-0A02-4677-9EE0-C506B39DCD13}" type="slidenum">
              <a:rPr lang="en-US" smtClean="0"/>
              <a:t>‹#›</a:t>
            </a:fld>
            <a:endParaRPr lang="en-US"/>
          </a:p>
        </p:txBody>
      </p:sp>
    </p:spTree>
    <p:extLst>
      <p:ext uri="{BB962C8B-B14F-4D97-AF65-F5344CB8AC3E}">
        <p14:creationId xmlns:p14="http://schemas.microsoft.com/office/powerpoint/2010/main" val="3080099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626977A-C6FF-46F4-8506-0C789781FDEE}" type="datetimeFigureOut">
              <a:rPr lang="en-US" smtClean="0"/>
              <a:t>13-Aug-19</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955FF-0A02-4677-9EE0-C506B39DCD13}" type="slidenum">
              <a:rPr lang="en-US" smtClean="0"/>
              <a:t>‹#›</a:t>
            </a:fld>
            <a:endParaRPr lang="en-US"/>
          </a:p>
        </p:txBody>
      </p:sp>
    </p:spTree>
    <p:extLst>
      <p:ext uri="{BB962C8B-B14F-4D97-AF65-F5344CB8AC3E}">
        <p14:creationId xmlns:p14="http://schemas.microsoft.com/office/powerpoint/2010/main" val="40551528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A5312-BB72-4CC5-82AE-D759FD312504}"/>
              </a:ext>
            </a:extLst>
          </p:cNvPr>
          <p:cNvSpPr>
            <a:spLocks noGrp="1"/>
          </p:cNvSpPr>
          <p:nvPr>
            <p:ph type="ctrTitle"/>
          </p:nvPr>
        </p:nvSpPr>
        <p:spPr>
          <a:xfrm>
            <a:off x="801858" y="2386744"/>
            <a:ext cx="10705514" cy="1645920"/>
          </a:xfrm>
          <a:solidFill>
            <a:schemeClr val="accent1">
              <a:lumMod val="60000"/>
              <a:lumOff val="40000"/>
            </a:schemeClr>
          </a:solidFill>
        </p:spPr>
        <p:txBody>
          <a:bodyPr>
            <a:normAutofit fontScale="90000"/>
          </a:bodyPr>
          <a:lstStyle/>
          <a:p>
            <a:r>
              <a:rPr lang="en-US" dirty="0">
                <a:solidFill>
                  <a:srgbClr val="002060"/>
                </a:solidFill>
              </a:rPr>
              <a:t>CREDIT EDA ASSIGNMENT PRESENTATION</a:t>
            </a:r>
          </a:p>
        </p:txBody>
      </p:sp>
    </p:spTree>
    <p:extLst>
      <p:ext uri="{BB962C8B-B14F-4D97-AF65-F5344CB8AC3E}">
        <p14:creationId xmlns:p14="http://schemas.microsoft.com/office/powerpoint/2010/main" val="1416002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FF0DE8-D6C9-444C-A5AB-C60304F1AFE6}"/>
              </a:ext>
            </a:extLst>
          </p:cNvPr>
          <p:cNvSpPr>
            <a:spLocks noGrp="1"/>
          </p:cNvSpPr>
          <p:nvPr>
            <p:ph type="title"/>
          </p:nvPr>
        </p:nvSpPr>
        <p:spPr>
          <a:xfrm>
            <a:off x="1259893" y="3101093"/>
            <a:ext cx="2454052" cy="3029344"/>
          </a:xfrm>
        </p:spPr>
        <p:txBody>
          <a:bodyPr>
            <a:normAutofit/>
          </a:bodyPr>
          <a:lstStyle/>
          <a:p>
            <a:r>
              <a:rPr lang="en-US" sz="2500" b="1">
                <a:solidFill>
                  <a:schemeClr val="bg1"/>
                </a:solidFill>
              </a:rPr>
              <a:t>Problem statement and Data understanding</a:t>
            </a:r>
          </a:p>
        </p:txBody>
      </p:sp>
      <p:sp>
        <p:nvSpPr>
          <p:cNvPr id="10"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12"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6667AC6-E454-4EC8-AC4D-AA99827DB7FE}"/>
              </a:ext>
            </a:extLst>
          </p:cNvPr>
          <p:cNvSpPr>
            <a:spLocks noGrp="1"/>
          </p:cNvSpPr>
          <p:nvPr>
            <p:ph idx="1"/>
          </p:nvPr>
        </p:nvSpPr>
        <p:spPr>
          <a:xfrm>
            <a:off x="4706578" y="589722"/>
            <a:ext cx="6798033" cy="5321500"/>
          </a:xfrm>
        </p:spPr>
        <p:txBody>
          <a:bodyPr anchor="ctr">
            <a:normAutofit/>
          </a:bodyPr>
          <a:lstStyle/>
          <a:p>
            <a:pPr>
              <a:lnSpc>
                <a:spcPct val="90000"/>
              </a:lnSpc>
              <a:buFont typeface="Wingdings" panose="05000000000000000000" pitchFamily="2" charset="2"/>
              <a:buChar char="§"/>
            </a:pPr>
            <a:r>
              <a:rPr lang="en-US" sz="1500" dirty="0"/>
              <a:t>Understand the given problem statement , and evaluated key points of business objectives.  </a:t>
            </a:r>
          </a:p>
          <a:p>
            <a:pPr>
              <a:lnSpc>
                <a:spcPct val="90000"/>
              </a:lnSpc>
              <a:buFont typeface="Wingdings" panose="05000000000000000000" pitchFamily="2" charset="2"/>
              <a:buChar char="§"/>
            </a:pPr>
            <a:r>
              <a:rPr lang="en-US" sz="1500" dirty="0"/>
              <a:t>The datasets namely – 1) </a:t>
            </a:r>
            <a:r>
              <a:rPr lang="en-US" sz="1500" dirty="0" err="1"/>
              <a:t>application_data</a:t>
            </a:r>
            <a:r>
              <a:rPr lang="en-US" sz="1500" dirty="0"/>
              <a:t>  II) </a:t>
            </a:r>
            <a:r>
              <a:rPr lang="en-US" sz="1500" dirty="0" err="1"/>
              <a:t>previous_application</a:t>
            </a:r>
            <a:endParaRPr lang="en-US" sz="1500" dirty="0"/>
          </a:p>
          <a:p>
            <a:pPr>
              <a:lnSpc>
                <a:spcPct val="90000"/>
              </a:lnSpc>
              <a:buFont typeface="Wingdings" panose="05000000000000000000" pitchFamily="2" charset="2"/>
              <a:buChar char="§"/>
            </a:pPr>
            <a:r>
              <a:rPr lang="en-US" sz="1500" dirty="0"/>
              <a:t>Application data is contains all the information of the client at the time of application, with 122 columns and 307511 rows.  Previous Application is historical dataset with 37 columns. and more than 10 lacs rows.</a:t>
            </a:r>
          </a:p>
          <a:p>
            <a:pPr>
              <a:lnSpc>
                <a:spcPct val="90000"/>
              </a:lnSpc>
              <a:buFont typeface="Wingdings" panose="05000000000000000000" pitchFamily="2" charset="2"/>
              <a:buChar char="§"/>
            </a:pPr>
            <a:r>
              <a:rPr lang="en-US" sz="1500" dirty="0"/>
              <a:t>First understand the variables which would play an important role in our analysis , based on that -TARGET would be the common variable. Along with we have start playing and analyzing the univariate, bivariate segmented variables, and prepare the questionnaire , which ideally be part of different phases of analysis . </a:t>
            </a:r>
          </a:p>
          <a:p>
            <a:pPr>
              <a:lnSpc>
                <a:spcPct val="90000"/>
              </a:lnSpc>
              <a:buFont typeface="Wingdings" panose="05000000000000000000" pitchFamily="2" charset="2"/>
              <a:buChar char="§"/>
            </a:pPr>
            <a:r>
              <a:rPr lang="en-US" sz="1500" dirty="0"/>
              <a:t>We have visited problem statements and data sets , multiple times to understand better the variables and there significance in current as well as historical data too.</a:t>
            </a:r>
          </a:p>
          <a:p>
            <a:pPr>
              <a:lnSpc>
                <a:spcPct val="90000"/>
              </a:lnSpc>
              <a:buFont typeface="Wingdings" panose="05000000000000000000" pitchFamily="2" charset="2"/>
              <a:buChar char="§"/>
            </a:pPr>
            <a:r>
              <a:rPr lang="en-US" sz="1500" dirty="0"/>
              <a:t>During our analysis , we have identified variables which would have relationship , and same can consider for Correlation.</a:t>
            </a:r>
          </a:p>
        </p:txBody>
      </p:sp>
    </p:spTree>
    <p:extLst>
      <p:ext uri="{BB962C8B-B14F-4D97-AF65-F5344CB8AC3E}">
        <p14:creationId xmlns:p14="http://schemas.microsoft.com/office/powerpoint/2010/main" val="2277226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934A13-D4E0-4258-9C18-737D481237A7}"/>
              </a:ext>
            </a:extLst>
          </p:cNvPr>
          <p:cNvSpPr>
            <a:spLocks noGrp="1"/>
          </p:cNvSpPr>
          <p:nvPr>
            <p:ph type="title"/>
          </p:nvPr>
        </p:nvSpPr>
        <p:spPr>
          <a:xfrm>
            <a:off x="1259893" y="3101093"/>
            <a:ext cx="2454052" cy="3029344"/>
          </a:xfrm>
        </p:spPr>
        <p:txBody>
          <a:bodyPr>
            <a:normAutofit/>
          </a:bodyPr>
          <a:lstStyle/>
          <a:p>
            <a:r>
              <a:rPr lang="en-US" sz="2500" b="1">
                <a:solidFill>
                  <a:schemeClr val="bg1"/>
                </a:solidFill>
              </a:rPr>
              <a:t>Data Cleaning and Manipulation </a:t>
            </a:r>
            <a:endParaRPr lang="en-US" sz="2500">
              <a:solidFill>
                <a:schemeClr val="bg1"/>
              </a:solidFill>
            </a:endParaRPr>
          </a:p>
        </p:txBody>
      </p:sp>
      <p:sp>
        <p:nvSpPr>
          <p:cNvPr id="10"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12"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4022848-8B93-4A82-A1AF-09E984B79176}"/>
              </a:ext>
            </a:extLst>
          </p:cNvPr>
          <p:cNvSpPr>
            <a:spLocks noGrp="1"/>
          </p:cNvSpPr>
          <p:nvPr>
            <p:ph idx="1"/>
          </p:nvPr>
        </p:nvSpPr>
        <p:spPr>
          <a:xfrm>
            <a:off x="4706578" y="589722"/>
            <a:ext cx="6798033" cy="5321500"/>
          </a:xfrm>
        </p:spPr>
        <p:txBody>
          <a:bodyPr anchor="ctr">
            <a:normAutofit/>
          </a:bodyPr>
          <a:lstStyle/>
          <a:p>
            <a:pPr>
              <a:lnSpc>
                <a:spcPct val="90000"/>
              </a:lnSpc>
              <a:buFont typeface="Wingdings" panose="05000000000000000000" pitchFamily="2" charset="2"/>
              <a:buChar char="§"/>
            </a:pPr>
            <a:r>
              <a:rPr lang="en-US" sz="1700" dirty="0"/>
              <a:t>The same data sets are invoked and read in </a:t>
            </a:r>
            <a:r>
              <a:rPr lang="en-US" sz="1700" dirty="0" err="1"/>
              <a:t>Jupyter</a:t>
            </a:r>
            <a:r>
              <a:rPr lang="en-US" sz="1700" dirty="0"/>
              <a:t> Python Notebook</a:t>
            </a:r>
          </a:p>
          <a:p>
            <a:pPr>
              <a:lnSpc>
                <a:spcPct val="90000"/>
              </a:lnSpc>
              <a:buFont typeface="Wingdings" panose="05000000000000000000" pitchFamily="2" charset="2"/>
              <a:buChar char="§"/>
            </a:pPr>
            <a:r>
              <a:rPr lang="en-US" sz="1700" dirty="0"/>
              <a:t>Find out the columns which are not require, and same dropped .</a:t>
            </a:r>
          </a:p>
          <a:p>
            <a:pPr>
              <a:lnSpc>
                <a:spcPct val="90000"/>
              </a:lnSpc>
              <a:buFont typeface="Wingdings" panose="05000000000000000000" pitchFamily="2" charset="2"/>
              <a:buChar char="§"/>
            </a:pPr>
            <a:r>
              <a:rPr lang="en-US" sz="1700" dirty="0"/>
              <a:t>We have merged both the data sets and assign the same in new </a:t>
            </a:r>
            <a:r>
              <a:rPr lang="en-US" sz="1700" dirty="0" err="1"/>
              <a:t>DataFrame</a:t>
            </a:r>
            <a:r>
              <a:rPr lang="en-US" sz="1700" dirty="0"/>
              <a:t> and then start applying the data cleaning and manipulation activities , the same explained in below points.</a:t>
            </a:r>
          </a:p>
          <a:p>
            <a:pPr>
              <a:lnSpc>
                <a:spcPct val="90000"/>
              </a:lnSpc>
              <a:buFont typeface="Wingdings" panose="05000000000000000000" pitchFamily="2" charset="2"/>
              <a:buChar char="§"/>
            </a:pPr>
            <a:r>
              <a:rPr lang="en-US" sz="1700" dirty="0"/>
              <a:t>Handling the NULL values with median ( we have considered Median , because the accuracy and calculation would be closer).</a:t>
            </a:r>
          </a:p>
          <a:p>
            <a:pPr>
              <a:lnSpc>
                <a:spcPct val="90000"/>
              </a:lnSpc>
              <a:buFont typeface="Wingdings" panose="05000000000000000000" pitchFamily="2" charset="2"/>
              <a:buChar char="§"/>
            </a:pPr>
            <a:r>
              <a:rPr lang="en-US" sz="1700" dirty="0"/>
              <a:t>Handling missing values, with required changes.</a:t>
            </a:r>
          </a:p>
          <a:p>
            <a:pPr>
              <a:lnSpc>
                <a:spcPct val="90000"/>
              </a:lnSpc>
              <a:buFont typeface="Wingdings" panose="05000000000000000000" pitchFamily="2" charset="2"/>
              <a:buChar char="§"/>
            </a:pPr>
            <a:r>
              <a:rPr lang="en-US" sz="1700" dirty="0"/>
              <a:t>Ideally in above steps , we have focused on Data quality issues are addressed in the right way , along with handled data manipulation, where data redundancies identified.</a:t>
            </a:r>
          </a:p>
          <a:p>
            <a:pPr>
              <a:lnSpc>
                <a:spcPct val="90000"/>
              </a:lnSpc>
              <a:buFont typeface="Wingdings" panose="05000000000000000000" pitchFamily="2" charset="2"/>
              <a:buChar char="§"/>
            </a:pPr>
            <a:r>
              <a:rPr lang="en-US" sz="1700" dirty="0"/>
              <a:t>During Data cleaning and manipulation process we have revisited columns which are left(after dropping, unwanted columns), and apply data exploration as well.</a:t>
            </a:r>
          </a:p>
          <a:p>
            <a:pPr marL="0" indent="0">
              <a:lnSpc>
                <a:spcPct val="90000"/>
              </a:lnSpc>
              <a:buNone/>
            </a:pPr>
            <a:endParaRPr lang="en-US" sz="1700" dirty="0"/>
          </a:p>
          <a:p>
            <a:pPr marL="0" indent="0">
              <a:lnSpc>
                <a:spcPct val="90000"/>
              </a:lnSpc>
              <a:buNone/>
            </a:pPr>
            <a:endParaRPr lang="en-US" sz="1700" dirty="0"/>
          </a:p>
        </p:txBody>
      </p:sp>
    </p:spTree>
    <p:extLst>
      <p:ext uri="{BB962C8B-B14F-4D97-AF65-F5344CB8AC3E}">
        <p14:creationId xmlns:p14="http://schemas.microsoft.com/office/powerpoint/2010/main" val="3586694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C74A84-23D5-4FAA-96AA-A614A8A60D03}"/>
              </a:ext>
            </a:extLst>
          </p:cNvPr>
          <p:cNvSpPr>
            <a:spLocks noGrp="1"/>
          </p:cNvSpPr>
          <p:nvPr>
            <p:ph type="title"/>
          </p:nvPr>
        </p:nvSpPr>
        <p:spPr>
          <a:xfrm>
            <a:off x="1259893" y="3101093"/>
            <a:ext cx="2454052" cy="3029344"/>
          </a:xfrm>
        </p:spPr>
        <p:txBody>
          <a:bodyPr>
            <a:normAutofit/>
          </a:bodyPr>
          <a:lstStyle/>
          <a:p>
            <a:r>
              <a:rPr lang="en-US" sz="3200" b="1">
                <a:solidFill>
                  <a:schemeClr val="bg1"/>
                </a:solidFill>
              </a:rPr>
              <a:t>Data analysis </a:t>
            </a:r>
            <a:endParaRPr lang="en-US" sz="3200">
              <a:solidFill>
                <a:schemeClr val="bg1"/>
              </a:solidFill>
            </a:endParaRPr>
          </a:p>
        </p:txBody>
      </p:sp>
      <p:sp>
        <p:nvSpPr>
          <p:cNvPr id="10"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12"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2">
            <a:extLst>
              <a:ext uri="{FF2B5EF4-FFF2-40B4-BE49-F238E27FC236}">
                <a16:creationId xmlns:a16="http://schemas.microsoft.com/office/drawing/2014/main" id="{4605D0E0-BD98-4E69-8463-10551FD29FB5}"/>
              </a:ext>
            </a:extLst>
          </p:cNvPr>
          <p:cNvSpPr>
            <a:spLocks noGrp="1"/>
          </p:cNvSpPr>
          <p:nvPr>
            <p:ph idx="1"/>
          </p:nvPr>
        </p:nvSpPr>
        <p:spPr>
          <a:xfrm>
            <a:off x="4706578" y="589722"/>
            <a:ext cx="6798033" cy="5321500"/>
          </a:xfrm>
        </p:spPr>
        <p:txBody>
          <a:bodyPr anchor="ctr">
            <a:normAutofit lnSpcReduction="10000"/>
          </a:bodyPr>
          <a:lstStyle/>
          <a:p>
            <a:pPr>
              <a:lnSpc>
                <a:spcPct val="90000"/>
              </a:lnSpc>
            </a:pPr>
            <a:r>
              <a:rPr lang="en-US" sz="1400" dirty="0"/>
              <a:t>Once data cleaning and data manipulation done, moved to next level that is Data Analysis , where identified the univariate and segmented around univariate variables, in this case TARGET. Looking the relationships of the variables , first we need to converted the data from imbalance to balanced categories . Because now we have to consider both the data sets , which we merged in previous step.</a:t>
            </a:r>
          </a:p>
          <a:p>
            <a:pPr>
              <a:lnSpc>
                <a:spcPct val="90000"/>
              </a:lnSpc>
            </a:pPr>
            <a:r>
              <a:rPr lang="en-US" sz="1400" dirty="0"/>
              <a:t>Sampling technique is used to make data into balanced categories , where re-execute the previous steps and find out the variables which causes the </a:t>
            </a:r>
            <a:r>
              <a:rPr lang="en-US" sz="1400" dirty="0" err="1"/>
              <a:t>imbalancing</a:t>
            </a:r>
            <a:r>
              <a:rPr lang="en-US" sz="1400" dirty="0"/>
              <a:t> , and due to this data gets imbalanced . We have handled those variables while applying indexing, NumPy random , NumPy concatenate and loc methods. </a:t>
            </a:r>
          </a:p>
          <a:p>
            <a:pPr>
              <a:lnSpc>
                <a:spcPct val="90000"/>
              </a:lnSpc>
            </a:pPr>
            <a:r>
              <a:rPr lang="en-US" sz="1400" dirty="0"/>
              <a:t>We have validated balancing ratio analysis in merged data of sampled data.</a:t>
            </a:r>
          </a:p>
          <a:p>
            <a:pPr>
              <a:lnSpc>
                <a:spcPct val="90000"/>
              </a:lnSpc>
            </a:pPr>
            <a:r>
              <a:rPr lang="en-US" sz="1400" dirty="0"/>
              <a:t>We have find out the outliers for relational variables. Observed the outliers in Box plot from which percentile the outlier is (25% or 75%) or it is in Interquartile range or above that too. Based on these observations, we have to identified which data points of column we can not consider for next level of analysis.</a:t>
            </a:r>
          </a:p>
          <a:p>
            <a:pPr>
              <a:lnSpc>
                <a:spcPct val="90000"/>
              </a:lnSpc>
            </a:pPr>
            <a:r>
              <a:rPr lang="en-US" sz="1400" dirty="0"/>
              <a:t>After this we have considered the Univariate analysis for categorial variables. During this phase pattern reorganization identified.</a:t>
            </a:r>
          </a:p>
          <a:p>
            <a:pPr>
              <a:lnSpc>
                <a:spcPct val="90000"/>
              </a:lnSpc>
            </a:pPr>
            <a:r>
              <a:rPr lang="en-US" sz="1400" dirty="0"/>
              <a:t>We have plotted the graphs for those univariate variables which mainly includes - NAME_CONTRACT_TYPE, Gender, FLAG_OWN_REALTY, NAME_TYPE_SUITE, NAME_INCOME_TYPE, Education, Marital Status, Property details, four types of decisions (Approved, Refused, Cancelled, Unused Offer), Payment Mode, Debited date, Loan Enquiry mode, Credit History etc. are the variables considered .</a:t>
            </a:r>
          </a:p>
        </p:txBody>
      </p:sp>
    </p:spTree>
    <p:extLst>
      <p:ext uri="{BB962C8B-B14F-4D97-AF65-F5344CB8AC3E}">
        <p14:creationId xmlns:p14="http://schemas.microsoft.com/office/powerpoint/2010/main" val="405959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063CA0-568E-4575-B6ED-FF1C4F7500BC}"/>
              </a:ext>
            </a:extLst>
          </p:cNvPr>
          <p:cNvSpPr>
            <a:spLocks noGrp="1"/>
          </p:cNvSpPr>
          <p:nvPr>
            <p:ph type="title"/>
          </p:nvPr>
        </p:nvSpPr>
        <p:spPr>
          <a:xfrm>
            <a:off x="1259893" y="3101093"/>
            <a:ext cx="2454052" cy="3029344"/>
          </a:xfrm>
        </p:spPr>
        <p:txBody>
          <a:bodyPr>
            <a:normAutofit/>
          </a:bodyPr>
          <a:lstStyle/>
          <a:p>
            <a:r>
              <a:rPr lang="en-US" sz="3200" b="1">
                <a:solidFill>
                  <a:schemeClr val="bg1"/>
                </a:solidFill>
              </a:rPr>
              <a:t>Data analysis</a:t>
            </a:r>
            <a:endParaRPr lang="en-US" sz="3200">
              <a:solidFill>
                <a:schemeClr val="bg1"/>
              </a:solidFill>
            </a:endParaRPr>
          </a:p>
        </p:txBody>
      </p:sp>
      <p:sp>
        <p:nvSpPr>
          <p:cNvPr id="10"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12"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2">
            <a:extLst>
              <a:ext uri="{FF2B5EF4-FFF2-40B4-BE49-F238E27FC236}">
                <a16:creationId xmlns:a16="http://schemas.microsoft.com/office/drawing/2014/main" id="{A1C39AEC-51A5-493F-A1D6-0DF4BC70C12A}"/>
              </a:ext>
            </a:extLst>
          </p:cNvPr>
          <p:cNvSpPr>
            <a:spLocks noGrp="1"/>
          </p:cNvSpPr>
          <p:nvPr>
            <p:ph idx="1"/>
          </p:nvPr>
        </p:nvSpPr>
        <p:spPr>
          <a:xfrm>
            <a:off x="4706578" y="589722"/>
            <a:ext cx="6798033" cy="5321500"/>
          </a:xfrm>
        </p:spPr>
        <p:txBody>
          <a:bodyPr anchor="ctr">
            <a:normAutofit/>
          </a:bodyPr>
          <a:lstStyle/>
          <a:p>
            <a:pPr>
              <a:lnSpc>
                <a:spcPct val="90000"/>
              </a:lnSpc>
              <a:buFont typeface="Wingdings" panose="05000000000000000000" pitchFamily="2" charset="2"/>
              <a:buChar char="§"/>
            </a:pPr>
            <a:r>
              <a:rPr lang="en-US" sz="1500" dirty="0"/>
              <a:t>Based on these variables , identified the Quantitative Summary Matrix for considered columns.</a:t>
            </a:r>
          </a:p>
          <a:p>
            <a:pPr>
              <a:lnSpc>
                <a:spcPct val="90000"/>
              </a:lnSpc>
              <a:buFont typeface="Wingdings" panose="05000000000000000000" pitchFamily="2" charset="2"/>
              <a:buChar char="§"/>
            </a:pPr>
            <a:r>
              <a:rPr lang="en-US" sz="1500" dirty="0"/>
              <a:t> After Univariate , we now considered for Bivariate Analysis for identified variable . We have repeat the same steps and observed the impacted areas and of TARGET v/s other variables. We have find out the different correlation matrix . In these observations, we found that some of the variables behaves very positive , some behaves negatively, along with some variables drives at some extent positively and then the line goes down, and then remains constant on data point. Some variables clearly showcased there is no correlation at all.</a:t>
            </a:r>
          </a:p>
          <a:p>
            <a:pPr>
              <a:lnSpc>
                <a:spcPct val="90000"/>
              </a:lnSpc>
              <a:buFont typeface="Wingdings" panose="05000000000000000000" pitchFamily="2" charset="2"/>
              <a:buChar char="§"/>
            </a:pPr>
            <a:r>
              <a:rPr lang="en-US" sz="1500" dirty="0"/>
              <a:t>Conclusion of this analysis is that , we can take positive decision on exact some data points , which are behaving positive , and some of the data points we can clearly reject the loan or there could be less probabilities to repay the loan.</a:t>
            </a:r>
          </a:p>
          <a:p>
            <a:pPr>
              <a:lnSpc>
                <a:spcPct val="90000"/>
              </a:lnSpc>
              <a:buFont typeface="Wingdings" panose="05000000000000000000" pitchFamily="2" charset="2"/>
              <a:buChar char="§"/>
            </a:pPr>
            <a:r>
              <a:rPr lang="en-US" sz="1500" dirty="0"/>
              <a:t>Then we moved to Segmenting data with respect to Target column. We have find out multiple variables which relationally and segment wise playing an important role , which ideally resulted into find out the accurate Correlation and pattern as well. </a:t>
            </a:r>
          </a:p>
        </p:txBody>
      </p:sp>
    </p:spTree>
    <p:extLst>
      <p:ext uri="{BB962C8B-B14F-4D97-AF65-F5344CB8AC3E}">
        <p14:creationId xmlns:p14="http://schemas.microsoft.com/office/powerpoint/2010/main" val="2739264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E50B3-1B6C-41F8-A577-AAC383BECE06}"/>
              </a:ext>
            </a:extLst>
          </p:cNvPr>
          <p:cNvSpPr>
            <a:spLocks noGrp="1"/>
          </p:cNvSpPr>
          <p:nvPr>
            <p:ph type="title"/>
          </p:nvPr>
        </p:nvSpPr>
        <p:spPr>
          <a:xfrm>
            <a:off x="1032387" y="964692"/>
            <a:ext cx="10486102" cy="1188720"/>
          </a:xfrm>
        </p:spPr>
        <p:txBody>
          <a:bodyPr/>
          <a:lstStyle/>
          <a:p>
            <a:r>
              <a:rPr lang="en-US" b="1" dirty="0"/>
              <a:t>Presentation and Recommendations </a:t>
            </a:r>
            <a:endParaRPr lang="en-US" dirty="0"/>
          </a:p>
        </p:txBody>
      </p:sp>
      <p:sp>
        <p:nvSpPr>
          <p:cNvPr id="3" name="Content Placeholder 2">
            <a:extLst>
              <a:ext uri="{FF2B5EF4-FFF2-40B4-BE49-F238E27FC236}">
                <a16:creationId xmlns:a16="http://schemas.microsoft.com/office/drawing/2014/main" id="{1098B4C3-4F2C-4763-84E0-6A1029AC3C80}"/>
              </a:ext>
            </a:extLst>
          </p:cNvPr>
          <p:cNvSpPr>
            <a:spLocks noGrp="1"/>
          </p:cNvSpPr>
          <p:nvPr>
            <p:ph idx="1"/>
          </p:nvPr>
        </p:nvSpPr>
        <p:spPr>
          <a:xfrm>
            <a:off x="852948" y="1850206"/>
            <a:ext cx="10486103" cy="3910240"/>
          </a:xfrm>
        </p:spPr>
        <p:txBody>
          <a:bodyPr/>
          <a:lstStyle/>
          <a:p>
            <a:r>
              <a:rPr lang="en-US" dirty="0"/>
              <a:t>Identified Segmented relational variables as -</a:t>
            </a:r>
          </a:p>
        </p:txBody>
      </p:sp>
      <p:graphicFrame>
        <p:nvGraphicFramePr>
          <p:cNvPr id="4" name="Object 3">
            <a:extLst>
              <a:ext uri="{FF2B5EF4-FFF2-40B4-BE49-F238E27FC236}">
                <a16:creationId xmlns:a16="http://schemas.microsoft.com/office/drawing/2014/main" id="{BD887A5D-781F-48DD-B32B-216BB8AEC2E3}"/>
              </a:ext>
            </a:extLst>
          </p:cNvPr>
          <p:cNvGraphicFramePr>
            <a:graphicFrameLocks noChangeAspect="1"/>
          </p:cNvGraphicFramePr>
          <p:nvPr>
            <p:extLst>
              <p:ext uri="{D42A27DB-BD31-4B8C-83A1-F6EECF244321}">
                <p14:modId xmlns:p14="http://schemas.microsoft.com/office/powerpoint/2010/main" val="3208478749"/>
              </p:ext>
            </p:extLst>
          </p:nvPr>
        </p:nvGraphicFramePr>
        <p:xfrm>
          <a:off x="852948" y="2304685"/>
          <a:ext cx="10665541" cy="3910240"/>
        </p:xfrm>
        <a:graphic>
          <a:graphicData uri="http://schemas.openxmlformats.org/presentationml/2006/ole">
            <mc:AlternateContent xmlns:mc="http://schemas.openxmlformats.org/markup-compatibility/2006">
              <mc:Choice xmlns:v="urn:schemas-microsoft-com:vml" Requires="v">
                <p:oleObj spid="_x0000_s1084" name="Worksheet" r:id="rId3" imgW="12325222" imgH="4276870" progId="Excel.Sheet.12">
                  <p:embed/>
                </p:oleObj>
              </mc:Choice>
              <mc:Fallback>
                <p:oleObj name="Worksheet" r:id="rId3" imgW="12325222" imgH="4276870" progId="Excel.Sheet.12">
                  <p:embed/>
                  <p:pic>
                    <p:nvPicPr>
                      <p:cNvPr id="0" name=""/>
                      <p:cNvPicPr/>
                      <p:nvPr/>
                    </p:nvPicPr>
                    <p:blipFill>
                      <a:blip r:embed="rId4"/>
                      <a:stretch>
                        <a:fillRect/>
                      </a:stretch>
                    </p:blipFill>
                    <p:spPr>
                      <a:xfrm>
                        <a:off x="852948" y="2304685"/>
                        <a:ext cx="10665541" cy="3910240"/>
                      </a:xfrm>
                      <a:prstGeom prst="rect">
                        <a:avLst/>
                      </a:prstGeom>
                    </p:spPr>
                  </p:pic>
                </p:oleObj>
              </mc:Fallback>
            </mc:AlternateContent>
          </a:graphicData>
        </a:graphic>
      </p:graphicFrame>
    </p:spTree>
    <p:extLst>
      <p:ext uri="{BB962C8B-B14F-4D97-AF65-F5344CB8AC3E}">
        <p14:creationId xmlns:p14="http://schemas.microsoft.com/office/powerpoint/2010/main" val="3117432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93580C-A84F-4132-A30E-C64F061AB387}"/>
              </a:ext>
            </a:extLst>
          </p:cNvPr>
          <p:cNvSpPr>
            <a:spLocks noGrp="1"/>
          </p:cNvSpPr>
          <p:nvPr>
            <p:ph type="title"/>
          </p:nvPr>
        </p:nvSpPr>
        <p:spPr>
          <a:xfrm>
            <a:off x="1259893" y="3101093"/>
            <a:ext cx="2454052" cy="3029344"/>
          </a:xfrm>
        </p:spPr>
        <p:txBody>
          <a:bodyPr>
            <a:normAutofit/>
          </a:bodyPr>
          <a:lstStyle/>
          <a:p>
            <a:r>
              <a:rPr lang="en-US" sz="1800" b="1">
                <a:solidFill>
                  <a:schemeClr val="bg1"/>
                </a:solidFill>
              </a:rPr>
              <a:t>Presentation and Recommendations</a:t>
            </a:r>
            <a:endParaRPr lang="en-US" sz="1800">
              <a:solidFill>
                <a:schemeClr val="bg1"/>
              </a:solidFill>
            </a:endParaRPr>
          </a:p>
        </p:txBody>
      </p:sp>
      <p:sp>
        <p:nvSpPr>
          <p:cNvPr id="29"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12"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875BD6-AA32-44CE-BC48-A92A49EE9B7D}"/>
              </a:ext>
            </a:extLst>
          </p:cNvPr>
          <p:cNvSpPr>
            <a:spLocks noGrp="1"/>
          </p:cNvSpPr>
          <p:nvPr>
            <p:ph idx="1"/>
          </p:nvPr>
        </p:nvSpPr>
        <p:spPr>
          <a:xfrm>
            <a:off x="4706578" y="589722"/>
            <a:ext cx="6798033" cy="5321500"/>
          </a:xfrm>
        </p:spPr>
        <p:txBody>
          <a:bodyPr anchor="ctr">
            <a:normAutofit/>
          </a:bodyPr>
          <a:lstStyle/>
          <a:p>
            <a:pPr>
              <a:lnSpc>
                <a:spcPct val="90000"/>
              </a:lnSpc>
              <a:buFont typeface="Wingdings" panose="05000000000000000000" pitchFamily="2" charset="2"/>
              <a:buChar char="§"/>
            </a:pPr>
            <a:r>
              <a:rPr lang="en-US" sz="1500" dirty="0"/>
              <a:t>We have then performed operations using Pivot Table on these variables. Based on the result TARGET 2 rows and 49 Columns (attached in separate </a:t>
            </a:r>
            <a:r>
              <a:rPr lang="en-US" sz="1500" dirty="0" err="1"/>
              <a:t>ipython</a:t>
            </a:r>
            <a:r>
              <a:rPr lang="en-US" sz="1500" dirty="0"/>
              <a:t> file) would have maximum positive correlation.</a:t>
            </a:r>
          </a:p>
          <a:p>
            <a:pPr>
              <a:lnSpc>
                <a:spcPct val="90000"/>
              </a:lnSpc>
              <a:buFont typeface="Wingdings" panose="05000000000000000000" pitchFamily="2" charset="2"/>
              <a:buChar char="§"/>
            </a:pPr>
            <a:r>
              <a:rPr lang="en-US" sz="1500" dirty="0"/>
              <a:t>We have plotted </a:t>
            </a:r>
            <a:r>
              <a:rPr lang="en-US" sz="1500" dirty="0" err="1"/>
              <a:t>HeatMap</a:t>
            </a:r>
            <a:r>
              <a:rPr lang="en-US" sz="1500" dirty="0"/>
              <a:t> for better visualization. In </a:t>
            </a:r>
            <a:r>
              <a:rPr lang="en-US" sz="1500" dirty="0" err="1"/>
              <a:t>HeatMap</a:t>
            </a:r>
            <a:r>
              <a:rPr lang="en-US" sz="1500" dirty="0"/>
              <a:t> we have found below observations related to Co relation –</a:t>
            </a:r>
          </a:p>
          <a:p>
            <a:pPr>
              <a:lnSpc>
                <a:spcPct val="90000"/>
              </a:lnSpc>
              <a:buFont typeface="Wingdings" panose="05000000000000000000" pitchFamily="2" charset="2"/>
              <a:buChar char="§"/>
            </a:pPr>
            <a:r>
              <a:rPr lang="en-US" sz="1500" dirty="0"/>
              <a:t>Consideration of Mean of </a:t>
            </a:r>
            <a:r>
              <a:rPr lang="en-US" sz="1500" dirty="0" err="1"/>
              <a:t>HeatMap</a:t>
            </a:r>
            <a:r>
              <a:rPr lang="en-US" sz="1500" dirty="0"/>
              <a:t> two distributions are identified – one goes in upper way which relates positive and other goes down way which states negative correlation.</a:t>
            </a:r>
          </a:p>
          <a:p>
            <a:pPr>
              <a:lnSpc>
                <a:spcPct val="90000"/>
              </a:lnSpc>
              <a:buFont typeface="Wingdings" panose="05000000000000000000" pitchFamily="2" charset="2"/>
              <a:buChar char="§"/>
            </a:pPr>
            <a:r>
              <a:rPr lang="en-US" sz="1500" dirty="0"/>
              <a:t>Below are the variables which highly positive correlation and have healthy pairs , and would be good pattern as well. AMT_ANNUITY,AMT_APPLICATION,AMT_CREDIT,AMT_DOWN_PAYMNET,AMT_GOODS_PRICE,AMT_INCOME_TOTAL,AMT_REQ_CREDIT_BUREAU_MON,QRT,WEEK,CNT_CHILDREN </a:t>
            </a:r>
          </a:p>
          <a:p>
            <a:pPr>
              <a:lnSpc>
                <a:spcPct val="90000"/>
              </a:lnSpc>
              <a:buFont typeface="Wingdings" panose="05000000000000000000" pitchFamily="2" charset="2"/>
              <a:buChar char="§"/>
            </a:pPr>
            <a:r>
              <a:rPr lang="en-US" sz="1500" dirty="0"/>
              <a:t>Below are the variable which has significantly less into positive </a:t>
            </a:r>
            <a:r>
              <a:rPr lang="en-US" sz="1500" dirty="0" err="1"/>
              <a:t>correlation,but</a:t>
            </a:r>
            <a:r>
              <a:rPr lang="en-US" sz="1500" dirty="0"/>
              <a:t> not come under no relation or negative correlation.</a:t>
            </a:r>
          </a:p>
          <a:p>
            <a:pPr>
              <a:lnSpc>
                <a:spcPct val="90000"/>
              </a:lnSpc>
            </a:pPr>
            <a:endParaRPr lang="en-US" sz="1700" dirty="0"/>
          </a:p>
          <a:p>
            <a:pPr>
              <a:lnSpc>
                <a:spcPct val="90000"/>
              </a:lnSpc>
            </a:pPr>
            <a:endParaRPr lang="en-US" sz="1700" dirty="0"/>
          </a:p>
        </p:txBody>
      </p:sp>
    </p:spTree>
    <p:extLst>
      <p:ext uri="{BB962C8B-B14F-4D97-AF65-F5344CB8AC3E}">
        <p14:creationId xmlns:p14="http://schemas.microsoft.com/office/powerpoint/2010/main" val="1540461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F3137-BDBD-4BC4-80F3-A86253B37BFE}"/>
              </a:ext>
            </a:extLst>
          </p:cNvPr>
          <p:cNvSpPr>
            <a:spLocks noGrp="1"/>
          </p:cNvSpPr>
          <p:nvPr>
            <p:ph type="title"/>
          </p:nvPr>
        </p:nvSpPr>
        <p:spPr>
          <a:xfrm>
            <a:off x="1259893" y="3101093"/>
            <a:ext cx="2454052" cy="3029344"/>
          </a:xfrm>
        </p:spPr>
        <p:txBody>
          <a:bodyPr>
            <a:normAutofit/>
          </a:bodyPr>
          <a:lstStyle/>
          <a:p>
            <a:r>
              <a:rPr lang="en-US" sz="1800" b="1">
                <a:solidFill>
                  <a:schemeClr val="bg1"/>
                </a:solidFill>
              </a:rPr>
              <a:t>Presentation and Recommendations</a:t>
            </a:r>
            <a:endParaRPr lang="en-US" sz="1800">
              <a:solidFill>
                <a:schemeClr val="bg1"/>
              </a:solidFill>
            </a:endParaRPr>
          </a:p>
        </p:txBody>
      </p:sp>
      <p:sp>
        <p:nvSpPr>
          <p:cNvPr id="34"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35"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ontent Placeholder 2">
            <a:extLst>
              <a:ext uri="{FF2B5EF4-FFF2-40B4-BE49-F238E27FC236}">
                <a16:creationId xmlns:a16="http://schemas.microsoft.com/office/drawing/2014/main" id="{A084B91D-27AB-4D96-B8D7-9325CB3CF2B9}"/>
              </a:ext>
            </a:extLst>
          </p:cNvPr>
          <p:cNvSpPr>
            <a:spLocks noGrp="1"/>
          </p:cNvSpPr>
          <p:nvPr>
            <p:ph idx="1"/>
          </p:nvPr>
        </p:nvSpPr>
        <p:spPr>
          <a:xfrm>
            <a:off x="4706578" y="589722"/>
            <a:ext cx="6798033" cy="5321500"/>
          </a:xfrm>
        </p:spPr>
        <p:txBody>
          <a:bodyPr anchor="ctr">
            <a:normAutofit/>
          </a:bodyPr>
          <a:lstStyle/>
          <a:p>
            <a:pPr lvl="1">
              <a:buFont typeface="Wingdings" panose="05000000000000000000" pitchFamily="2" charset="2"/>
              <a:buChar char="§"/>
            </a:pPr>
            <a:r>
              <a:rPr lang="en-US" dirty="0"/>
              <a:t>AMT_REQ_CREDIT_BUREAU_YEAR,CNT_CHILDREN,CNT_FAM_MEMBERS_CNT_PAYMNET,DAYS_DECISION,DAYS_EMPLOYED,DAYS_FIRST_DUE,DAYS_ID_PUBLISH_DAYS_LAST_DUE,DAYS_LAST_DUE_1</a:t>
            </a:r>
            <a:r>
              <a:rPr lang="en-US" baseline="30000" dirty="0"/>
              <a:t>ST</a:t>
            </a:r>
            <a:r>
              <a:rPr lang="en-US" dirty="0"/>
              <a:t>_VERSION,DAYS_LAST_PHONE_CHANGE,DAYS_REGISTRATION</a:t>
            </a:r>
          </a:p>
          <a:p>
            <a:pPr lvl="1">
              <a:buFont typeface="Wingdings" panose="05000000000000000000" pitchFamily="2" charset="2"/>
              <a:buChar char="§"/>
            </a:pPr>
            <a:r>
              <a:rPr lang="en-US" dirty="0"/>
              <a:t>The same we have observed for other variables No Correlation and Negative Correlation ( the same visualize in </a:t>
            </a:r>
            <a:r>
              <a:rPr lang="en-US" dirty="0" err="1"/>
              <a:t>HeatMap</a:t>
            </a:r>
            <a:r>
              <a:rPr lang="en-US" dirty="0"/>
              <a:t> graph. Attached </a:t>
            </a:r>
            <a:r>
              <a:rPr lang="en-US" dirty="0" err="1"/>
              <a:t>ipython</a:t>
            </a:r>
            <a:r>
              <a:rPr lang="en-US" dirty="0"/>
              <a:t> file for reference. The same </a:t>
            </a:r>
            <a:r>
              <a:rPr lang="en-US" dirty="0" err="1"/>
              <a:t>ipython</a:t>
            </a:r>
            <a:r>
              <a:rPr lang="en-US" dirty="0"/>
              <a:t> file will be part of Zip file , with this presentation as well). </a:t>
            </a:r>
          </a:p>
          <a:p>
            <a:pPr lvl="1">
              <a:buFont typeface="Wingdings" panose="05000000000000000000" pitchFamily="2" charset="2"/>
              <a:buChar char="§"/>
            </a:pPr>
            <a:r>
              <a:rPr lang="en-US" dirty="0"/>
              <a:t>Recommendations – Looking and observing the Heatmap , variables which are at close to positive correlation , can consider and applicant repay the loan. Variables which are in between of Mean and full positive correlation can also considered , based on which box is more broad and to which that corelates with ? are the key areas for such variables.</a:t>
            </a:r>
          </a:p>
          <a:p>
            <a:pPr lvl="1">
              <a:buFont typeface="Wingdings" panose="05000000000000000000" pitchFamily="2" charset="2"/>
              <a:buChar char="§"/>
            </a:pPr>
            <a:r>
              <a:rPr lang="en-US" dirty="0"/>
              <a:t>Variables which are directly at negative values , need not consider for loan application.</a:t>
            </a:r>
          </a:p>
        </p:txBody>
      </p:sp>
    </p:spTree>
    <p:extLst>
      <p:ext uri="{BB962C8B-B14F-4D97-AF65-F5344CB8AC3E}">
        <p14:creationId xmlns:p14="http://schemas.microsoft.com/office/powerpoint/2010/main" val="2586101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F3137-BDBD-4BC4-80F3-A86253B37BFE}"/>
              </a:ext>
            </a:extLst>
          </p:cNvPr>
          <p:cNvSpPr>
            <a:spLocks noGrp="1"/>
          </p:cNvSpPr>
          <p:nvPr>
            <p:ph type="title"/>
          </p:nvPr>
        </p:nvSpPr>
        <p:spPr>
          <a:xfrm>
            <a:off x="1259893" y="3101093"/>
            <a:ext cx="2454052" cy="3029344"/>
          </a:xfrm>
        </p:spPr>
        <p:txBody>
          <a:bodyPr>
            <a:normAutofit/>
          </a:bodyPr>
          <a:lstStyle/>
          <a:p>
            <a:r>
              <a:rPr lang="en-US" sz="1800" b="1" dirty="0">
                <a:solidFill>
                  <a:schemeClr val="bg1"/>
                </a:solidFill>
              </a:rPr>
              <a:t>Correlation for the Client with Payment  Difficulties </a:t>
            </a:r>
            <a:endParaRPr lang="en-US" sz="1800" dirty="0">
              <a:solidFill>
                <a:schemeClr val="bg1"/>
              </a:solidFill>
            </a:endParaRPr>
          </a:p>
        </p:txBody>
      </p:sp>
      <p:sp>
        <p:nvSpPr>
          <p:cNvPr id="34"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35"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ontent Placeholder 2">
            <a:extLst>
              <a:ext uri="{FF2B5EF4-FFF2-40B4-BE49-F238E27FC236}">
                <a16:creationId xmlns:a16="http://schemas.microsoft.com/office/drawing/2014/main" id="{A084B91D-27AB-4D96-B8D7-9325CB3CF2B9}"/>
              </a:ext>
            </a:extLst>
          </p:cNvPr>
          <p:cNvSpPr>
            <a:spLocks noGrp="1"/>
          </p:cNvSpPr>
          <p:nvPr>
            <p:ph idx="1"/>
          </p:nvPr>
        </p:nvSpPr>
        <p:spPr>
          <a:xfrm>
            <a:off x="4706578" y="589722"/>
            <a:ext cx="6798033" cy="5321500"/>
          </a:xfrm>
        </p:spPr>
        <p:txBody>
          <a:bodyPr anchor="ctr">
            <a:normAutofit/>
          </a:bodyPr>
          <a:lstStyle/>
          <a:p>
            <a:pPr lvl="1">
              <a:buFont typeface="Wingdings" panose="05000000000000000000" pitchFamily="2" charset="2"/>
              <a:buChar char="§"/>
            </a:pPr>
            <a:r>
              <a:rPr lang="en-US" dirty="0"/>
              <a:t>As per predication described in previous slide , to whom can be eligible to repay the loan .</a:t>
            </a:r>
          </a:p>
          <a:p>
            <a:pPr lvl="1">
              <a:buFont typeface="Wingdings" panose="05000000000000000000" pitchFamily="2" charset="2"/>
              <a:buChar char="§"/>
            </a:pPr>
            <a:r>
              <a:rPr lang="en-US" dirty="0"/>
              <a:t>Now here we have to take insights on the top 10 correlation variables which would causes the payment difficulties with client.</a:t>
            </a:r>
          </a:p>
          <a:p>
            <a:pPr lvl="1">
              <a:buFont typeface="Wingdings" panose="05000000000000000000" pitchFamily="2" charset="2"/>
              <a:buChar char="§"/>
            </a:pPr>
            <a:r>
              <a:rPr lang="en-US" dirty="0"/>
              <a:t>Looking at </a:t>
            </a:r>
            <a:r>
              <a:rPr lang="en-US" dirty="0" err="1"/>
              <a:t>HistoGram</a:t>
            </a:r>
            <a:r>
              <a:rPr lang="en-US" dirty="0"/>
              <a:t> the Correlation which more on the Negative (down line) , from the mean , can causes the issues with payment.</a:t>
            </a:r>
          </a:p>
          <a:p>
            <a:pPr lvl="1">
              <a:buFont typeface="Wingdings" panose="05000000000000000000" pitchFamily="2" charset="2"/>
              <a:buChar char="§"/>
            </a:pPr>
            <a:r>
              <a:rPr lang="en-US" dirty="0"/>
              <a:t>We have to consider TARGET as main column and how the other variables play an important role , to find the payment difficulties . </a:t>
            </a:r>
          </a:p>
          <a:p>
            <a:pPr lvl="1">
              <a:buFont typeface="Wingdings" panose="05000000000000000000" pitchFamily="2" charset="2"/>
              <a:buChar char="§"/>
            </a:pPr>
            <a:r>
              <a:rPr lang="en-US" dirty="0"/>
              <a:t>Below are the 10 variables for the same –</a:t>
            </a:r>
          </a:p>
          <a:p>
            <a:pPr marL="457200" lvl="1" indent="0">
              <a:buNone/>
            </a:pPr>
            <a:r>
              <a:rPr lang="en-US" dirty="0"/>
              <a:t>1)FLAG_WORK_PHONE, 2)LIVE_CITY_NOT_WORK_CITY,3)RATE_INTEREST_PRIMARY,4)RATE_INTEREST_PRIVILEGED,5)SK_ID_PREV,6)AMT_DOWN_PAYMENT,7)AMT_CREDIT,8)AMT_REQ_CREDIT_BUREAU_MON,9) AMT_REQ_CREDIT_BUREAU_QRT,10) SELLERPLACE_AREA</a:t>
            </a:r>
          </a:p>
        </p:txBody>
      </p:sp>
    </p:spTree>
    <p:extLst>
      <p:ext uri="{BB962C8B-B14F-4D97-AF65-F5344CB8AC3E}">
        <p14:creationId xmlns:p14="http://schemas.microsoft.com/office/powerpoint/2010/main" val="338689887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otalTime>61</TotalTime>
  <Words>1399</Words>
  <Application>Microsoft Office PowerPoint</Application>
  <PresentationFormat>Widescreen</PresentationFormat>
  <Paragraphs>48</Paragraphs>
  <Slides>9</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5" baseType="lpstr">
      <vt:lpstr>Arial</vt:lpstr>
      <vt:lpstr>Century Gothic</vt:lpstr>
      <vt:lpstr>Wingdings</vt:lpstr>
      <vt:lpstr>Wingdings 3</vt:lpstr>
      <vt:lpstr>Wisp</vt:lpstr>
      <vt:lpstr>Worksheet</vt:lpstr>
      <vt:lpstr>CREDIT EDA ASSIGNMENT PRESENTATION</vt:lpstr>
      <vt:lpstr>Problem statement and Data understanding</vt:lpstr>
      <vt:lpstr>Data Cleaning and Manipulation </vt:lpstr>
      <vt:lpstr>Data analysis </vt:lpstr>
      <vt:lpstr>Data analysis</vt:lpstr>
      <vt:lpstr>Presentation and Recommendations </vt:lpstr>
      <vt:lpstr>Presentation and Recommendations</vt:lpstr>
      <vt:lpstr>Presentation and Recommendations</vt:lpstr>
      <vt:lpstr>Correlation for the Client with Payment  Difficulties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EDA ASSIGNMENT PRESENTATION</dc:title>
  <dc:creator>Chandrasen Wadikar</dc:creator>
  <cp:lastModifiedBy>Chandrasen Wadikar</cp:lastModifiedBy>
  <cp:revision>9</cp:revision>
  <dcterms:created xsi:type="dcterms:W3CDTF">2019-06-07T10:30:01Z</dcterms:created>
  <dcterms:modified xsi:type="dcterms:W3CDTF">2019-08-13T14:21:41Z</dcterms:modified>
</cp:coreProperties>
</file>