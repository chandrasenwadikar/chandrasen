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54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CDAB60-9996-4C95-B399-D5B3C7F26282}"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04771B27-DD74-4149-A3F8-7E5052729E0E}">
      <dgm:prSet custT="1"/>
      <dgm:spPr/>
      <dgm:t>
        <a:bodyPr/>
        <a:lstStyle/>
        <a:p>
          <a:r>
            <a:rPr lang="en-US" sz="2000" b="1" dirty="0">
              <a:latin typeface="Calibri" panose="020F0502020204030204" pitchFamily="34" charset="0"/>
            </a:rPr>
            <a:t>Problem Statement  - </a:t>
          </a:r>
          <a:r>
            <a:rPr lang="en-US" sz="2000" dirty="0">
              <a:latin typeface="Calibri" panose="020F0502020204030204" pitchFamily="34" charset="0"/>
            </a:rPr>
            <a:t>An education company named X Education sells online courses to industry professionals. The company markets its courses on several websites and search engines like Google. Once these people land on the website, they might browse the courses or fill up a form for the course or watch some videos. When these people fill up a form providing their email address or phone number, they are classified to be a lead. The typical lead conversion rate at X education is around 30%.</a:t>
          </a:r>
        </a:p>
        <a:p>
          <a:endParaRPr lang="en-US" sz="2000" dirty="0">
            <a:latin typeface="Calibri" panose="020F0502020204030204" pitchFamily="34" charset="0"/>
          </a:endParaRPr>
        </a:p>
      </dgm:t>
    </dgm:pt>
    <dgm:pt modelId="{52E5D477-EB3E-4A2C-9D99-D4E05F7478D6}" type="parTrans" cxnId="{C542D653-7B80-41C7-B8D5-56B5C20C70E9}">
      <dgm:prSet/>
      <dgm:spPr/>
      <dgm:t>
        <a:bodyPr/>
        <a:lstStyle/>
        <a:p>
          <a:endParaRPr lang="en-US"/>
        </a:p>
      </dgm:t>
    </dgm:pt>
    <dgm:pt modelId="{7CED8C0B-3D7C-4D61-A5EE-22FD3DF4264C}" type="sibTrans" cxnId="{C542D653-7B80-41C7-B8D5-56B5C20C70E9}">
      <dgm:prSet/>
      <dgm:spPr/>
      <dgm:t>
        <a:bodyPr/>
        <a:lstStyle/>
        <a:p>
          <a:endParaRPr lang="en-US"/>
        </a:p>
      </dgm:t>
    </dgm:pt>
    <dgm:pt modelId="{40020F24-842B-42FC-8367-70AFB5811368}">
      <dgm:prSet custT="1"/>
      <dgm:spPr/>
      <dgm:t>
        <a:bodyPr/>
        <a:lstStyle/>
        <a:p>
          <a:r>
            <a:rPr lang="en-US" sz="2000" b="1" dirty="0">
              <a:latin typeface="Calibri" panose="020F0502020204030204" pitchFamily="34" charset="0"/>
            </a:rPr>
            <a:t>Objective - </a:t>
          </a:r>
          <a:r>
            <a:rPr lang="en-US" sz="2000" dirty="0">
              <a:latin typeface="Calibri" panose="020F0502020204030204" pitchFamily="34" charset="0"/>
            </a:rPr>
            <a:t>The company requires you to build a model wherein you need to assign a lead score to each of the leads such that the customers with higher lead score have a higher conversion chance and the customers with lower lead score have a lower conversion chance. The target has given a ballpark of the target lead conversion rate to be around 80%.</a:t>
          </a:r>
        </a:p>
      </dgm:t>
    </dgm:pt>
    <dgm:pt modelId="{FBDAA893-6444-4767-B6E1-1F5DCDDB00BC}" type="parTrans" cxnId="{5B523C61-F65A-4A6C-856B-BE19AD5C28A8}">
      <dgm:prSet/>
      <dgm:spPr/>
      <dgm:t>
        <a:bodyPr/>
        <a:lstStyle/>
        <a:p>
          <a:endParaRPr lang="en-US"/>
        </a:p>
      </dgm:t>
    </dgm:pt>
    <dgm:pt modelId="{CEF8AF57-D44E-45FD-A8A7-A25D4EED265F}" type="sibTrans" cxnId="{5B523C61-F65A-4A6C-856B-BE19AD5C28A8}">
      <dgm:prSet/>
      <dgm:spPr/>
      <dgm:t>
        <a:bodyPr/>
        <a:lstStyle/>
        <a:p>
          <a:endParaRPr lang="en-US"/>
        </a:p>
      </dgm:t>
    </dgm:pt>
    <dgm:pt modelId="{75DB3014-7737-4B41-B98D-03F02CEFAF38}" type="pres">
      <dgm:prSet presAssocID="{40CDAB60-9996-4C95-B399-D5B3C7F26282}" presName="vert0" presStyleCnt="0">
        <dgm:presLayoutVars>
          <dgm:dir/>
          <dgm:animOne val="branch"/>
          <dgm:animLvl val="lvl"/>
        </dgm:presLayoutVars>
      </dgm:prSet>
      <dgm:spPr/>
    </dgm:pt>
    <dgm:pt modelId="{02E5F9C3-71C7-4955-B051-7D6BA7C3B45C}" type="pres">
      <dgm:prSet presAssocID="{04771B27-DD74-4149-A3F8-7E5052729E0E}" presName="thickLine" presStyleLbl="alignNode1" presStyleIdx="0" presStyleCnt="2"/>
      <dgm:spPr/>
    </dgm:pt>
    <dgm:pt modelId="{8067097F-0AC8-466E-B080-FA6848B6D0BF}" type="pres">
      <dgm:prSet presAssocID="{04771B27-DD74-4149-A3F8-7E5052729E0E}" presName="horz1" presStyleCnt="0"/>
      <dgm:spPr/>
    </dgm:pt>
    <dgm:pt modelId="{237AAE56-2453-4F76-9DA6-2A4F78BF7900}" type="pres">
      <dgm:prSet presAssocID="{04771B27-DD74-4149-A3F8-7E5052729E0E}" presName="tx1" presStyleLbl="revTx" presStyleIdx="0" presStyleCnt="2" custLinFactNeighborX="338" custLinFactNeighborY="-13036"/>
      <dgm:spPr/>
    </dgm:pt>
    <dgm:pt modelId="{699823E0-D55C-436A-BF74-948D0619819E}" type="pres">
      <dgm:prSet presAssocID="{04771B27-DD74-4149-A3F8-7E5052729E0E}" presName="vert1" presStyleCnt="0"/>
      <dgm:spPr/>
    </dgm:pt>
    <dgm:pt modelId="{A6414F9E-D59F-4D82-9995-63DA05E4FC76}" type="pres">
      <dgm:prSet presAssocID="{40020F24-842B-42FC-8367-70AFB5811368}" presName="thickLine" presStyleLbl="alignNode1" presStyleIdx="1" presStyleCnt="2"/>
      <dgm:spPr/>
    </dgm:pt>
    <dgm:pt modelId="{C00E13AE-2796-4E04-AA21-9B76D28B1D76}" type="pres">
      <dgm:prSet presAssocID="{40020F24-842B-42FC-8367-70AFB5811368}" presName="horz1" presStyleCnt="0"/>
      <dgm:spPr/>
    </dgm:pt>
    <dgm:pt modelId="{41A54D4D-917B-4A3E-9340-7B0EAD7F4FD0}" type="pres">
      <dgm:prSet presAssocID="{40020F24-842B-42FC-8367-70AFB5811368}" presName="tx1" presStyleLbl="revTx" presStyleIdx="1" presStyleCnt="2" custScaleY="87409"/>
      <dgm:spPr/>
    </dgm:pt>
    <dgm:pt modelId="{92E1F3D0-3066-4A61-B464-05A6B1FC8B5A}" type="pres">
      <dgm:prSet presAssocID="{40020F24-842B-42FC-8367-70AFB5811368}" presName="vert1" presStyleCnt="0"/>
      <dgm:spPr/>
    </dgm:pt>
  </dgm:ptLst>
  <dgm:cxnLst>
    <dgm:cxn modelId="{6924B62C-AB00-49AC-999B-2C047A9358A8}" type="presOf" srcId="{40CDAB60-9996-4C95-B399-D5B3C7F26282}" destId="{75DB3014-7737-4B41-B98D-03F02CEFAF38}" srcOrd="0" destOrd="0" presId="urn:microsoft.com/office/officeart/2008/layout/LinedList"/>
    <dgm:cxn modelId="{6D200F35-026B-40C1-A623-BCBF3B23AB13}" type="presOf" srcId="{40020F24-842B-42FC-8367-70AFB5811368}" destId="{41A54D4D-917B-4A3E-9340-7B0EAD7F4FD0}" srcOrd="0" destOrd="0" presId="urn:microsoft.com/office/officeart/2008/layout/LinedList"/>
    <dgm:cxn modelId="{5B523C61-F65A-4A6C-856B-BE19AD5C28A8}" srcId="{40CDAB60-9996-4C95-B399-D5B3C7F26282}" destId="{40020F24-842B-42FC-8367-70AFB5811368}" srcOrd="1" destOrd="0" parTransId="{FBDAA893-6444-4767-B6E1-1F5DCDDB00BC}" sibTransId="{CEF8AF57-D44E-45FD-A8A7-A25D4EED265F}"/>
    <dgm:cxn modelId="{C542D653-7B80-41C7-B8D5-56B5C20C70E9}" srcId="{40CDAB60-9996-4C95-B399-D5B3C7F26282}" destId="{04771B27-DD74-4149-A3F8-7E5052729E0E}" srcOrd="0" destOrd="0" parTransId="{52E5D477-EB3E-4A2C-9D99-D4E05F7478D6}" sibTransId="{7CED8C0B-3D7C-4D61-A5EE-22FD3DF4264C}"/>
    <dgm:cxn modelId="{243F8BD5-1696-4BAE-A479-297016ED27B1}" type="presOf" srcId="{04771B27-DD74-4149-A3F8-7E5052729E0E}" destId="{237AAE56-2453-4F76-9DA6-2A4F78BF7900}" srcOrd="0" destOrd="0" presId="urn:microsoft.com/office/officeart/2008/layout/LinedList"/>
    <dgm:cxn modelId="{1FB09696-208F-46D1-924A-69600AF6C2E4}" type="presParOf" srcId="{75DB3014-7737-4B41-B98D-03F02CEFAF38}" destId="{02E5F9C3-71C7-4955-B051-7D6BA7C3B45C}" srcOrd="0" destOrd="0" presId="urn:microsoft.com/office/officeart/2008/layout/LinedList"/>
    <dgm:cxn modelId="{61202EF5-C2AF-4DF0-BA36-74FA5959B62C}" type="presParOf" srcId="{75DB3014-7737-4B41-B98D-03F02CEFAF38}" destId="{8067097F-0AC8-466E-B080-FA6848B6D0BF}" srcOrd="1" destOrd="0" presId="urn:microsoft.com/office/officeart/2008/layout/LinedList"/>
    <dgm:cxn modelId="{A3393DA9-00EB-4C8C-BF8C-C23051C6D0A7}" type="presParOf" srcId="{8067097F-0AC8-466E-B080-FA6848B6D0BF}" destId="{237AAE56-2453-4F76-9DA6-2A4F78BF7900}" srcOrd="0" destOrd="0" presId="urn:microsoft.com/office/officeart/2008/layout/LinedList"/>
    <dgm:cxn modelId="{86DA064F-C47E-456B-B940-CFA7A6B1CDFE}" type="presParOf" srcId="{8067097F-0AC8-466E-B080-FA6848B6D0BF}" destId="{699823E0-D55C-436A-BF74-948D0619819E}" srcOrd="1" destOrd="0" presId="urn:microsoft.com/office/officeart/2008/layout/LinedList"/>
    <dgm:cxn modelId="{A1D2CBB1-390F-4983-BD8A-62AB9D679712}" type="presParOf" srcId="{75DB3014-7737-4B41-B98D-03F02CEFAF38}" destId="{A6414F9E-D59F-4D82-9995-63DA05E4FC76}" srcOrd="2" destOrd="0" presId="urn:microsoft.com/office/officeart/2008/layout/LinedList"/>
    <dgm:cxn modelId="{07A1D53A-34B5-414A-A41F-F81E52580ACA}" type="presParOf" srcId="{75DB3014-7737-4B41-B98D-03F02CEFAF38}" destId="{C00E13AE-2796-4E04-AA21-9B76D28B1D76}" srcOrd="3" destOrd="0" presId="urn:microsoft.com/office/officeart/2008/layout/LinedList"/>
    <dgm:cxn modelId="{B9893291-158F-416A-9E84-4724D5038122}" type="presParOf" srcId="{C00E13AE-2796-4E04-AA21-9B76D28B1D76}" destId="{41A54D4D-917B-4A3E-9340-7B0EAD7F4FD0}" srcOrd="0" destOrd="0" presId="urn:microsoft.com/office/officeart/2008/layout/LinedList"/>
    <dgm:cxn modelId="{BC562802-08A5-4346-AE80-C3DF06A5FDF2}" type="presParOf" srcId="{C00E13AE-2796-4E04-AA21-9B76D28B1D76}" destId="{92E1F3D0-3066-4A61-B464-05A6B1FC8B5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E5F9C3-71C7-4955-B051-7D6BA7C3B45C}">
      <dsp:nvSpPr>
        <dsp:cNvPr id="0" name=""/>
        <dsp:cNvSpPr/>
      </dsp:nvSpPr>
      <dsp:spPr>
        <a:xfrm>
          <a:off x="0" y="1918"/>
          <a:ext cx="5990135"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7AAE56-2453-4F76-9DA6-2A4F78BF7900}">
      <dsp:nvSpPr>
        <dsp:cNvPr id="0" name=""/>
        <dsp:cNvSpPr/>
      </dsp:nvSpPr>
      <dsp:spPr>
        <a:xfrm>
          <a:off x="0" y="0"/>
          <a:ext cx="5990135" cy="2805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latin typeface="Calibri" panose="020F0502020204030204" pitchFamily="34" charset="0"/>
            </a:rPr>
            <a:t>Problem Statement  - </a:t>
          </a:r>
          <a:r>
            <a:rPr lang="en-US" sz="2000" kern="1200" dirty="0">
              <a:latin typeface="Calibri" panose="020F0502020204030204" pitchFamily="34" charset="0"/>
            </a:rPr>
            <a:t>An education company named X Education sells online courses to industry professionals. The company markets its courses on several websites and search engines like Google. Once these people land on the website, they might browse the courses or fill up a form for the course or watch some videos. When these people fill up a form providing their email address or phone number, they are classified to be a lead. The typical lead conversion rate at X education is around 30%.</a:t>
          </a:r>
        </a:p>
        <a:p>
          <a:pPr marL="0" lvl="0" indent="0" algn="l" defTabSz="889000">
            <a:lnSpc>
              <a:spcPct val="90000"/>
            </a:lnSpc>
            <a:spcBef>
              <a:spcPct val="0"/>
            </a:spcBef>
            <a:spcAft>
              <a:spcPct val="35000"/>
            </a:spcAft>
            <a:buNone/>
          </a:pPr>
          <a:endParaRPr lang="en-US" sz="2000" kern="1200" dirty="0">
            <a:latin typeface="Calibri" panose="020F0502020204030204" pitchFamily="34" charset="0"/>
          </a:endParaRPr>
        </a:p>
      </dsp:txBody>
      <dsp:txXfrm>
        <a:off x="0" y="0"/>
        <a:ext cx="5990135" cy="2805743"/>
      </dsp:txXfrm>
    </dsp:sp>
    <dsp:sp modelId="{A6414F9E-D59F-4D82-9995-63DA05E4FC76}">
      <dsp:nvSpPr>
        <dsp:cNvPr id="0" name=""/>
        <dsp:cNvSpPr/>
      </dsp:nvSpPr>
      <dsp:spPr>
        <a:xfrm>
          <a:off x="0" y="2807662"/>
          <a:ext cx="5990135" cy="0"/>
        </a:xfrm>
        <a:prstGeom prst="line">
          <a:avLst/>
        </a:prstGeom>
        <a:solidFill>
          <a:schemeClr val="accent2">
            <a:hueOff val="1354814"/>
            <a:satOff val="-6632"/>
            <a:lumOff val="3725"/>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A54D4D-917B-4A3E-9340-7B0EAD7F4FD0}">
      <dsp:nvSpPr>
        <dsp:cNvPr id="0" name=""/>
        <dsp:cNvSpPr/>
      </dsp:nvSpPr>
      <dsp:spPr>
        <a:xfrm>
          <a:off x="0" y="2807662"/>
          <a:ext cx="5990135" cy="2452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latin typeface="Calibri" panose="020F0502020204030204" pitchFamily="34" charset="0"/>
            </a:rPr>
            <a:t>Objective - </a:t>
          </a:r>
          <a:r>
            <a:rPr lang="en-US" sz="2000" kern="1200" dirty="0">
              <a:latin typeface="Calibri" panose="020F0502020204030204" pitchFamily="34" charset="0"/>
            </a:rPr>
            <a:t>The company requires you to build a model wherein you need to assign a lead score to each of the leads such that the customers with higher lead score have a higher conversion chance and the customers with lower lead score have a lower conversion chance. The target has given a ballpark of the target lead conversion rate to be around 80%.</a:t>
          </a:r>
        </a:p>
      </dsp:txBody>
      <dsp:txXfrm>
        <a:off x="0" y="2807662"/>
        <a:ext cx="5990135" cy="245247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DA409E-CA09-45DB-B6D5-4EAB922C61AD}" type="datetimeFigureOut">
              <a:rPr lang="en-US" smtClean="0"/>
              <a:t>24-Aug-19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336207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ADA409E-CA09-45DB-B6D5-4EAB922C61AD}" type="datetimeFigureOut">
              <a:rPr lang="en-US" smtClean="0"/>
              <a:t>24-Aug-19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284082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DA409E-CA09-45DB-B6D5-4EAB922C61AD}" type="datetimeFigureOut">
              <a:rPr lang="en-US" smtClean="0"/>
              <a:t>24-Aug-19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557662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DA409E-CA09-45DB-B6D5-4EAB922C61AD}" type="datetimeFigureOut">
              <a:rPr lang="en-US" smtClean="0"/>
              <a:t>24-Aug-19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1483789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DA409E-CA09-45DB-B6D5-4EAB922C61AD}" type="datetimeFigureOut">
              <a:rPr lang="en-US" smtClean="0"/>
              <a:t>24-Aug-19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3282418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ADA409E-CA09-45DB-B6D5-4EAB922C61AD}" type="datetimeFigureOut">
              <a:rPr lang="en-US" smtClean="0"/>
              <a:t>24-Aug-19</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4129806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ADA409E-CA09-45DB-B6D5-4EAB922C61AD}" type="datetimeFigureOut">
              <a:rPr lang="en-US" smtClean="0"/>
              <a:t>24-Aug-19</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2298440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ADA409E-CA09-45DB-B6D5-4EAB922C61AD}" type="datetimeFigureOut">
              <a:rPr lang="en-US" smtClean="0"/>
              <a:t>24-Aug-19</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3186431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DA409E-CA09-45DB-B6D5-4EAB922C61AD}" type="datetimeFigureOut">
              <a:rPr lang="en-US" smtClean="0"/>
              <a:t>24-Aug-19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1465497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DA409E-CA09-45DB-B6D5-4EAB922C61AD}" type="datetimeFigureOut">
              <a:rPr lang="en-US" smtClean="0"/>
              <a:t>24-Aug-19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1955025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ADA409E-CA09-45DB-B6D5-4EAB922C61AD}" type="datetimeFigureOut">
              <a:rPr lang="en-US" smtClean="0"/>
              <a:t>24-Aug-19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2395310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ADA409E-CA09-45DB-B6D5-4EAB922C61AD}" type="datetimeFigureOut">
              <a:rPr lang="en-US" smtClean="0"/>
              <a:t>24-Aug-19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918FE-8872-4A8B-AC9E-75310D694DF9}"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8831155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DA409E-CA09-45DB-B6D5-4EAB922C61AD}" type="datetimeFigureOut">
              <a:rPr lang="en-US" smtClean="0"/>
              <a:t>24-Aug-19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29121428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ADA409E-CA09-45DB-B6D5-4EAB922C61AD}" type="datetimeFigureOut">
              <a:rPr lang="en-US" smtClean="0"/>
              <a:t>24-Aug-19</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26425338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ADA409E-CA09-45DB-B6D5-4EAB922C61AD}" type="datetimeFigureOut">
              <a:rPr lang="en-US" smtClean="0"/>
              <a:t>24-Aug-19</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2127634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DA409E-CA09-45DB-B6D5-4EAB922C61AD}" type="datetimeFigureOut">
              <a:rPr lang="en-US" smtClean="0"/>
              <a:t>24-Aug-19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1816886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DA409E-CA09-45DB-B6D5-4EAB922C61AD}" type="datetimeFigureOut">
              <a:rPr lang="en-US" smtClean="0"/>
              <a:t>24-Aug-19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918FE-8872-4A8B-AC9E-75310D694DF9}" type="slidenum">
              <a:rPr lang="en-US" smtClean="0"/>
              <a:t>‹#›</a:t>
            </a:fld>
            <a:endParaRPr lang="en-US"/>
          </a:p>
        </p:txBody>
      </p:sp>
    </p:spTree>
    <p:extLst>
      <p:ext uri="{BB962C8B-B14F-4D97-AF65-F5344CB8AC3E}">
        <p14:creationId xmlns:p14="http://schemas.microsoft.com/office/powerpoint/2010/main" val="1049737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ADA409E-CA09-45DB-B6D5-4EAB922C61AD}" type="datetimeFigureOut">
              <a:rPr lang="en-US" smtClean="0"/>
              <a:t>24-Aug-19</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33918FE-8872-4A8B-AC9E-75310D694DF9}" type="slidenum">
              <a:rPr lang="en-US" smtClean="0"/>
              <a:t>‹#›</a:t>
            </a:fld>
            <a:endParaRPr lang="en-US"/>
          </a:p>
        </p:txBody>
      </p:sp>
    </p:spTree>
    <p:extLst>
      <p:ext uri="{BB962C8B-B14F-4D97-AF65-F5344CB8AC3E}">
        <p14:creationId xmlns:p14="http://schemas.microsoft.com/office/powerpoint/2010/main" val="1742698685"/>
      </p:ext>
    </p:extLst>
  </p:cSld>
  <p:clrMap bg1="dk1" tx1="lt1" bg2="dk2" tx2="lt2" accent1="accent1" accent2="accent2" accent3="accent3" accent4="accent4" accent5="accent5" accent6="accent6" hlink="hlink" folHlink="folHlink"/>
  <p:sldLayoutIdLst>
    <p:sldLayoutId id="2147484543" r:id="rId1"/>
    <p:sldLayoutId id="2147484544" r:id="rId2"/>
    <p:sldLayoutId id="2147484545" r:id="rId3"/>
    <p:sldLayoutId id="2147484546" r:id="rId4"/>
    <p:sldLayoutId id="2147484547" r:id="rId5"/>
    <p:sldLayoutId id="2147484548" r:id="rId6"/>
    <p:sldLayoutId id="2147484549" r:id="rId7"/>
    <p:sldLayoutId id="2147484550" r:id="rId8"/>
    <p:sldLayoutId id="2147484551" r:id="rId9"/>
    <p:sldLayoutId id="2147484552" r:id="rId10"/>
    <p:sldLayoutId id="2147484553" r:id="rId11"/>
    <p:sldLayoutId id="2147484554" r:id="rId12"/>
    <p:sldLayoutId id="2147484555" r:id="rId13"/>
    <p:sldLayoutId id="2147484556" r:id="rId14"/>
    <p:sldLayoutId id="2147484557" r:id="rId15"/>
    <p:sldLayoutId id="2147484558" r:id="rId16"/>
    <p:sldLayoutId id="214748455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E584A-36A6-4C1E-9BE4-EF91CF32DF7B}"/>
              </a:ext>
            </a:extLst>
          </p:cNvPr>
          <p:cNvSpPr>
            <a:spLocks noGrp="1"/>
          </p:cNvSpPr>
          <p:nvPr>
            <p:ph type="ctrTitle"/>
          </p:nvPr>
        </p:nvSpPr>
        <p:spPr>
          <a:xfrm>
            <a:off x="253218" y="758951"/>
            <a:ext cx="11648049" cy="3784913"/>
          </a:xfrm>
        </p:spPr>
        <p:txBody>
          <a:bodyPr>
            <a:normAutofit/>
          </a:bodyPr>
          <a:lstStyle/>
          <a:p>
            <a:pPr algn="ctr"/>
            <a:r>
              <a:rPr lang="en-US" dirty="0"/>
              <a:t>Lead Scoring Assignment Presentation</a:t>
            </a:r>
          </a:p>
        </p:txBody>
      </p:sp>
    </p:spTree>
    <p:extLst>
      <p:ext uri="{BB962C8B-B14F-4D97-AF65-F5344CB8AC3E}">
        <p14:creationId xmlns:p14="http://schemas.microsoft.com/office/powerpoint/2010/main" val="1666725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3D935-FB0E-40BA-96F5-A2E7553D4600}"/>
              </a:ext>
            </a:extLst>
          </p:cNvPr>
          <p:cNvSpPr>
            <a:spLocks noGrp="1"/>
          </p:cNvSpPr>
          <p:nvPr>
            <p:ph type="title"/>
          </p:nvPr>
        </p:nvSpPr>
        <p:spPr>
          <a:xfrm>
            <a:off x="566058" y="836023"/>
            <a:ext cx="2718788" cy="5183777"/>
          </a:xfrm>
        </p:spPr>
        <p:txBody>
          <a:bodyPr anchor="ctr">
            <a:normAutofit/>
          </a:bodyPr>
          <a:lstStyle/>
          <a:p>
            <a:r>
              <a:rPr lang="en-US" sz="3600" dirty="0">
                <a:solidFill>
                  <a:srgbClr val="FFFFFF"/>
                </a:solidFill>
              </a:rPr>
              <a:t>Problem Statement and Objective	</a:t>
            </a:r>
          </a:p>
        </p:txBody>
      </p:sp>
      <p:graphicFrame>
        <p:nvGraphicFramePr>
          <p:cNvPr id="5" name="Content Placeholder 2">
            <a:extLst>
              <a:ext uri="{FF2B5EF4-FFF2-40B4-BE49-F238E27FC236}">
                <a16:creationId xmlns:a16="http://schemas.microsoft.com/office/drawing/2014/main" id="{83CE0D1A-0352-43BE-AA70-595AB95BA082}"/>
              </a:ext>
            </a:extLst>
          </p:cNvPr>
          <p:cNvGraphicFramePr>
            <a:graphicFrameLocks noGrp="1"/>
          </p:cNvGraphicFramePr>
          <p:nvPr>
            <p:ph idx="1"/>
            <p:extLst>
              <p:ext uri="{D42A27DB-BD31-4B8C-83A1-F6EECF244321}">
                <p14:modId xmlns:p14="http://schemas.microsoft.com/office/powerpoint/2010/main" val="1858905470"/>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9008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C7A67-2D9B-4482-910E-76276C30DB6D}"/>
              </a:ext>
            </a:extLst>
          </p:cNvPr>
          <p:cNvSpPr>
            <a:spLocks noGrp="1"/>
          </p:cNvSpPr>
          <p:nvPr>
            <p:ph type="title"/>
          </p:nvPr>
        </p:nvSpPr>
        <p:spPr>
          <a:xfrm>
            <a:off x="1261872" y="365760"/>
            <a:ext cx="9692640" cy="956603"/>
          </a:xfrm>
        </p:spPr>
        <p:txBody>
          <a:bodyPr>
            <a:normAutofit/>
          </a:bodyPr>
          <a:lstStyle/>
          <a:p>
            <a:r>
              <a:rPr lang="en-US" dirty="0"/>
              <a:t>Data Understanding </a:t>
            </a:r>
          </a:p>
        </p:txBody>
      </p:sp>
      <p:sp>
        <p:nvSpPr>
          <p:cNvPr id="18" name="Content Placeholder 2">
            <a:extLst>
              <a:ext uri="{FF2B5EF4-FFF2-40B4-BE49-F238E27FC236}">
                <a16:creationId xmlns:a16="http://schemas.microsoft.com/office/drawing/2014/main" id="{1F3669F2-D9EA-45BC-A463-62F9D94523CC}"/>
              </a:ext>
            </a:extLst>
          </p:cNvPr>
          <p:cNvSpPr>
            <a:spLocks noGrp="1"/>
          </p:cNvSpPr>
          <p:nvPr>
            <p:ph idx="1"/>
          </p:nvPr>
        </p:nvSpPr>
        <p:spPr>
          <a:xfrm>
            <a:off x="2560321" y="1322364"/>
            <a:ext cx="8394192" cy="5430128"/>
          </a:xfrm>
        </p:spPr>
        <p:txBody>
          <a:bodyPr>
            <a:noAutofit/>
          </a:bodyPr>
          <a:lstStyle/>
          <a:p>
            <a:r>
              <a:rPr lang="en-US" sz="2000" dirty="0">
                <a:latin typeface="Calibri" panose="020F0502020204030204" pitchFamily="34" charset="0"/>
              </a:rPr>
              <a:t>Lead data set which we received . The Lead data set has 37 variables and more than 9000 rows . </a:t>
            </a:r>
          </a:p>
          <a:p>
            <a:r>
              <a:rPr lang="en-US" sz="2000" dirty="0">
                <a:latin typeface="Calibri" panose="020F0502020204030204" pitchFamily="34" charset="0"/>
              </a:rPr>
              <a:t>To find out the different segmentation , consideration of  problem statement and objective, find out each variable significance and how “Converted” is dependent on different pattern, based on this formula we have find out segmentation.</a:t>
            </a:r>
          </a:p>
          <a:p>
            <a:r>
              <a:rPr lang="en-US" sz="2000" dirty="0">
                <a:latin typeface="Calibri" panose="020F0502020204030204" pitchFamily="34" charset="0"/>
              </a:rPr>
              <a:t>Converted is the main variable which we can consider for analysis purpose , along with identified different segmented variables.</a:t>
            </a:r>
          </a:p>
          <a:p>
            <a:r>
              <a:rPr lang="en-US" sz="2000" dirty="0">
                <a:latin typeface="Calibri" panose="020F0502020204030204" pitchFamily="34" charset="0"/>
              </a:rPr>
              <a:t>To understand the significance of each column and importance , data dictionary need to refer. </a:t>
            </a:r>
          </a:p>
          <a:p>
            <a:r>
              <a:rPr lang="en-US" sz="2000" dirty="0">
                <a:latin typeface="Calibri" panose="020F0502020204030204" pitchFamily="34" charset="0"/>
              </a:rPr>
              <a:t>Multiple times we have visited to data set and problem statement to get the more insights from the data . We have identified the Correlation pattern.</a:t>
            </a:r>
          </a:p>
          <a:p>
            <a:r>
              <a:rPr lang="en-US" sz="2000" dirty="0">
                <a:latin typeface="Calibri" panose="020F0502020204030204" pitchFamily="34" charset="0"/>
              </a:rPr>
              <a:t>While segmentation and defining the pattern , we take insights from the variables , which we will consider the same while our modeling purpose.</a:t>
            </a:r>
          </a:p>
        </p:txBody>
      </p:sp>
      <p:pic>
        <p:nvPicPr>
          <p:cNvPr id="7" name="Graphic 6" descr="Database">
            <a:extLst>
              <a:ext uri="{FF2B5EF4-FFF2-40B4-BE49-F238E27FC236}">
                <a16:creationId xmlns:a16="http://schemas.microsoft.com/office/drawing/2014/main" id="{BCC1D8FB-0677-4E7A-898B-1277B4665D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8710" y="1945775"/>
            <a:ext cx="3304622" cy="3304622"/>
          </a:xfrm>
          <a:prstGeom prst="rect">
            <a:avLst/>
          </a:prstGeom>
        </p:spPr>
      </p:pic>
    </p:spTree>
    <p:extLst>
      <p:ext uri="{BB962C8B-B14F-4D97-AF65-F5344CB8AC3E}">
        <p14:creationId xmlns:p14="http://schemas.microsoft.com/office/powerpoint/2010/main" val="3106724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DECF1-A8F1-4674-B0F8-6BC0B76E9050}"/>
              </a:ext>
            </a:extLst>
          </p:cNvPr>
          <p:cNvSpPr>
            <a:spLocks noGrp="1"/>
          </p:cNvSpPr>
          <p:nvPr>
            <p:ph type="title"/>
          </p:nvPr>
        </p:nvSpPr>
        <p:spPr>
          <a:xfrm>
            <a:off x="965198" y="643466"/>
            <a:ext cx="3092718" cy="5528734"/>
          </a:xfrm>
          <a:noFill/>
        </p:spPr>
        <p:txBody>
          <a:bodyPr anchor="ctr">
            <a:normAutofit/>
          </a:bodyPr>
          <a:lstStyle/>
          <a:p>
            <a:pPr algn="ctr">
              <a:lnSpc>
                <a:spcPct val="150000"/>
              </a:lnSpc>
            </a:pPr>
            <a:r>
              <a:rPr lang="en-US" sz="2800" dirty="0">
                <a:solidFill>
                  <a:srgbClr val="FFFFFF"/>
                </a:solidFill>
              </a:rPr>
              <a:t>Data Cleaning and Manipulation</a:t>
            </a:r>
          </a:p>
        </p:txBody>
      </p:sp>
      <p:sp>
        <p:nvSpPr>
          <p:cNvPr id="48" name="Content Placeholder 2">
            <a:extLst>
              <a:ext uri="{FF2B5EF4-FFF2-40B4-BE49-F238E27FC236}">
                <a16:creationId xmlns:a16="http://schemas.microsoft.com/office/drawing/2014/main" id="{1E2C9CD8-9E02-43C2-8F98-BFCE7F64A47C}"/>
              </a:ext>
            </a:extLst>
          </p:cNvPr>
          <p:cNvSpPr>
            <a:spLocks noGrp="1"/>
          </p:cNvSpPr>
          <p:nvPr>
            <p:ph idx="1"/>
          </p:nvPr>
        </p:nvSpPr>
        <p:spPr>
          <a:xfrm>
            <a:off x="4821898" y="168812"/>
            <a:ext cx="6263444" cy="6555545"/>
          </a:xfrm>
        </p:spPr>
        <p:txBody>
          <a:bodyPr>
            <a:noAutofit/>
          </a:bodyPr>
          <a:lstStyle/>
          <a:p>
            <a:r>
              <a:rPr lang="en-US" sz="2000" dirty="0">
                <a:latin typeface="Calibri" panose="020F0502020204030204" pitchFamily="34" charset="0"/>
              </a:rPr>
              <a:t>We have used the </a:t>
            </a:r>
            <a:r>
              <a:rPr lang="en-US" sz="2000" dirty="0" err="1">
                <a:latin typeface="Calibri" panose="020F0502020204030204" pitchFamily="34" charset="0"/>
              </a:rPr>
              <a:t>Jupyter</a:t>
            </a:r>
            <a:r>
              <a:rPr lang="en-US" sz="2000" dirty="0">
                <a:latin typeface="Calibri" panose="020F0502020204030204" pitchFamily="34" charset="0"/>
              </a:rPr>
              <a:t> Python notebook for data cleaning, data mining, modeling, visualization. We have imported the require libraries of Python . Main libraries are – </a:t>
            </a:r>
            <a:r>
              <a:rPr lang="en-US" sz="2000" dirty="0" err="1">
                <a:latin typeface="Calibri" panose="020F0502020204030204" pitchFamily="34" charset="0"/>
              </a:rPr>
              <a:t>Numpy,Pandas</a:t>
            </a:r>
            <a:r>
              <a:rPr lang="en-US" sz="2000" dirty="0">
                <a:latin typeface="Calibri" panose="020F0502020204030204" pitchFamily="34" charset="0"/>
              </a:rPr>
              <a:t>, </a:t>
            </a:r>
            <a:r>
              <a:rPr lang="en-US" sz="2000" dirty="0" err="1">
                <a:latin typeface="Calibri" panose="020F0502020204030204" pitchFamily="34" charset="0"/>
              </a:rPr>
              <a:t>Matplotlib,Seaborn</a:t>
            </a:r>
            <a:r>
              <a:rPr lang="en-US" sz="2000" dirty="0">
                <a:latin typeface="Calibri" panose="020F0502020204030204" pitchFamily="34" charset="0"/>
              </a:rPr>
              <a:t>, </a:t>
            </a:r>
            <a:r>
              <a:rPr lang="en-US" sz="2000" dirty="0" err="1">
                <a:latin typeface="Calibri" panose="020F0502020204030204" pitchFamily="34" charset="0"/>
              </a:rPr>
              <a:t>Sklearn</a:t>
            </a:r>
            <a:r>
              <a:rPr lang="en-US" sz="2000" dirty="0">
                <a:latin typeface="Calibri" panose="020F0502020204030204" pitchFamily="34" charset="0"/>
              </a:rPr>
              <a:t>, </a:t>
            </a:r>
            <a:r>
              <a:rPr lang="en-US" sz="2000" dirty="0" err="1">
                <a:latin typeface="Calibri" panose="020F0502020204030204" pitchFamily="34" charset="0"/>
              </a:rPr>
              <a:t>StandardScaler</a:t>
            </a:r>
            <a:r>
              <a:rPr lang="en-US" sz="2000" dirty="0">
                <a:latin typeface="Calibri" panose="020F0502020204030204" pitchFamily="34" charset="0"/>
              </a:rPr>
              <a:t>, </a:t>
            </a:r>
            <a:r>
              <a:rPr lang="en-US" sz="2000" dirty="0" err="1">
                <a:latin typeface="Calibri" panose="020F0502020204030204" pitchFamily="34" charset="0"/>
              </a:rPr>
              <a:t>Kmeans</a:t>
            </a:r>
            <a:r>
              <a:rPr lang="en-US" sz="2000" dirty="0">
                <a:latin typeface="Calibri" panose="020F0502020204030204" pitchFamily="34" charset="0"/>
              </a:rPr>
              <a:t>, </a:t>
            </a:r>
            <a:r>
              <a:rPr lang="en-US" sz="2000" dirty="0" err="1">
                <a:latin typeface="Calibri" panose="020F0502020204030204" pitchFamily="34" charset="0"/>
              </a:rPr>
              <a:t>silhouette_score</a:t>
            </a:r>
            <a:r>
              <a:rPr lang="en-US" sz="2000" dirty="0">
                <a:latin typeface="Calibri" panose="020F0502020204030204" pitchFamily="34" charset="0"/>
              </a:rPr>
              <a:t>, </a:t>
            </a:r>
            <a:r>
              <a:rPr lang="en-US" sz="2000" dirty="0" err="1">
                <a:latin typeface="Calibri" panose="020F0502020204030204" pitchFamily="34" charset="0"/>
              </a:rPr>
              <a:t>Scipy</a:t>
            </a:r>
            <a:r>
              <a:rPr lang="en-US" sz="2000" dirty="0">
                <a:latin typeface="Calibri" panose="020F0502020204030204" pitchFamily="34" charset="0"/>
              </a:rPr>
              <a:t> etc.</a:t>
            </a:r>
          </a:p>
          <a:p>
            <a:r>
              <a:rPr lang="en-US" sz="2000" dirty="0">
                <a:latin typeface="Calibri" panose="020F0502020204030204" pitchFamily="34" charset="0"/>
              </a:rPr>
              <a:t>Check the basic things like – dimensions, info, null values in the data set etc.</a:t>
            </a:r>
          </a:p>
          <a:p>
            <a:r>
              <a:rPr lang="en-US" sz="2000" dirty="0">
                <a:latin typeface="Calibri" panose="020F0502020204030204" pitchFamily="34" charset="0"/>
              </a:rPr>
              <a:t>We have analyzed the missing values and null values of each variable present in the data set. We found the missing and null values in multiple variables.</a:t>
            </a:r>
          </a:p>
          <a:p>
            <a:r>
              <a:rPr lang="en-US" sz="2000" dirty="0">
                <a:latin typeface="Calibri" panose="020F0502020204030204" pitchFamily="34" charset="0"/>
              </a:rPr>
              <a:t>We have handled the missing values , and if column wouldn’t significance then we dropped too.</a:t>
            </a:r>
          </a:p>
          <a:p>
            <a:r>
              <a:rPr lang="en-US" sz="2000" dirty="0">
                <a:latin typeface="Calibri" panose="020F0502020204030204" pitchFamily="34" charset="0"/>
              </a:rPr>
              <a:t>To handle the missing values for each column , we have continued with this till we would finalize some logical point.</a:t>
            </a:r>
          </a:p>
          <a:p>
            <a:r>
              <a:rPr lang="en-US" sz="2000" dirty="0">
                <a:latin typeface="Calibri" panose="020F0502020204030204" pitchFamily="34" charset="0"/>
              </a:rPr>
              <a:t>During this process we have treat logical string, number for the variable values , those can not be handled during the feature recognition phase.</a:t>
            </a:r>
          </a:p>
        </p:txBody>
      </p:sp>
    </p:spTree>
    <p:extLst>
      <p:ext uri="{BB962C8B-B14F-4D97-AF65-F5344CB8AC3E}">
        <p14:creationId xmlns:p14="http://schemas.microsoft.com/office/powerpoint/2010/main" val="53820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6DFC6-D4D5-4C75-82AF-D497635EA8EF}"/>
              </a:ext>
            </a:extLst>
          </p:cNvPr>
          <p:cNvSpPr>
            <a:spLocks noGrp="1"/>
          </p:cNvSpPr>
          <p:nvPr>
            <p:ph type="title"/>
          </p:nvPr>
        </p:nvSpPr>
        <p:spPr>
          <a:xfrm>
            <a:off x="965198" y="643466"/>
            <a:ext cx="3092718" cy="5528734"/>
          </a:xfrm>
          <a:noFill/>
        </p:spPr>
        <p:txBody>
          <a:bodyPr anchor="ctr">
            <a:normAutofit/>
          </a:bodyPr>
          <a:lstStyle/>
          <a:p>
            <a:r>
              <a:rPr lang="en-US" sz="2800" dirty="0">
                <a:solidFill>
                  <a:srgbClr val="FFFFFF"/>
                </a:solidFill>
              </a:rPr>
              <a:t>Data Cleaning and Manipulation</a:t>
            </a:r>
          </a:p>
        </p:txBody>
      </p:sp>
      <p:sp>
        <p:nvSpPr>
          <p:cNvPr id="3" name="Content Placeholder 2">
            <a:extLst>
              <a:ext uri="{FF2B5EF4-FFF2-40B4-BE49-F238E27FC236}">
                <a16:creationId xmlns:a16="http://schemas.microsoft.com/office/drawing/2014/main" id="{279AE803-FB14-4821-8A8F-3461F9E9FFC3}"/>
              </a:ext>
            </a:extLst>
          </p:cNvPr>
          <p:cNvSpPr>
            <a:spLocks noGrp="1"/>
          </p:cNvSpPr>
          <p:nvPr>
            <p:ph idx="1"/>
          </p:nvPr>
        </p:nvSpPr>
        <p:spPr>
          <a:xfrm>
            <a:off x="4057916" y="337625"/>
            <a:ext cx="7547929" cy="6119445"/>
          </a:xfrm>
        </p:spPr>
        <p:txBody>
          <a:bodyPr>
            <a:normAutofit fontScale="77500" lnSpcReduction="20000"/>
          </a:bodyPr>
          <a:lstStyle/>
          <a:p>
            <a:r>
              <a:rPr lang="en-US" sz="2000" dirty="0">
                <a:latin typeface="Calibri" panose="020F0502020204030204" pitchFamily="34" charset="0"/>
              </a:rPr>
              <a:t>We have handled as below – </a:t>
            </a:r>
          </a:p>
          <a:p>
            <a:endParaRPr lang="en-US" sz="2000" dirty="0">
              <a:latin typeface="Calibri" panose="020F0502020204030204" pitchFamily="34" charset="0"/>
            </a:endParaRPr>
          </a:p>
          <a:p>
            <a:endParaRPr lang="en-US" sz="2000" dirty="0">
              <a:latin typeface="Calibri" panose="020F0502020204030204" pitchFamily="34" charset="0"/>
            </a:endParaRPr>
          </a:p>
          <a:p>
            <a:endParaRPr lang="en-US" sz="2000" dirty="0">
              <a:latin typeface="Calibri" panose="020F0502020204030204" pitchFamily="34" charset="0"/>
            </a:endParaRPr>
          </a:p>
          <a:p>
            <a:endParaRPr lang="en-US" sz="2000" dirty="0">
              <a:latin typeface="Calibri" panose="020F0502020204030204" pitchFamily="34" charset="0"/>
            </a:endParaRPr>
          </a:p>
          <a:p>
            <a:endParaRPr lang="en-US" sz="2000" dirty="0">
              <a:latin typeface="Calibri" panose="020F0502020204030204" pitchFamily="34" charset="0"/>
            </a:endParaRPr>
          </a:p>
          <a:p>
            <a:endParaRPr lang="en-US" sz="2000" dirty="0">
              <a:latin typeface="Calibri" panose="020F0502020204030204" pitchFamily="34" charset="0"/>
            </a:endParaRPr>
          </a:p>
          <a:p>
            <a:r>
              <a:rPr lang="en-US" sz="2000" dirty="0">
                <a:latin typeface="Calibri" panose="020F0502020204030204" pitchFamily="34" charset="0"/>
              </a:rPr>
              <a:t>We have analyzed the variable which would have dependency </a:t>
            </a:r>
          </a:p>
          <a:p>
            <a:pPr marL="0" indent="0">
              <a:buNone/>
            </a:pPr>
            <a:endParaRPr lang="en-US" sz="2000" dirty="0">
              <a:latin typeface="Calibri" panose="020F0502020204030204" pitchFamily="34" charset="0"/>
            </a:endParaRPr>
          </a:p>
          <a:p>
            <a:r>
              <a:rPr lang="en-US" sz="2300" dirty="0">
                <a:latin typeface="Calibri" panose="020F0502020204030204" pitchFamily="34" charset="0"/>
              </a:rPr>
              <a:t>With each other action with regard to Converted variable. The variables which visualized with basic statistic techniques are – Country, </a:t>
            </a:r>
            <a:r>
              <a:rPr lang="en-US" sz="2300" dirty="0" err="1">
                <a:latin typeface="Calibri" panose="020F0502020204030204" pitchFamily="34" charset="0"/>
              </a:rPr>
              <a:t>Specialization,City,Tags</a:t>
            </a:r>
            <a:r>
              <a:rPr lang="en-US" sz="2300" dirty="0">
                <a:latin typeface="Calibri" panose="020F0502020204030204" pitchFamily="34" charset="0"/>
              </a:rPr>
              <a:t>, Lead Quality, What matters most to you in choosing a course, What is your current occupation, </a:t>
            </a:r>
            <a:r>
              <a:rPr lang="en-US" sz="2300" dirty="0" err="1">
                <a:latin typeface="Calibri" panose="020F0502020204030204" pitchFamily="34" charset="0"/>
              </a:rPr>
              <a:t>Asymmetrique</a:t>
            </a:r>
            <a:r>
              <a:rPr lang="en-US" sz="2300" dirty="0">
                <a:latin typeface="Calibri" panose="020F0502020204030204" pitchFamily="34" charset="0"/>
              </a:rPr>
              <a:t> Activity Index, </a:t>
            </a:r>
            <a:r>
              <a:rPr lang="en-US" sz="2300" dirty="0" err="1">
                <a:latin typeface="Calibri" panose="020F0502020204030204" pitchFamily="34" charset="0"/>
              </a:rPr>
              <a:t>Asymmetrique</a:t>
            </a:r>
            <a:r>
              <a:rPr lang="en-US" sz="2300" dirty="0">
                <a:latin typeface="Calibri" panose="020F0502020204030204" pitchFamily="34" charset="0"/>
              </a:rPr>
              <a:t> Profile Index , Last Activity, Page Views Per Visit, </a:t>
            </a:r>
            <a:r>
              <a:rPr lang="en-US" sz="2300" dirty="0" err="1">
                <a:latin typeface="Calibri" panose="020F0502020204030204" pitchFamily="34" charset="0"/>
              </a:rPr>
              <a:t>TotalVisits</a:t>
            </a:r>
            <a:r>
              <a:rPr lang="en-US" sz="2300" dirty="0">
                <a:latin typeface="Calibri" panose="020F0502020204030204" pitchFamily="34" charset="0"/>
              </a:rPr>
              <a:t> etc. Along with the check the indexing as well.</a:t>
            </a:r>
          </a:p>
          <a:p>
            <a:r>
              <a:rPr lang="en-US" sz="2300" dirty="0">
                <a:latin typeface="Calibri" panose="020F0502020204030204" pitchFamily="34" charset="0"/>
              </a:rPr>
              <a:t>We have handled the variables and there values as per business parameters and inferences from statistics. As value represent the average ratio of the resulted values.</a:t>
            </a:r>
          </a:p>
          <a:p>
            <a:r>
              <a:rPr lang="en-US" sz="2300" dirty="0">
                <a:latin typeface="Calibri" panose="020F0502020204030204" pitchFamily="34" charset="0"/>
              </a:rPr>
              <a:t>We have converted the numerical values into categorial variables . For example treat as – Yes/No replaces with 0 and 1.</a:t>
            </a:r>
          </a:p>
          <a:p>
            <a:endParaRPr lang="en-US" sz="2000" dirty="0">
              <a:latin typeface="Calibri" panose="020F0502020204030204" pitchFamily="34" charset="0"/>
            </a:endParaRPr>
          </a:p>
          <a:p>
            <a:endParaRPr lang="en-US" sz="2000" dirty="0">
              <a:latin typeface="Calibri" panose="020F0502020204030204" pitchFamily="34" charset="0"/>
            </a:endParaRPr>
          </a:p>
        </p:txBody>
      </p:sp>
      <p:pic>
        <p:nvPicPr>
          <p:cNvPr id="4" name="Picture 3">
            <a:extLst>
              <a:ext uri="{FF2B5EF4-FFF2-40B4-BE49-F238E27FC236}">
                <a16:creationId xmlns:a16="http://schemas.microsoft.com/office/drawing/2014/main" id="{3AC33221-F4EE-4EE4-8E09-20FC4653BC0D}"/>
              </a:ext>
            </a:extLst>
          </p:cNvPr>
          <p:cNvPicPr>
            <a:picLocks noChangeAspect="1"/>
          </p:cNvPicPr>
          <p:nvPr/>
        </p:nvPicPr>
        <p:blipFill>
          <a:blip r:embed="rId2"/>
          <a:stretch>
            <a:fillRect/>
          </a:stretch>
        </p:blipFill>
        <p:spPr>
          <a:xfrm>
            <a:off x="4830310" y="643466"/>
            <a:ext cx="5954517" cy="1804312"/>
          </a:xfrm>
          <a:prstGeom prst="rect">
            <a:avLst/>
          </a:prstGeom>
        </p:spPr>
      </p:pic>
    </p:spTree>
    <p:extLst>
      <p:ext uri="{BB962C8B-B14F-4D97-AF65-F5344CB8AC3E}">
        <p14:creationId xmlns:p14="http://schemas.microsoft.com/office/powerpoint/2010/main" val="3980341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6B225-7F46-49BF-90D8-74F64D8780AC}"/>
              </a:ext>
            </a:extLst>
          </p:cNvPr>
          <p:cNvSpPr>
            <a:spLocks noGrp="1"/>
          </p:cNvSpPr>
          <p:nvPr>
            <p:ph type="title"/>
          </p:nvPr>
        </p:nvSpPr>
        <p:spPr/>
        <p:txBody>
          <a:bodyPr/>
          <a:lstStyle/>
          <a:p>
            <a:r>
              <a:rPr lang="en-US" dirty="0"/>
              <a:t>Data Cleaning and Manipulation</a:t>
            </a:r>
          </a:p>
        </p:txBody>
      </p:sp>
      <p:sp>
        <p:nvSpPr>
          <p:cNvPr id="3" name="Content Placeholder 2">
            <a:extLst>
              <a:ext uri="{FF2B5EF4-FFF2-40B4-BE49-F238E27FC236}">
                <a16:creationId xmlns:a16="http://schemas.microsoft.com/office/drawing/2014/main" id="{D285A1EF-C3DF-4F2C-AF24-E81211847E6F}"/>
              </a:ext>
            </a:extLst>
          </p:cNvPr>
          <p:cNvSpPr>
            <a:spLocks noGrp="1"/>
          </p:cNvSpPr>
          <p:nvPr>
            <p:ph idx="1"/>
          </p:nvPr>
        </p:nvSpPr>
        <p:spPr>
          <a:xfrm>
            <a:off x="500253" y="1828800"/>
            <a:ext cx="10571021" cy="4351337"/>
          </a:xfrm>
        </p:spPr>
        <p:txBody>
          <a:bodyPr/>
          <a:lstStyle/>
          <a:p>
            <a:r>
              <a:rPr lang="en-US" sz="2000" dirty="0">
                <a:latin typeface="Calibri" panose="020F0502020204030204" pitchFamily="34" charset="0"/>
              </a:rPr>
              <a:t>We have defined the selected dummy variable , concatenated them with original </a:t>
            </a:r>
            <a:r>
              <a:rPr lang="en-US" sz="2000" dirty="0" err="1">
                <a:latin typeface="Calibri" panose="020F0502020204030204" pitchFamily="34" charset="0"/>
              </a:rPr>
              <a:t>dataframe</a:t>
            </a:r>
            <a:r>
              <a:rPr lang="en-US" sz="2000" dirty="0">
                <a:latin typeface="Calibri" panose="020F0502020204030204" pitchFamily="34" charset="0"/>
              </a:rPr>
              <a:t> and then dropped original variables. The same handled in below code –</a:t>
            </a:r>
          </a:p>
          <a:p>
            <a:endParaRPr lang="en-US" dirty="0"/>
          </a:p>
          <a:p>
            <a:endParaRPr lang="en-US" dirty="0"/>
          </a:p>
          <a:p>
            <a:endParaRPr lang="en-US" dirty="0"/>
          </a:p>
          <a:p>
            <a:endParaRPr lang="en-US" dirty="0"/>
          </a:p>
          <a:p>
            <a:endParaRPr lang="en-US" dirty="0"/>
          </a:p>
          <a:p>
            <a:r>
              <a:rPr lang="en-US" dirty="0"/>
              <a:t> </a:t>
            </a:r>
            <a:r>
              <a:rPr lang="en-US" sz="2000" dirty="0">
                <a:latin typeface="Calibri" panose="020F0502020204030204" pitchFamily="34" charset="0"/>
              </a:rPr>
              <a:t>We have checked the data set with Prospect ID to validate the operations which we performed earlier , impacted on the data set or not , and the same is impacted as below -</a:t>
            </a:r>
          </a:p>
          <a:p>
            <a:endParaRPr lang="en-US" dirty="0"/>
          </a:p>
        </p:txBody>
      </p:sp>
      <p:pic>
        <p:nvPicPr>
          <p:cNvPr id="4" name="Picture 3">
            <a:extLst>
              <a:ext uri="{FF2B5EF4-FFF2-40B4-BE49-F238E27FC236}">
                <a16:creationId xmlns:a16="http://schemas.microsoft.com/office/drawing/2014/main" id="{0A0BFB5E-97DE-44AC-B768-C3B8BAF162A1}"/>
              </a:ext>
            </a:extLst>
          </p:cNvPr>
          <p:cNvPicPr>
            <a:picLocks noChangeAspect="1"/>
          </p:cNvPicPr>
          <p:nvPr/>
        </p:nvPicPr>
        <p:blipFill>
          <a:blip r:embed="rId2"/>
          <a:stretch>
            <a:fillRect/>
          </a:stretch>
        </p:blipFill>
        <p:spPr>
          <a:xfrm>
            <a:off x="500253" y="2560320"/>
            <a:ext cx="10429875" cy="2053883"/>
          </a:xfrm>
          <a:prstGeom prst="rect">
            <a:avLst/>
          </a:prstGeom>
        </p:spPr>
      </p:pic>
    </p:spTree>
    <p:extLst>
      <p:ext uri="{BB962C8B-B14F-4D97-AF65-F5344CB8AC3E}">
        <p14:creationId xmlns:p14="http://schemas.microsoft.com/office/powerpoint/2010/main" val="355133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D819E-EFB3-45C3-9AC9-9E7B8EE55889}"/>
              </a:ext>
            </a:extLst>
          </p:cNvPr>
          <p:cNvSpPr>
            <a:spLocks noGrp="1"/>
          </p:cNvSpPr>
          <p:nvPr>
            <p:ph type="title"/>
          </p:nvPr>
        </p:nvSpPr>
        <p:spPr>
          <a:xfrm>
            <a:off x="1261872" y="365760"/>
            <a:ext cx="9692640" cy="914400"/>
          </a:xfrm>
        </p:spPr>
        <p:txBody>
          <a:bodyPr/>
          <a:lstStyle/>
          <a:p>
            <a:r>
              <a:rPr lang="en-US" dirty="0"/>
              <a:t>Data Cleaning and Manipulation</a:t>
            </a:r>
          </a:p>
        </p:txBody>
      </p:sp>
      <p:pic>
        <p:nvPicPr>
          <p:cNvPr id="4" name="Content Placeholder 3">
            <a:extLst>
              <a:ext uri="{FF2B5EF4-FFF2-40B4-BE49-F238E27FC236}">
                <a16:creationId xmlns:a16="http://schemas.microsoft.com/office/drawing/2014/main" id="{D501FE9D-7ECE-4F47-B855-6C899A89FE2E}"/>
              </a:ext>
            </a:extLst>
          </p:cNvPr>
          <p:cNvPicPr>
            <a:picLocks noGrp="1" noChangeAspect="1"/>
          </p:cNvPicPr>
          <p:nvPr>
            <p:ph idx="1"/>
          </p:nvPr>
        </p:nvPicPr>
        <p:blipFill>
          <a:blip r:embed="rId2"/>
          <a:stretch>
            <a:fillRect/>
          </a:stretch>
        </p:blipFill>
        <p:spPr>
          <a:xfrm>
            <a:off x="477012" y="1378634"/>
            <a:ext cx="10477500" cy="5113606"/>
          </a:xfrm>
          <a:prstGeom prst="rect">
            <a:avLst/>
          </a:prstGeom>
        </p:spPr>
      </p:pic>
    </p:spTree>
    <p:extLst>
      <p:ext uri="{BB962C8B-B14F-4D97-AF65-F5344CB8AC3E}">
        <p14:creationId xmlns:p14="http://schemas.microsoft.com/office/powerpoint/2010/main" val="3499590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8F67A-3119-48E5-B6FF-A74CF28C24F1}"/>
              </a:ext>
            </a:extLst>
          </p:cNvPr>
          <p:cNvSpPr>
            <a:spLocks noGrp="1"/>
          </p:cNvSpPr>
          <p:nvPr>
            <p:ph type="title"/>
          </p:nvPr>
        </p:nvSpPr>
        <p:spPr/>
        <p:txBody>
          <a:bodyPr/>
          <a:lstStyle/>
          <a:p>
            <a:r>
              <a:rPr lang="en-US" dirty="0"/>
              <a:t>Data Cleaning and Manipulation</a:t>
            </a:r>
          </a:p>
        </p:txBody>
      </p:sp>
      <p:sp>
        <p:nvSpPr>
          <p:cNvPr id="3" name="Content Placeholder 2">
            <a:extLst>
              <a:ext uri="{FF2B5EF4-FFF2-40B4-BE49-F238E27FC236}">
                <a16:creationId xmlns:a16="http://schemas.microsoft.com/office/drawing/2014/main" id="{7C0824C3-825A-4263-B937-9AD2B0941DC0}"/>
              </a:ext>
            </a:extLst>
          </p:cNvPr>
          <p:cNvSpPr>
            <a:spLocks noGrp="1"/>
          </p:cNvSpPr>
          <p:nvPr>
            <p:ph idx="1"/>
          </p:nvPr>
        </p:nvSpPr>
        <p:spPr>
          <a:xfrm>
            <a:off x="464234" y="1828800"/>
            <a:ext cx="10490278" cy="4351337"/>
          </a:xfrm>
        </p:spPr>
        <p:txBody>
          <a:bodyPr>
            <a:normAutofit/>
          </a:bodyPr>
          <a:lstStyle/>
          <a:p>
            <a:r>
              <a:rPr lang="en-US" sz="2000" dirty="0">
                <a:latin typeface="Calibri" panose="020F0502020204030204" pitchFamily="34" charset="0"/>
              </a:rPr>
              <a:t>We have initiated the </a:t>
            </a:r>
            <a:r>
              <a:rPr lang="en-US" sz="2000" dirty="0" err="1">
                <a:latin typeface="Calibri" panose="020F0502020204030204" pitchFamily="34" charset="0"/>
              </a:rPr>
              <a:t>Oulier</a:t>
            </a:r>
            <a:r>
              <a:rPr lang="en-US" sz="2000" dirty="0">
                <a:latin typeface="Calibri" panose="020F0502020204030204" pitchFamily="34" charset="0"/>
              </a:rPr>
              <a:t> treatment for the variables like – Lead Number, Converted, </a:t>
            </a:r>
            <a:r>
              <a:rPr lang="en-US" sz="2000" dirty="0" err="1">
                <a:latin typeface="Calibri" panose="020F0502020204030204" pitchFamily="34" charset="0"/>
              </a:rPr>
              <a:t>TotalVisits</a:t>
            </a:r>
            <a:r>
              <a:rPr lang="en-US" sz="2000" dirty="0">
                <a:latin typeface="Calibri" panose="020F0502020204030204" pitchFamily="34" charset="0"/>
              </a:rPr>
              <a:t>, Total Time Spent on Website, Page Views Per Visit, </a:t>
            </a:r>
            <a:r>
              <a:rPr lang="en-US" sz="2000" dirty="0" err="1">
                <a:latin typeface="Calibri" panose="020F0502020204030204" pitchFamily="34" charset="0"/>
              </a:rPr>
              <a:t>Asymmetrique</a:t>
            </a:r>
            <a:r>
              <a:rPr lang="en-US" sz="2000" dirty="0">
                <a:latin typeface="Calibri" panose="020F0502020204030204" pitchFamily="34" charset="0"/>
              </a:rPr>
              <a:t> Activity Score, </a:t>
            </a:r>
            <a:r>
              <a:rPr lang="en-US" sz="2000" dirty="0" err="1">
                <a:latin typeface="Calibri" panose="020F0502020204030204" pitchFamily="34" charset="0"/>
              </a:rPr>
              <a:t>Asymmetrique</a:t>
            </a:r>
            <a:r>
              <a:rPr lang="en-US" sz="2000" dirty="0">
                <a:latin typeface="Calibri" panose="020F0502020204030204" pitchFamily="34" charset="0"/>
              </a:rPr>
              <a:t> Profile Score, A free copy of Mastering The Interview.</a:t>
            </a:r>
          </a:p>
          <a:p>
            <a:r>
              <a:rPr lang="en-US" sz="2000" dirty="0">
                <a:latin typeface="Calibri" panose="020F0502020204030204" pitchFamily="34" charset="0"/>
              </a:rPr>
              <a:t>We have analyzed the for above mentioned variables provide different results , but some of the variables have outlier with small number of differences , consideration of whisker and each observed each quartile ratio.</a:t>
            </a:r>
          </a:p>
          <a:p>
            <a:r>
              <a:rPr lang="en-US" sz="2000" dirty="0" err="1">
                <a:latin typeface="Calibri" panose="020F0502020204030204" pitchFamily="34" charset="0"/>
              </a:rPr>
              <a:t>Asymmetrique</a:t>
            </a:r>
            <a:r>
              <a:rPr lang="en-US" sz="2000" dirty="0">
                <a:latin typeface="Calibri" panose="020F0502020204030204" pitchFamily="34" charset="0"/>
              </a:rPr>
              <a:t> Profile and </a:t>
            </a:r>
            <a:r>
              <a:rPr lang="en-US" sz="2000" dirty="0" err="1">
                <a:latin typeface="Calibri" panose="020F0502020204030204" pitchFamily="34" charset="0"/>
              </a:rPr>
              <a:t>Asymmetrique</a:t>
            </a:r>
            <a:r>
              <a:rPr lang="en-US" sz="2000" dirty="0">
                <a:latin typeface="Calibri" panose="020F0502020204030204" pitchFamily="34" charset="0"/>
              </a:rPr>
              <a:t> Activity has similar outlier , the same can find with </a:t>
            </a:r>
            <a:r>
              <a:rPr lang="en-US" sz="2000" dirty="0" err="1">
                <a:latin typeface="Calibri" panose="020F0502020204030204" pitchFamily="34" charset="0"/>
              </a:rPr>
              <a:t>TotalVisits</a:t>
            </a:r>
            <a:r>
              <a:rPr lang="en-US" sz="2000" dirty="0">
                <a:latin typeface="Calibri" panose="020F0502020204030204" pitchFamily="34" charset="0"/>
              </a:rPr>
              <a:t>, Page Views Per Visit etc.</a:t>
            </a:r>
          </a:p>
          <a:p>
            <a:r>
              <a:rPr lang="en-US" sz="2000" dirty="0">
                <a:latin typeface="Calibri" panose="020F0502020204030204" pitchFamily="34" charset="0"/>
              </a:rPr>
              <a:t>Lead Number has the median outlier within the range of 61 to 62.</a:t>
            </a:r>
          </a:p>
          <a:p>
            <a:r>
              <a:rPr lang="en-US" sz="2000" dirty="0">
                <a:latin typeface="Calibri" panose="020F0502020204030204" pitchFamily="34" charset="0"/>
              </a:rPr>
              <a:t>After this we have rechecked the dimensions of the data.</a:t>
            </a:r>
          </a:p>
        </p:txBody>
      </p:sp>
    </p:spTree>
    <p:extLst>
      <p:ext uri="{BB962C8B-B14F-4D97-AF65-F5344CB8AC3E}">
        <p14:creationId xmlns:p14="http://schemas.microsoft.com/office/powerpoint/2010/main" val="3576502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47B0E-9A5C-4E54-A4F8-A6D7ADE9E98D}"/>
              </a:ext>
            </a:extLst>
          </p:cNvPr>
          <p:cNvSpPr>
            <a:spLocks noGrp="1"/>
          </p:cNvSpPr>
          <p:nvPr>
            <p:ph type="title"/>
          </p:nvPr>
        </p:nvSpPr>
        <p:spPr/>
        <p:txBody>
          <a:bodyPr>
            <a:normAutofit/>
          </a:bodyPr>
          <a:lstStyle/>
          <a:p>
            <a:r>
              <a:rPr lang="en-US" dirty="0"/>
              <a:t>Feature Standardization and Split Data into Train and Test Sets</a:t>
            </a:r>
          </a:p>
        </p:txBody>
      </p:sp>
      <p:sp>
        <p:nvSpPr>
          <p:cNvPr id="3" name="Content Placeholder 2">
            <a:extLst>
              <a:ext uri="{FF2B5EF4-FFF2-40B4-BE49-F238E27FC236}">
                <a16:creationId xmlns:a16="http://schemas.microsoft.com/office/drawing/2014/main" id="{58753CED-1DDE-4CC7-ABEE-93E22185CF98}"/>
              </a:ext>
            </a:extLst>
          </p:cNvPr>
          <p:cNvSpPr>
            <a:spLocks noGrp="1"/>
          </p:cNvSpPr>
          <p:nvPr>
            <p:ph idx="1"/>
          </p:nvPr>
        </p:nvSpPr>
        <p:spPr>
          <a:xfrm>
            <a:off x="365760" y="1828800"/>
            <a:ext cx="10775852" cy="4663440"/>
          </a:xfrm>
        </p:spPr>
        <p:txBody>
          <a:bodyPr>
            <a:normAutofit/>
          </a:bodyPr>
          <a:lstStyle/>
          <a:p>
            <a:r>
              <a:rPr lang="en-US" dirty="0"/>
              <a:t>We have then applied the Feature Standardization- Normalized  on continuous variables and splitting the data into train and test sets –</a:t>
            </a:r>
          </a:p>
          <a:p>
            <a:endParaRPr lang="en-US" dirty="0"/>
          </a:p>
          <a:p>
            <a:endParaRPr lang="en-US" dirty="0"/>
          </a:p>
          <a:p>
            <a:endParaRPr lang="en-US" dirty="0"/>
          </a:p>
          <a:p>
            <a:endParaRPr lang="en-US" dirty="0"/>
          </a:p>
          <a:p>
            <a:endParaRPr lang="en-US" dirty="0"/>
          </a:p>
          <a:p>
            <a:endParaRPr lang="en-US" dirty="0"/>
          </a:p>
          <a:p>
            <a:endParaRPr lang="en-US" dirty="0"/>
          </a:p>
          <a:p>
            <a:r>
              <a:rPr lang="en-US" dirty="0"/>
              <a:t> We have then defined the “Converted” variable for y, and then split the data into train and test data .</a:t>
            </a:r>
          </a:p>
          <a:p>
            <a:pPr marL="0" indent="0">
              <a:buNone/>
            </a:pPr>
            <a:endParaRPr lang="en-US" dirty="0"/>
          </a:p>
          <a:p>
            <a:endParaRPr lang="en-US" dirty="0"/>
          </a:p>
        </p:txBody>
      </p:sp>
      <p:pic>
        <p:nvPicPr>
          <p:cNvPr id="4" name="Picture 3">
            <a:extLst>
              <a:ext uri="{FF2B5EF4-FFF2-40B4-BE49-F238E27FC236}">
                <a16:creationId xmlns:a16="http://schemas.microsoft.com/office/drawing/2014/main" id="{6FCC164C-70A1-4A74-B6ED-F9BFDB2F25EB}"/>
              </a:ext>
            </a:extLst>
          </p:cNvPr>
          <p:cNvPicPr>
            <a:picLocks noChangeAspect="1"/>
          </p:cNvPicPr>
          <p:nvPr/>
        </p:nvPicPr>
        <p:blipFill>
          <a:blip r:embed="rId2"/>
          <a:stretch>
            <a:fillRect/>
          </a:stretch>
        </p:blipFill>
        <p:spPr>
          <a:xfrm>
            <a:off x="914400" y="2532185"/>
            <a:ext cx="9158068" cy="3010486"/>
          </a:xfrm>
          <a:prstGeom prst="rect">
            <a:avLst/>
          </a:prstGeom>
        </p:spPr>
      </p:pic>
    </p:spTree>
    <p:extLst>
      <p:ext uri="{BB962C8B-B14F-4D97-AF65-F5344CB8AC3E}">
        <p14:creationId xmlns:p14="http://schemas.microsoft.com/office/powerpoint/2010/main" val="886061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DB7DB-1195-4BCF-AE43-04D66ECCB9D0}"/>
              </a:ext>
            </a:extLst>
          </p:cNvPr>
          <p:cNvSpPr>
            <a:spLocks noGrp="1"/>
          </p:cNvSpPr>
          <p:nvPr>
            <p:ph type="title"/>
          </p:nvPr>
        </p:nvSpPr>
        <p:spPr>
          <a:xfrm>
            <a:off x="154745" y="365760"/>
            <a:ext cx="10799767" cy="1325562"/>
          </a:xfrm>
        </p:spPr>
        <p:txBody>
          <a:bodyPr>
            <a:normAutofit fontScale="90000"/>
          </a:bodyPr>
          <a:lstStyle/>
          <a:p>
            <a:r>
              <a:rPr lang="en-US" dirty="0"/>
              <a:t>Feature Standardization and Split Data into Train and Test Sets</a:t>
            </a:r>
          </a:p>
        </p:txBody>
      </p:sp>
      <p:pic>
        <p:nvPicPr>
          <p:cNvPr id="4" name="Content Placeholder 3">
            <a:extLst>
              <a:ext uri="{FF2B5EF4-FFF2-40B4-BE49-F238E27FC236}">
                <a16:creationId xmlns:a16="http://schemas.microsoft.com/office/drawing/2014/main" id="{0F5A2C83-B224-4A36-8F77-13C24C38D37A}"/>
              </a:ext>
            </a:extLst>
          </p:cNvPr>
          <p:cNvPicPr>
            <a:picLocks noGrp="1" noChangeAspect="1"/>
          </p:cNvPicPr>
          <p:nvPr>
            <p:ph idx="1"/>
          </p:nvPr>
        </p:nvPicPr>
        <p:blipFill>
          <a:blip r:embed="rId2"/>
          <a:stretch>
            <a:fillRect/>
          </a:stretch>
        </p:blipFill>
        <p:spPr>
          <a:xfrm>
            <a:off x="338767" y="1691322"/>
            <a:ext cx="10431721" cy="4800918"/>
          </a:xfrm>
          <a:prstGeom prst="rect">
            <a:avLst/>
          </a:prstGeom>
        </p:spPr>
      </p:pic>
    </p:spTree>
    <p:extLst>
      <p:ext uri="{BB962C8B-B14F-4D97-AF65-F5344CB8AC3E}">
        <p14:creationId xmlns:p14="http://schemas.microsoft.com/office/powerpoint/2010/main" val="2564291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0D621-5256-4655-B4C3-A640C3CBEE9C}"/>
              </a:ext>
            </a:extLst>
          </p:cNvPr>
          <p:cNvSpPr>
            <a:spLocks noGrp="1"/>
          </p:cNvSpPr>
          <p:nvPr>
            <p:ph type="title"/>
          </p:nvPr>
        </p:nvSpPr>
        <p:spPr/>
        <p:txBody>
          <a:bodyPr>
            <a:normAutofit/>
          </a:bodyPr>
          <a:lstStyle/>
          <a:p>
            <a:r>
              <a:rPr lang="en-US" dirty="0"/>
              <a:t>Feature Standardization and Split Data into Train and Test Sets</a:t>
            </a:r>
          </a:p>
        </p:txBody>
      </p:sp>
      <p:sp>
        <p:nvSpPr>
          <p:cNvPr id="3" name="Content Placeholder 2">
            <a:extLst>
              <a:ext uri="{FF2B5EF4-FFF2-40B4-BE49-F238E27FC236}">
                <a16:creationId xmlns:a16="http://schemas.microsoft.com/office/drawing/2014/main" id="{12888D3C-DC47-4ECC-96E5-0A2226478EFA}"/>
              </a:ext>
            </a:extLst>
          </p:cNvPr>
          <p:cNvSpPr>
            <a:spLocks noGrp="1"/>
          </p:cNvSpPr>
          <p:nvPr>
            <p:ph idx="1"/>
          </p:nvPr>
        </p:nvSpPr>
        <p:spPr>
          <a:xfrm>
            <a:off x="422031" y="1828800"/>
            <a:ext cx="10532479" cy="4663440"/>
          </a:xfrm>
        </p:spPr>
        <p:txBody>
          <a:bodyPr>
            <a:normAutofit fontScale="85000" lnSpcReduction="20000"/>
          </a:bodyPr>
          <a:lstStyle/>
          <a:p>
            <a:r>
              <a:rPr lang="en-US" dirty="0"/>
              <a:t>After executing the code mentioned in above slide , below results occurred.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We have then checked the Correlation matrix of variables using heatmap. Observed and analyzed the heatmap and identified the variables which are highly correlated, no correlation and </a:t>
            </a:r>
            <a:r>
              <a:rPr lang="en-US" dirty="0" err="1"/>
              <a:t>netural</a:t>
            </a:r>
            <a:r>
              <a:rPr lang="en-US" dirty="0"/>
              <a:t>  correlation .</a:t>
            </a:r>
          </a:p>
          <a:p>
            <a:pPr marL="0" indent="0">
              <a:buNone/>
            </a:pPr>
            <a:r>
              <a:rPr lang="en-US" dirty="0"/>
              <a:t> </a:t>
            </a:r>
          </a:p>
          <a:p>
            <a:endParaRPr lang="en-US" dirty="0"/>
          </a:p>
        </p:txBody>
      </p:sp>
      <p:pic>
        <p:nvPicPr>
          <p:cNvPr id="4" name="Picture 3">
            <a:extLst>
              <a:ext uri="{FF2B5EF4-FFF2-40B4-BE49-F238E27FC236}">
                <a16:creationId xmlns:a16="http://schemas.microsoft.com/office/drawing/2014/main" id="{71FF48F3-57D5-43E3-A8D7-928102F8700E}"/>
              </a:ext>
            </a:extLst>
          </p:cNvPr>
          <p:cNvPicPr>
            <a:picLocks noChangeAspect="1"/>
          </p:cNvPicPr>
          <p:nvPr/>
        </p:nvPicPr>
        <p:blipFill>
          <a:blip r:embed="rId2"/>
          <a:stretch>
            <a:fillRect/>
          </a:stretch>
        </p:blipFill>
        <p:spPr>
          <a:xfrm>
            <a:off x="646674" y="2208628"/>
            <a:ext cx="9988501" cy="2912012"/>
          </a:xfrm>
          <a:prstGeom prst="rect">
            <a:avLst/>
          </a:prstGeom>
        </p:spPr>
      </p:pic>
    </p:spTree>
    <p:extLst>
      <p:ext uri="{BB962C8B-B14F-4D97-AF65-F5344CB8AC3E}">
        <p14:creationId xmlns:p14="http://schemas.microsoft.com/office/powerpoint/2010/main" val="4121703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9EFAA-9096-4391-8568-A93C1993A237}"/>
              </a:ext>
            </a:extLst>
          </p:cNvPr>
          <p:cNvSpPr>
            <a:spLocks noGrp="1"/>
          </p:cNvSpPr>
          <p:nvPr>
            <p:ph type="title"/>
          </p:nvPr>
        </p:nvSpPr>
        <p:spPr>
          <a:xfrm>
            <a:off x="604911" y="219270"/>
            <a:ext cx="9692640" cy="1325562"/>
          </a:xfrm>
        </p:spPr>
        <p:txBody>
          <a:bodyPr/>
          <a:lstStyle/>
          <a:p>
            <a:r>
              <a:rPr lang="en-US" dirty="0"/>
              <a:t>Model Building	</a:t>
            </a:r>
          </a:p>
        </p:txBody>
      </p:sp>
      <p:sp>
        <p:nvSpPr>
          <p:cNvPr id="3" name="Content Placeholder 2">
            <a:extLst>
              <a:ext uri="{FF2B5EF4-FFF2-40B4-BE49-F238E27FC236}">
                <a16:creationId xmlns:a16="http://schemas.microsoft.com/office/drawing/2014/main" id="{04138557-2420-44CE-A3D1-FCCF758A351C}"/>
              </a:ext>
            </a:extLst>
          </p:cNvPr>
          <p:cNvSpPr>
            <a:spLocks noGrp="1"/>
          </p:cNvSpPr>
          <p:nvPr>
            <p:ph idx="1"/>
          </p:nvPr>
        </p:nvSpPr>
        <p:spPr>
          <a:xfrm>
            <a:off x="604911" y="1041010"/>
            <a:ext cx="10349601" cy="4855160"/>
          </a:xfrm>
        </p:spPr>
        <p:txBody>
          <a:bodyPr/>
          <a:lstStyle/>
          <a:p>
            <a:r>
              <a:rPr lang="en-US" dirty="0"/>
              <a:t>We have </a:t>
            </a:r>
            <a:r>
              <a:rPr lang="en-US" dirty="0" err="1"/>
              <a:t>initated</a:t>
            </a:r>
            <a:r>
              <a:rPr lang="en-US" dirty="0"/>
              <a:t> modeling and executed the first Logistic Regression Model. We have observed the output of the model for different variables. The basic parameter like – Z , </a:t>
            </a:r>
            <a:r>
              <a:rPr lang="en-US" dirty="0" err="1"/>
              <a:t>Std.err</a:t>
            </a:r>
            <a:r>
              <a:rPr lang="en-US" dirty="0"/>
              <a:t>., P &gt;|z|, and 0.025, 0.975 need to considered. The main parameter would be the </a:t>
            </a:r>
            <a:r>
              <a:rPr lang="en-US" dirty="0" err="1"/>
              <a:t>Std.err</a:t>
            </a:r>
            <a:r>
              <a:rPr lang="en-US" dirty="0"/>
              <a:t>, Z score and P value. </a:t>
            </a:r>
          </a:p>
          <a:p>
            <a:r>
              <a:rPr lang="en-US" dirty="0"/>
              <a:t>While looking into the results and parameters , we identified that many variables have values greater than 0.5 for P value , also some of the variables have the Std error which more than expected. Z score is also not fulfilling the criteria and goes beyond , so we would go to next step to refine the variables .</a:t>
            </a:r>
          </a:p>
        </p:txBody>
      </p:sp>
      <p:pic>
        <p:nvPicPr>
          <p:cNvPr id="4" name="Picture 3">
            <a:extLst>
              <a:ext uri="{FF2B5EF4-FFF2-40B4-BE49-F238E27FC236}">
                <a16:creationId xmlns:a16="http://schemas.microsoft.com/office/drawing/2014/main" id="{CC73EABE-6636-4D21-B184-649E3D1F4994}"/>
              </a:ext>
            </a:extLst>
          </p:cNvPr>
          <p:cNvPicPr>
            <a:picLocks noChangeAspect="1"/>
          </p:cNvPicPr>
          <p:nvPr/>
        </p:nvPicPr>
        <p:blipFill>
          <a:blip r:embed="rId2"/>
          <a:stretch>
            <a:fillRect/>
          </a:stretch>
        </p:blipFill>
        <p:spPr>
          <a:xfrm>
            <a:off x="912289" y="3896750"/>
            <a:ext cx="9734843" cy="2756048"/>
          </a:xfrm>
          <a:prstGeom prst="rect">
            <a:avLst/>
          </a:prstGeom>
        </p:spPr>
      </p:pic>
    </p:spTree>
    <p:extLst>
      <p:ext uri="{BB962C8B-B14F-4D97-AF65-F5344CB8AC3E}">
        <p14:creationId xmlns:p14="http://schemas.microsoft.com/office/powerpoint/2010/main" val="43124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723F3-3A70-4DA8-9C9D-FA5D2216547A}"/>
              </a:ext>
            </a:extLst>
          </p:cNvPr>
          <p:cNvSpPr>
            <a:spLocks noGrp="1"/>
          </p:cNvSpPr>
          <p:nvPr>
            <p:ph type="title"/>
          </p:nvPr>
        </p:nvSpPr>
        <p:spPr>
          <a:xfrm>
            <a:off x="347471" y="239151"/>
            <a:ext cx="10490277" cy="1325562"/>
          </a:xfrm>
        </p:spPr>
        <p:txBody>
          <a:bodyPr/>
          <a:lstStyle/>
          <a:p>
            <a:r>
              <a:rPr lang="en-US" dirty="0"/>
              <a:t>Feature Selection Using RFE</a:t>
            </a:r>
          </a:p>
        </p:txBody>
      </p:sp>
      <p:sp>
        <p:nvSpPr>
          <p:cNvPr id="3" name="Content Placeholder 2">
            <a:extLst>
              <a:ext uri="{FF2B5EF4-FFF2-40B4-BE49-F238E27FC236}">
                <a16:creationId xmlns:a16="http://schemas.microsoft.com/office/drawing/2014/main" id="{CB4F20B3-DE98-4AEA-AD57-502A94DD15DA}"/>
              </a:ext>
            </a:extLst>
          </p:cNvPr>
          <p:cNvSpPr>
            <a:spLocks noGrp="1"/>
          </p:cNvSpPr>
          <p:nvPr>
            <p:ph idx="1"/>
          </p:nvPr>
        </p:nvSpPr>
        <p:spPr>
          <a:xfrm>
            <a:off x="464234" y="1828800"/>
            <a:ext cx="10490278" cy="4351337"/>
          </a:xfrm>
        </p:spPr>
        <p:txBody>
          <a:bodyPr>
            <a:normAutofit fontScale="92500" lnSpcReduction="20000"/>
          </a:bodyPr>
          <a:lstStyle/>
          <a:p>
            <a:r>
              <a:rPr lang="en-US" dirty="0"/>
              <a:t>As we have found that the first model not giving the insights which we are expecting, hence we have initiating the RFE on variables for elimination purpose.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Defined the list of columns using Zip  and defined. </a:t>
            </a:r>
          </a:p>
          <a:p>
            <a:endParaRPr lang="en-US" dirty="0"/>
          </a:p>
        </p:txBody>
      </p:sp>
      <p:pic>
        <p:nvPicPr>
          <p:cNvPr id="4" name="Picture 3">
            <a:extLst>
              <a:ext uri="{FF2B5EF4-FFF2-40B4-BE49-F238E27FC236}">
                <a16:creationId xmlns:a16="http://schemas.microsoft.com/office/drawing/2014/main" id="{051FF7D5-968B-4661-A155-82A6D6A2B3D8}"/>
              </a:ext>
            </a:extLst>
          </p:cNvPr>
          <p:cNvPicPr>
            <a:picLocks noChangeAspect="1"/>
          </p:cNvPicPr>
          <p:nvPr/>
        </p:nvPicPr>
        <p:blipFill>
          <a:blip r:embed="rId2"/>
          <a:stretch>
            <a:fillRect/>
          </a:stretch>
        </p:blipFill>
        <p:spPr>
          <a:xfrm>
            <a:off x="712909" y="2370930"/>
            <a:ext cx="9753453" cy="3267075"/>
          </a:xfrm>
          <a:prstGeom prst="rect">
            <a:avLst/>
          </a:prstGeom>
        </p:spPr>
      </p:pic>
    </p:spTree>
    <p:extLst>
      <p:ext uri="{BB962C8B-B14F-4D97-AF65-F5344CB8AC3E}">
        <p14:creationId xmlns:p14="http://schemas.microsoft.com/office/powerpoint/2010/main" val="1081824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45A1A-CA40-4526-95B7-8FA184B73712}"/>
              </a:ext>
            </a:extLst>
          </p:cNvPr>
          <p:cNvSpPr>
            <a:spLocks noGrp="1"/>
          </p:cNvSpPr>
          <p:nvPr>
            <p:ph type="title"/>
          </p:nvPr>
        </p:nvSpPr>
        <p:spPr>
          <a:xfrm>
            <a:off x="309489" y="365760"/>
            <a:ext cx="10645023" cy="858129"/>
          </a:xfrm>
        </p:spPr>
        <p:txBody>
          <a:bodyPr/>
          <a:lstStyle/>
          <a:p>
            <a:r>
              <a:rPr lang="en-US" dirty="0"/>
              <a:t>Assessing the model with </a:t>
            </a:r>
            <a:r>
              <a:rPr lang="en-US" dirty="0" err="1"/>
              <a:t>StatsModels</a:t>
            </a:r>
            <a:r>
              <a:rPr lang="en-US" dirty="0"/>
              <a:t>	</a:t>
            </a:r>
          </a:p>
        </p:txBody>
      </p:sp>
      <p:sp>
        <p:nvSpPr>
          <p:cNvPr id="3" name="Content Placeholder 2">
            <a:extLst>
              <a:ext uri="{FF2B5EF4-FFF2-40B4-BE49-F238E27FC236}">
                <a16:creationId xmlns:a16="http://schemas.microsoft.com/office/drawing/2014/main" id="{B11E9589-68FA-477F-B232-C35F12B0EF56}"/>
              </a:ext>
            </a:extLst>
          </p:cNvPr>
          <p:cNvSpPr>
            <a:spLocks noGrp="1"/>
          </p:cNvSpPr>
          <p:nvPr>
            <p:ph idx="1"/>
          </p:nvPr>
        </p:nvSpPr>
        <p:spPr>
          <a:xfrm>
            <a:off x="309489" y="1223890"/>
            <a:ext cx="10645023" cy="4956248"/>
          </a:xfrm>
        </p:spPr>
        <p:txBody>
          <a:bodyPr/>
          <a:lstStyle/>
          <a:p>
            <a:r>
              <a:rPr lang="en-US" dirty="0"/>
              <a:t>After RFE , the list of columns which we defined in earlier stage need to assigned to the model, and execute the model, after executing the model the below result occur.</a:t>
            </a:r>
          </a:p>
          <a:p>
            <a:endParaRPr lang="en-US" dirty="0"/>
          </a:p>
        </p:txBody>
      </p:sp>
      <p:pic>
        <p:nvPicPr>
          <p:cNvPr id="4" name="Picture 3">
            <a:extLst>
              <a:ext uri="{FF2B5EF4-FFF2-40B4-BE49-F238E27FC236}">
                <a16:creationId xmlns:a16="http://schemas.microsoft.com/office/drawing/2014/main" id="{864903CF-7770-4F87-A5A6-1BC2CD2A3118}"/>
              </a:ext>
            </a:extLst>
          </p:cNvPr>
          <p:cNvPicPr>
            <a:picLocks noChangeAspect="1"/>
          </p:cNvPicPr>
          <p:nvPr/>
        </p:nvPicPr>
        <p:blipFill>
          <a:blip r:embed="rId2"/>
          <a:stretch>
            <a:fillRect/>
          </a:stretch>
        </p:blipFill>
        <p:spPr>
          <a:xfrm>
            <a:off x="534573" y="2166424"/>
            <a:ext cx="9580098" cy="4691575"/>
          </a:xfrm>
          <a:prstGeom prst="rect">
            <a:avLst/>
          </a:prstGeom>
        </p:spPr>
      </p:pic>
    </p:spTree>
    <p:extLst>
      <p:ext uri="{BB962C8B-B14F-4D97-AF65-F5344CB8AC3E}">
        <p14:creationId xmlns:p14="http://schemas.microsoft.com/office/powerpoint/2010/main" val="3698192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80A25-47D0-4054-B608-32D42A727F37}"/>
              </a:ext>
            </a:extLst>
          </p:cNvPr>
          <p:cNvSpPr>
            <a:spLocks noGrp="1"/>
          </p:cNvSpPr>
          <p:nvPr>
            <p:ph type="title"/>
          </p:nvPr>
        </p:nvSpPr>
        <p:spPr>
          <a:xfrm>
            <a:off x="295422" y="365760"/>
            <a:ext cx="10659090" cy="1325562"/>
          </a:xfrm>
        </p:spPr>
        <p:txBody>
          <a:bodyPr/>
          <a:lstStyle/>
          <a:p>
            <a:r>
              <a:rPr lang="en-US" dirty="0"/>
              <a:t>Predicated variables on the train set</a:t>
            </a:r>
          </a:p>
        </p:txBody>
      </p:sp>
      <p:sp>
        <p:nvSpPr>
          <p:cNvPr id="3" name="Content Placeholder 2">
            <a:extLst>
              <a:ext uri="{FF2B5EF4-FFF2-40B4-BE49-F238E27FC236}">
                <a16:creationId xmlns:a16="http://schemas.microsoft.com/office/drawing/2014/main" id="{AC40BA38-3D29-497E-8035-4924F0A13403}"/>
              </a:ext>
            </a:extLst>
          </p:cNvPr>
          <p:cNvSpPr>
            <a:spLocks noGrp="1"/>
          </p:cNvSpPr>
          <p:nvPr>
            <p:ph idx="1"/>
          </p:nvPr>
        </p:nvSpPr>
        <p:spPr>
          <a:xfrm>
            <a:off x="295422" y="1828800"/>
            <a:ext cx="10659090" cy="4351337"/>
          </a:xfrm>
        </p:spPr>
        <p:txBody>
          <a:bodyPr/>
          <a:lstStyle/>
          <a:p>
            <a:r>
              <a:rPr lang="en-US" dirty="0"/>
              <a:t>We have executing the below code to find out the getting predicated variables on the train set. We have also checked the dimensions which resulted into the array list.</a:t>
            </a:r>
          </a:p>
          <a:p>
            <a:pPr marL="0" indent="0">
              <a:buNone/>
            </a:pPr>
            <a:endParaRPr lang="en-US" dirty="0"/>
          </a:p>
        </p:txBody>
      </p:sp>
      <p:pic>
        <p:nvPicPr>
          <p:cNvPr id="4" name="Picture 3">
            <a:extLst>
              <a:ext uri="{FF2B5EF4-FFF2-40B4-BE49-F238E27FC236}">
                <a16:creationId xmlns:a16="http://schemas.microsoft.com/office/drawing/2014/main" id="{81FEC11B-D0CF-4452-A5B7-D07BA98AE849}"/>
              </a:ext>
            </a:extLst>
          </p:cNvPr>
          <p:cNvPicPr>
            <a:picLocks noChangeAspect="1"/>
          </p:cNvPicPr>
          <p:nvPr/>
        </p:nvPicPr>
        <p:blipFill>
          <a:blip r:embed="rId2"/>
          <a:stretch>
            <a:fillRect/>
          </a:stretch>
        </p:blipFill>
        <p:spPr>
          <a:xfrm>
            <a:off x="986568" y="2907665"/>
            <a:ext cx="8818613" cy="3409950"/>
          </a:xfrm>
          <a:prstGeom prst="rect">
            <a:avLst/>
          </a:prstGeom>
        </p:spPr>
      </p:pic>
    </p:spTree>
    <p:extLst>
      <p:ext uri="{BB962C8B-B14F-4D97-AF65-F5344CB8AC3E}">
        <p14:creationId xmlns:p14="http://schemas.microsoft.com/office/powerpoint/2010/main" val="3340112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5553-9968-4780-8FCA-0F9D8F7AA316}"/>
              </a:ext>
            </a:extLst>
          </p:cNvPr>
          <p:cNvSpPr>
            <a:spLocks noGrp="1"/>
          </p:cNvSpPr>
          <p:nvPr>
            <p:ph type="title"/>
          </p:nvPr>
        </p:nvSpPr>
        <p:spPr>
          <a:xfrm>
            <a:off x="253218" y="365760"/>
            <a:ext cx="10916530" cy="872197"/>
          </a:xfrm>
        </p:spPr>
        <p:txBody>
          <a:bodyPr/>
          <a:lstStyle/>
          <a:p>
            <a:r>
              <a:rPr lang="en-US" dirty="0"/>
              <a:t>Predicated variables on the train set</a:t>
            </a:r>
          </a:p>
        </p:txBody>
      </p:sp>
      <p:sp>
        <p:nvSpPr>
          <p:cNvPr id="3" name="Content Placeholder 2">
            <a:extLst>
              <a:ext uri="{FF2B5EF4-FFF2-40B4-BE49-F238E27FC236}">
                <a16:creationId xmlns:a16="http://schemas.microsoft.com/office/drawing/2014/main" id="{8CDB4224-C593-4536-B307-6549C464DF31}"/>
              </a:ext>
            </a:extLst>
          </p:cNvPr>
          <p:cNvSpPr>
            <a:spLocks noGrp="1"/>
          </p:cNvSpPr>
          <p:nvPr>
            <p:ph idx="1"/>
          </p:nvPr>
        </p:nvSpPr>
        <p:spPr>
          <a:xfrm>
            <a:off x="253218" y="1237957"/>
            <a:ext cx="10916530" cy="5401993"/>
          </a:xfrm>
        </p:spPr>
        <p:txBody>
          <a:bodyPr/>
          <a:lstStyle/>
          <a:p>
            <a:r>
              <a:rPr lang="en-US" dirty="0"/>
              <a:t>We have then created a </a:t>
            </a:r>
            <a:r>
              <a:rPr lang="en-US" dirty="0" err="1"/>
              <a:t>dataframe</a:t>
            </a:r>
            <a:r>
              <a:rPr lang="en-US" dirty="0"/>
              <a:t> with the actual Lead flag and the predicted probabilities and Creating new column 'predicted' with 1 if </a:t>
            </a:r>
            <a:r>
              <a:rPr lang="en-US" dirty="0" err="1"/>
              <a:t>lead_Prob</a:t>
            </a:r>
            <a:r>
              <a:rPr lang="en-US" dirty="0"/>
              <a:t> &gt; 0.5 else 0. The same handled in below code.</a:t>
            </a:r>
          </a:p>
          <a:p>
            <a:pPr marL="0" indent="0">
              <a:buNone/>
            </a:pPr>
            <a:endParaRPr lang="en-US" dirty="0"/>
          </a:p>
          <a:p>
            <a:endParaRPr lang="en-US" dirty="0"/>
          </a:p>
        </p:txBody>
      </p:sp>
      <p:pic>
        <p:nvPicPr>
          <p:cNvPr id="4" name="Picture 3">
            <a:extLst>
              <a:ext uri="{FF2B5EF4-FFF2-40B4-BE49-F238E27FC236}">
                <a16:creationId xmlns:a16="http://schemas.microsoft.com/office/drawing/2014/main" id="{C53630AA-2AC7-4C2C-A0CF-83143D04068A}"/>
              </a:ext>
            </a:extLst>
          </p:cNvPr>
          <p:cNvPicPr>
            <a:picLocks noChangeAspect="1"/>
          </p:cNvPicPr>
          <p:nvPr/>
        </p:nvPicPr>
        <p:blipFill>
          <a:blip r:embed="rId2"/>
          <a:stretch>
            <a:fillRect/>
          </a:stretch>
        </p:blipFill>
        <p:spPr>
          <a:xfrm>
            <a:off x="682283" y="2284779"/>
            <a:ext cx="10058400" cy="4207461"/>
          </a:xfrm>
          <a:prstGeom prst="rect">
            <a:avLst/>
          </a:prstGeom>
        </p:spPr>
      </p:pic>
    </p:spTree>
    <p:extLst>
      <p:ext uri="{BB962C8B-B14F-4D97-AF65-F5344CB8AC3E}">
        <p14:creationId xmlns:p14="http://schemas.microsoft.com/office/powerpoint/2010/main" val="866819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CD8E0-A608-4C82-861A-794F2701561C}"/>
              </a:ext>
            </a:extLst>
          </p:cNvPr>
          <p:cNvSpPr>
            <a:spLocks noGrp="1"/>
          </p:cNvSpPr>
          <p:nvPr>
            <p:ph type="title"/>
          </p:nvPr>
        </p:nvSpPr>
        <p:spPr>
          <a:xfrm>
            <a:off x="309489" y="365760"/>
            <a:ext cx="10645023" cy="998806"/>
          </a:xfrm>
        </p:spPr>
        <p:txBody>
          <a:bodyPr/>
          <a:lstStyle/>
          <a:p>
            <a:r>
              <a:rPr lang="en-US" dirty="0"/>
              <a:t>Confusion Matrix</a:t>
            </a:r>
          </a:p>
        </p:txBody>
      </p:sp>
      <p:sp>
        <p:nvSpPr>
          <p:cNvPr id="3" name="Content Placeholder 2">
            <a:extLst>
              <a:ext uri="{FF2B5EF4-FFF2-40B4-BE49-F238E27FC236}">
                <a16:creationId xmlns:a16="http://schemas.microsoft.com/office/drawing/2014/main" id="{08DE9554-D19B-4D5D-813D-DD9B4B263161}"/>
              </a:ext>
            </a:extLst>
          </p:cNvPr>
          <p:cNvSpPr>
            <a:spLocks noGrp="1"/>
          </p:cNvSpPr>
          <p:nvPr>
            <p:ph idx="1"/>
          </p:nvPr>
        </p:nvSpPr>
        <p:spPr>
          <a:xfrm>
            <a:off x="309489" y="1491176"/>
            <a:ext cx="10645023" cy="5001064"/>
          </a:xfrm>
        </p:spPr>
        <p:txBody>
          <a:bodyPr/>
          <a:lstStyle/>
          <a:p>
            <a:r>
              <a:rPr lang="en-US" dirty="0"/>
              <a:t>We have identified five leads and calculated the probability ; we have now moved to next segment that is to define the confusion matrix. </a:t>
            </a:r>
          </a:p>
          <a:p>
            <a:r>
              <a:rPr lang="en-US" dirty="0"/>
              <a:t>We must define the confusion matrix on predicated train data set , which we already done.</a:t>
            </a:r>
          </a:p>
          <a:p>
            <a:r>
              <a:rPr lang="en-US" dirty="0"/>
              <a:t>So ideally confusion matrix on original variable and predicated , The result will be displayed below with the score of the accuracy.  </a:t>
            </a:r>
          </a:p>
          <a:p>
            <a:endParaRPr lang="en-US" dirty="0"/>
          </a:p>
          <a:p>
            <a:endParaRPr lang="en-US" dirty="0"/>
          </a:p>
        </p:txBody>
      </p:sp>
      <p:pic>
        <p:nvPicPr>
          <p:cNvPr id="4" name="Picture 3">
            <a:extLst>
              <a:ext uri="{FF2B5EF4-FFF2-40B4-BE49-F238E27FC236}">
                <a16:creationId xmlns:a16="http://schemas.microsoft.com/office/drawing/2014/main" id="{3D27B3DA-56D9-4CF7-9770-A6CC9FDD3616}"/>
              </a:ext>
            </a:extLst>
          </p:cNvPr>
          <p:cNvPicPr>
            <a:picLocks noChangeAspect="1"/>
          </p:cNvPicPr>
          <p:nvPr/>
        </p:nvPicPr>
        <p:blipFill>
          <a:blip r:embed="rId2"/>
          <a:stretch>
            <a:fillRect/>
          </a:stretch>
        </p:blipFill>
        <p:spPr>
          <a:xfrm>
            <a:off x="591428" y="3727939"/>
            <a:ext cx="9846799" cy="2890911"/>
          </a:xfrm>
          <a:prstGeom prst="rect">
            <a:avLst/>
          </a:prstGeom>
        </p:spPr>
      </p:pic>
    </p:spTree>
    <p:extLst>
      <p:ext uri="{BB962C8B-B14F-4D97-AF65-F5344CB8AC3E}">
        <p14:creationId xmlns:p14="http://schemas.microsoft.com/office/powerpoint/2010/main" val="4065773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F7562-A949-452F-A542-BAF27C2EDB0F}"/>
              </a:ext>
            </a:extLst>
          </p:cNvPr>
          <p:cNvSpPr>
            <a:spLocks noGrp="1"/>
          </p:cNvSpPr>
          <p:nvPr>
            <p:ph type="title"/>
          </p:nvPr>
        </p:nvSpPr>
        <p:spPr>
          <a:xfrm>
            <a:off x="337625" y="365760"/>
            <a:ext cx="10616887" cy="858129"/>
          </a:xfrm>
        </p:spPr>
        <p:txBody>
          <a:bodyPr/>
          <a:lstStyle/>
          <a:p>
            <a:r>
              <a:rPr lang="en-US" dirty="0"/>
              <a:t>Applying VIFs	</a:t>
            </a:r>
          </a:p>
        </p:txBody>
      </p:sp>
      <p:sp>
        <p:nvSpPr>
          <p:cNvPr id="3" name="Content Placeholder 2">
            <a:extLst>
              <a:ext uri="{FF2B5EF4-FFF2-40B4-BE49-F238E27FC236}">
                <a16:creationId xmlns:a16="http://schemas.microsoft.com/office/drawing/2014/main" id="{B45AF1DA-26DC-4685-8A17-59601A0DDDB8}"/>
              </a:ext>
            </a:extLst>
          </p:cNvPr>
          <p:cNvSpPr>
            <a:spLocks noGrp="1"/>
          </p:cNvSpPr>
          <p:nvPr>
            <p:ph idx="1"/>
          </p:nvPr>
        </p:nvSpPr>
        <p:spPr>
          <a:xfrm>
            <a:off x="337625" y="1350498"/>
            <a:ext cx="10311617" cy="4829639"/>
          </a:xfrm>
        </p:spPr>
        <p:txBody>
          <a:bodyPr/>
          <a:lstStyle/>
          <a:p>
            <a:r>
              <a:rPr lang="en-US" dirty="0"/>
              <a:t>We applied VIF (Variance Inflation Factor) on the variables to identified the variance ratio of these variables. We need to confident that variance of these variables should not be more than 5 and same validated through below code.</a:t>
            </a:r>
          </a:p>
          <a:p>
            <a:endParaRPr lang="en-US" dirty="0"/>
          </a:p>
        </p:txBody>
      </p:sp>
      <p:pic>
        <p:nvPicPr>
          <p:cNvPr id="4" name="Picture 3">
            <a:extLst>
              <a:ext uri="{FF2B5EF4-FFF2-40B4-BE49-F238E27FC236}">
                <a16:creationId xmlns:a16="http://schemas.microsoft.com/office/drawing/2014/main" id="{BFE8ADAD-DEA8-4449-9E23-76C212D3016A}"/>
              </a:ext>
            </a:extLst>
          </p:cNvPr>
          <p:cNvPicPr>
            <a:picLocks noChangeAspect="1"/>
          </p:cNvPicPr>
          <p:nvPr/>
        </p:nvPicPr>
        <p:blipFill>
          <a:blip r:embed="rId2"/>
          <a:stretch>
            <a:fillRect/>
          </a:stretch>
        </p:blipFill>
        <p:spPr>
          <a:xfrm>
            <a:off x="520505" y="2405575"/>
            <a:ext cx="10002129" cy="4206239"/>
          </a:xfrm>
          <a:prstGeom prst="rect">
            <a:avLst/>
          </a:prstGeom>
        </p:spPr>
      </p:pic>
    </p:spTree>
    <p:extLst>
      <p:ext uri="{BB962C8B-B14F-4D97-AF65-F5344CB8AC3E}">
        <p14:creationId xmlns:p14="http://schemas.microsoft.com/office/powerpoint/2010/main" val="3404173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3BCA9-8B97-48F5-9385-D3D99B200E0A}"/>
              </a:ext>
            </a:extLst>
          </p:cNvPr>
          <p:cNvSpPr>
            <a:spLocks noGrp="1"/>
          </p:cNvSpPr>
          <p:nvPr>
            <p:ph type="title"/>
          </p:nvPr>
        </p:nvSpPr>
        <p:spPr>
          <a:xfrm>
            <a:off x="196948" y="365760"/>
            <a:ext cx="10757564" cy="886265"/>
          </a:xfrm>
        </p:spPr>
        <p:txBody>
          <a:bodyPr/>
          <a:lstStyle/>
          <a:p>
            <a:r>
              <a:rPr lang="en-US" dirty="0"/>
              <a:t>Metrics for simple accuracy </a:t>
            </a:r>
          </a:p>
        </p:txBody>
      </p:sp>
      <p:sp>
        <p:nvSpPr>
          <p:cNvPr id="3" name="Content Placeholder 2">
            <a:extLst>
              <a:ext uri="{FF2B5EF4-FFF2-40B4-BE49-F238E27FC236}">
                <a16:creationId xmlns:a16="http://schemas.microsoft.com/office/drawing/2014/main" id="{0525FC30-91A2-4921-9FD2-D90AEC79DE2C}"/>
              </a:ext>
            </a:extLst>
          </p:cNvPr>
          <p:cNvSpPr>
            <a:spLocks noGrp="1"/>
          </p:cNvSpPr>
          <p:nvPr>
            <p:ph idx="1"/>
          </p:nvPr>
        </p:nvSpPr>
        <p:spPr>
          <a:xfrm>
            <a:off x="196948" y="1252026"/>
            <a:ext cx="10860258" cy="5345722"/>
          </a:xfrm>
        </p:spPr>
        <p:txBody>
          <a:bodyPr/>
          <a:lstStyle/>
          <a:p>
            <a:r>
              <a:rPr lang="en-US" dirty="0"/>
              <a:t>We have then set the define variable for true positive , false positive, true negative and false negative. After each matrix validated with the formula and check the simple accuracy.</a:t>
            </a:r>
          </a:p>
          <a:p>
            <a:pPr marL="0" indent="0">
              <a:buNone/>
            </a:pPr>
            <a:endParaRPr lang="en-US" dirty="0"/>
          </a:p>
          <a:p>
            <a:endParaRPr lang="en-US" dirty="0"/>
          </a:p>
        </p:txBody>
      </p:sp>
      <p:pic>
        <p:nvPicPr>
          <p:cNvPr id="4" name="Picture 3">
            <a:extLst>
              <a:ext uri="{FF2B5EF4-FFF2-40B4-BE49-F238E27FC236}">
                <a16:creationId xmlns:a16="http://schemas.microsoft.com/office/drawing/2014/main" id="{B188D469-5D72-4E18-AF34-E0CDD056B724}"/>
              </a:ext>
            </a:extLst>
          </p:cNvPr>
          <p:cNvPicPr>
            <a:picLocks noChangeAspect="1"/>
          </p:cNvPicPr>
          <p:nvPr/>
        </p:nvPicPr>
        <p:blipFill>
          <a:blip r:embed="rId2"/>
          <a:stretch>
            <a:fillRect/>
          </a:stretch>
        </p:blipFill>
        <p:spPr>
          <a:xfrm>
            <a:off x="2926079" y="2236763"/>
            <a:ext cx="7718942" cy="4135902"/>
          </a:xfrm>
          <a:prstGeom prst="rect">
            <a:avLst/>
          </a:prstGeom>
        </p:spPr>
      </p:pic>
    </p:spTree>
    <p:extLst>
      <p:ext uri="{BB962C8B-B14F-4D97-AF65-F5344CB8AC3E}">
        <p14:creationId xmlns:p14="http://schemas.microsoft.com/office/powerpoint/2010/main" val="3692692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3B997-999E-400A-A3AD-5B895BCB25D9}"/>
              </a:ext>
            </a:extLst>
          </p:cNvPr>
          <p:cNvSpPr>
            <a:spLocks noGrp="1"/>
          </p:cNvSpPr>
          <p:nvPr>
            <p:ph type="title"/>
          </p:nvPr>
        </p:nvSpPr>
        <p:spPr>
          <a:xfrm>
            <a:off x="196948" y="365760"/>
            <a:ext cx="10757564" cy="970671"/>
          </a:xfrm>
        </p:spPr>
        <p:txBody>
          <a:bodyPr/>
          <a:lstStyle/>
          <a:p>
            <a:r>
              <a:rPr lang="en-US" dirty="0"/>
              <a:t>Plotting the ROC Curve</a:t>
            </a:r>
          </a:p>
        </p:txBody>
      </p:sp>
      <p:sp>
        <p:nvSpPr>
          <p:cNvPr id="3" name="Content Placeholder 2">
            <a:extLst>
              <a:ext uri="{FF2B5EF4-FFF2-40B4-BE49-F238E27FC236}">
                <a16:creationId xmlns:a16="http://schemas.microsoft.com/office/drawing/2014/main" id="{598F5A34-3A84-466B-ADE6-EAB23998CB69}"/>
              </a:ext>
            </a:extLst>
          </p:cNvPr>
          <p:cNvSpPr>
            <a:spLocks noGrp="1"/>
          </p:cNvSpPr>
          <p:nvPr>
            <p:ph idx="1"/>
          </p:nvPr>
        </p:nvSpPr>
        <p:spPr>
          <a:xfrm>
            <a:off x="196947" y="1519312"/>
            <a:ext cx="10757563" cy="5162842"/>
          </a:xfrm>
        </p:spPr>
        <p:txBody>
          <a:bodyPr>
            <a:normAutofit fontScale="92500" lnSpcReduction="10000"/>
          </a:bodyPr>
          <a:lstStyle/>
          <a:p>
            <a:r>
              <a:rPr lang="en-US" dirty="0"/>
              <a:t>To identify the likelihood v/s probability against the variables , we have to </a:t>
            </a:r>
            <a:r>
              <a:rPr lang="en-US" dirty="0" err="1"/>
              <a:t>initate</a:t>
            </a:r>
            <a:r>
              <a:rPr lang="en-US" dirty="0"/>
              <a:t> to define the ROC which mainly considered actual, </a:t>
            </a:r>
            <a:r>
              <a:rPr lang="en-US" dirty="0" err="1"/>
              <a:t>probabilities,false</a:t>
            </a:r>
            <a:r>
              <a:rPr lang="en-US" dirty="0"/>
              <a:t> positive rate, true positive rate , threshold etc. need to apply on the train data set of the actual and predicated variable. The same handled in below code.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We have then plotted the ROC curve and analyze the curve and the data point of FPR and TPR.</a:t>
            </a:r>
          </a:p>
          <a:p>
            <a:endParaRPr lang="en-US" dirty="0"/>
          </a:p>
          <a:p>
            <a:endParaRPr lang="en-US" dirty="0"/>
          </a:p>
        </p:txBody>
      </p:sp>
      <p:pic>
        <p:nvPicPr>
          <p:cNvPr id="4" name="Picture 3">
            <a:extLst>
              <a:ext uri="{FF2B5EF4-FFF2-40B4-BE49-F238E27FC236}">
                <a16:creationId xmlns:a16="http://schemas.microsoft.com/office/drawing/2014/main" id="{86128E91-5FE3-4990-B556-3BC5D1AD5FCF}"/>
              </a:ext>
            </a:extLst>
          </p:cNvPr>
          <p:cNvPicPr>
            <a:picLocks noChangeAspect="1"/>
          </p:cNvPicPr>
          <p:nvPr/>
        </p:nvPicPr>
        <p:blipFill>
          <a:blip r:embed="rId2"/>
          <a:stretch>
            <a:fillRect/>
          </a:stretch>
        </p:blipFill>
        <p:spPr>
          <a:xfrm>
            <a:off x="572260" y="2617788"/>
            <a:ext cx="10382250" cy="3065560"/>
          </a:xfrm>
          <a:prstGeom prst="rect">
            <a:avLst/>
          </a:prstGeom>
        </p:spPr>
      </p:pic>
    </p:spTree>
    <p:extLst>
      <p:ext uri="{BB962C8B-B14F-4D97-AF65-F5344CB8AC3E}">
        <p14:creationId xmlns:p14="http://schemas.microsoft.com/office/powerpoint/2010/main" val="4200454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9432F-B220-4A32-8EC6-D4C93C21BDF9}"/>
              </a:ext>
            </a:extLst>
          </p:cNvPr>
          <p:cNvSpPr>
            <a:spLocks noGrp="1"/>
          </p:cNvSpPr>
          <p:nvPr>
            <p:ph type="title"/>
          </p:nvPr>
        </p:nvSpPr>
        <p:spPr/>
        <p:txBody>
          <a:bodyPr/>
          <a:lstStyle/>
          <a:p>
            <a:r>
              <a:rPr lang="en-US" dirty="0"/>
              <a:t>Plotting the ROC Curve</a:t>
            </a:r>
          </a:p>
        </p:txBody>
      </p:sp>
      <p:sp>
        <p:nvSpPr>
          <p:cNvPr id="3" name="Content Placeholder 2">
            <a:extLst>
              <a:ext uri="{FF2B5EF4-FFF2-40B4-BE49-F238E27FC236}">
                <a16:creationId xmlns:a16="http://schemas.microsoft.com/office/drawing/2014/main" id="{70856C0F-3EE3-474A-BBAE-ABE12CD0DE30}"/>
              </a:ext>
            </a:extLst>
          </p:cNvPr>
          <p:cNvSpPr>
            <a:spLocks noGrp="1"/>
          </p:cNvSpPr>
          <p:nvPr>
            <p:ph idx="1"/>
          </p:nvPr>
        </p:nvSpPr>
        <p:spPr>
          <a:xfrm>
            <a:off x="464234" y="1828800"/>
            <a:ext cx="10156874" cy="4663440"/>
          </a:xfrm>
        </p:spPr>
        <p:txBody>
          <a:bodyPr>
            <a:normAutofit/>
          </a:bodyPr>
          <a:lstStyle/>
          <a:p>
            <a:r>
              <a:rPr lang="en-US" dirty="0"/>
              <a:t>While looking into the ROC curve</a:t>
            </a:r>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pPr marL="0" indent="0">
              <a:buNone/>
            </a:pPr>
            <a:r>
              <a:rPr lang="en-US" dirty="0"/>
              <a:t>We can find the TPR and FPR of actual v/s Predicated and the curve line is close to 1.0 and it curved near to 0 .7  so it almost covers 92% area. </a:t>
            </a:r>
          </a:p>
          <a:p>
            <a:endParaRPr lang="en-US" dirty="0"/>
          </a:p>
        </p:txBody>
      </p:sp>
      <p:pic>
        <p:nvPicPr>
          <p:cNvPr id="6" name="Picture 5">
            <a:extLst>
              <a:ext uri="{FF2B5EF4-FFF2-40B4-BE49-F238E27FC236}">
                <a16:creationId xmlns:a16="http://schemas.microsoft.com/office/drawing/2014/main" id="{FF36ACEE-870D-4271-AF86-EC10B5274CCC}"/>
              </a:ext>
            </a:extLst>
          </p:cNvPr>
          <p:cNvPicPr>
            <a:picLocks noChangeAspect="1"/>
          </p:cNvPicPr>
          <p:nvPr/>
        </p:nvPicPr>
        <p:blipFill>
          <a:blip r:embed="rId2"/>
          <a:stretch>
            <a:fillRect/>
          </a:stretch>
        </p:blipFill>
        <p:spPr>
          <a:xfrm>
            <a:off x="638614" y="2208628"/>
            <a:ext cx="5227614" cy="3165231"/>
          </a:xfrm>
          <a:prstGeom prst="rect">
            <a:avLst/>
          </a:prstGeom>
        </p:spPr>
      </p:pic>
    </p:spTree>
    <p:extLst>
      <p:ext uri="{BB962C8B-B14F-4D97-AF65-F5344CB8AC3E}">
        <p14:creationId xmlns:p14="http://schemas.microsoft.com/office/powerpoint/2010/main" val="2133968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9FE98-1F17-43DF-BA08-D7754BBD061A}"/>
              </a:ext>
            </a:extLst>
          </p:cNvPr>
          <p:cNvSpPr>
            <a:spLocks noGrp="1"/>
          </p:cNvSpPr>
          <p:nvPr>
            <p:ph type="title"/>
          </p:nvPr>
        </p:nvSpPr>
        <p:spPr>
          <a:xfrm>
            <a:off x="323557" y="365760"/>
            <a:ext cx="10630955" cy="1125415"/>
          </a:xfrm>
        </p:spPr>
        <p:txBody>
          <a:bodyPr/>
          <a:lstStyle/>
          <a:p>
            <a:r>
              <a:rPr lang="en-US" dirty="0"/>
              <a:t>Optimal Cut-Off</a:t>
            </a:r>
          </a:p>
        </p:txBody>
      </p:sp>
      <p:sp>
        <p:nvSpPr>
          <p:cNvPr id="3" name="Content Placeholder 2">
            <a:extLst>
              <a:ext uri="{FF2B5EF4-FFF2-40B4-BE49-F238E27FC236}">
                <a16:creationId xmlns:a16="http://schemas.microsoft.com/office/drawing/2014/main" id="{1A4EEE4A-13D4-44BF-A189-70893420D56E}"/>
              </a:ext>
            </a:extLst>
          </p:cNvPr>
          <p:cNvSpPr>
            <a:spLocks noGrp="1"/>
          </p:cNvSpPr>
          <p:nvPr>
            <p:ph idx="1"/>
          </p:nvPr>
        </p:nvSpPr>
        <p:spPr>
          <a:xfrm>
            <a:off x="323557" y="1828800"/>
            <a:ext cx="10630955" cy="4351337"/>
          </a:xfrm>
        </p:spPr>
        <p:txBody>
          <a:bodyPr/>
          <a:lstStyle/>
          <a:p>
            <a:r>
              <a:rPr lang="en-US" dirty="0"/>
              <a:t>The finding the optimal cut off point , we have considered the same predicated and actual on train data set and define the optimal number of range . So that the cut off will resulted into those many columns for each row. The same programmed below with the result –</a:t>
            </a:r>
          </a:p>
          <a:p>
            <a:endParaRPr lang="en-US" dirty="0"/>
          </a:p>
        </p:txBody>
      </p:sp>
      <p:pic>
        <p:nvPicPr>
          <p:cNvPr id="4" name="Picture 3">
            <a:extLst>
              <a:ext uri="{FF2B5EF4-FFF2-40B4-BE49-F238E27FC236}">
                <a16:creationId xmlns:a16="http://schemas.microsoft.com/office/drawing/2014/main" id="{5E154BD3-9692-4766-8C21-5E193AF8A25C}"/>
              </a:ext>
            </a:extLst>
          </p:cNvPr>
          <p:cNvPicPr>
            <a:picLocks noChangeAspect="1"/>
          </p:cNvPicPr>
          <p:nvPr/>
        </p:nvPicPr>
        <p:blipFill>
          <a:blip r:embed="rId2"/>
          <a:stretch>
            <a:fillRect/>
          </a:stretch>
        </p:blipFill>
        <p:spPr>
          <a:xfrm>
            <a:off x="784200" y="3178711"/>
            <a:ext cx="9386741" cy="3184305"/>
          </a:xfrm>
          <a:prstGeom prst="rect">
            <a:avLst/>
          </a:prstGeom>
        </p:spPr>
      </p:pic>
    </p:spTree>
    <p:extLst>
      <p:ext uri="{BB962C8B-B14F-4D97-AF65-F5344CB8AC3E}">
        <p14:creationId xmlns:p14="http://schemas.microsoft.com/office/powerpoint/2010/main" val="299679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FA4B1-88ED-4B42-9D7D-20F059E5F738}"/>
              </a:ext>
            </a:extLst>
          </p:cNvPr>
          <p:cNvSpPr>
            <a:spLocks noGrp="1"/>
          </p:cNvSpPr>
          <p:nvPr>
            <p:ph type="title"/>
          </p:nvPr>
        </p:nvSpPr>
        <p:spPr>
          <a:xfrm>
            <a:off x="182878" y="239150"/>
            <a:ext cx="10771632" cy="1195754"/>
          </a:xfrm>
        </p:spPr>
        <p:txBody>
          <a:bodyPr>
            <a:normAutofit fontScale="90000"/>
          </a:bodyPr>
          <a:lstStyle/>
          <a:p>
            <a:r>
              <a:rPr lang="en-US" dirty="0"/>
              <a:t>Calculate accuracy sensitivity and specificity for various probability cutoffs</a:t>
            </a:r>
          </a:p>
        </p:txBody>
      </p:sp>
      <p:sp>
        <p:nvSpPr>
          <p:cNvPr id="3" name="Content Placeholder 2">
            <a:extLst>
              <a:ext uri="{FF2B5EF4-FFF2-40B4-BE49-F238E27FC236}">
                <a16:creationId xmlns:a16="http://schemas.microsoft.com/office/drawing/2014/main" id="{FAA945D2-386F-41C1-86BC-8530ABF28DA8}"/>
              </a:ext>
            </a:extLst>
          </p:cNvPr>
          <p:cNvSpPr>
            <a:spLocks noGrp="1"/>
          </p:cNvSpPr>
          <p:nvPr>
            <p:ph idx="1"/>
          </p:nvPr>
        </p:nvSpPr>
        <p:spPr>
          <a:xfrm>
            <a:off x="182879" y="1434904"/>
            <a:ext cx="10771631" cy="4351337"/>
          </a:xfrm>
        </p:spPr>
        <p:txBody>
          <a:bodyPr/>
          <a:lstStyle/>
          <a:p>
            <a:r>
              <a:rPr lang="en-US" dirty="0"/>
              <a:t>We have now defined the columns for probability, accuracy, sensitivity, specificity . Considered the same train data set with the metrics of confusion matrix on probability cut off variables. After executing the same , below results gets generated.</a:t>
            </a:r>
          </a:p>
          <a:p>
            <a:endParaRPr lang="en-US" dirty="0"/>
          </a:p>
        </p:txBody>
      </p:sp>
      <p:pic>
        <p:nvPicPr>
          <p:cNvPr id="4" name="Picture 3">
            <a:extLst>
              <a:ext uri="{FF2B5EF4-FFF2-40B4-BE49-F238E27FC236}">
                <a16:creationId xmlns:a16="http://schemas.microsoft.com/office/drawing/2014/main" id="{9A934EA3-8135-48BD-8829-F70B03C88A59}"/>
              </a:ext>
            </a:extLst>
          </p:cNvPr>
          <p:cNvPicPr>
            <a:picLocks noChangeAspect="1"/>
          </p:cNvPicPr>
          <p:nvPr/>
        </p:nvPicPr>
        <p:blipFill>
          <a:blip r:embed="rId2"/>
          <a:stretch>
            <a:fillRect/>
          </a:stretch>
        </p:blipFill>
        <p:spPr>
          <a:xfrm>
            <a:off x="501821" y="2841674"/>
            <a:ext cx="10452689" cy="3852422"/>
          </a:xfrm>
          <a:prstGeom prst="rect">
            <a:avLst/>
          </a:prstGeom>
        </p:spPr>
      </p:pic>
    </p:spTree>
    <p:extLst>
      <p:ext uri="{BB962C8B-B14F-4D97-AF65-F5344CB8AC3E}">
        <p14:creationId xmlns:p14="http://schemas.microsoft.com/office/powerpoint/2010/main" val="2513595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5E32F-7E0F-4636-A7D3-093FDBD16AA3}"/>
              </a:ext>
            </a:extLst>
          </p:cNvPr>
          <p:cNvSpPr>
            <a:spLocks noGrp="1"/>
          </p:cNvSpPr>
          <p:nvPr>
            <p:ph type="title"/>
          </p:nvPr>
        </p:nvSpPr>
        <p:spPr>
          <a:xfrm>
            <a:off x="208905" y="154744"/>
            <a:ext cx="10701294" cy="1325562"/>
          </a:xfrm>
        </p:spPr>
        <p:txBody>
          <a:bodyPr>
            <a:normAutofit fontScale="90000"/>
          </a:bodyPr>
          <a:lstStyle/>
          <a:p>
            <a:r>
              <a:rPr lang="en-US" dirty="0"/>
              <a:t>Calculate accuracy sensitivity and specificity for various probability cutoffs</a:t>
            </a:r>
          </a:p>
        </p:txBody>
      </p:sp>
      <p:sp>
        <p:nvSpPr>
          <p:cNvPr id="3" name="Content Placeholder 2">
            <a:extLst>
              <a:ext uri="{FF2B5EF4-FFF2-40B4-BE49-F238E27FC236}">
                <a16:creationId xmlns:a16="http://schemas.microsoft.com/office/drawing/2014/main" id="{F0B1177B-8C8E-44AD-9B48-0C9424879D67}"/>
              </a:ext>
            </a:extLst>
          </p:cNvPr>
          <p:cNvSpPr>
            <a:spLocks noGrp="1"/>
          </p:cNvSpPr>
          <p:nvPr>
            <p:ph idx="1"/>
          </p:nvPr>
        </p:nvSpPr>
        <p:spPr>
          <a:xfrm>
            <a:off x="309489" y="1480306"/>
            <a:ext cx="10600710" cy="5089306"/>
          </a:xfrm>
        </p:spPr>
        <p:txBody>
          <a:bodyPr>
            <a:normAutofit lnSpcReduction="10000"/>
          </a:bodyPr>
          <a:lstStyle/>
          <a:p>
            <a:pPr marL="0" indent="0">
              <a:buNone/>
            </a:pPr>
            <a:r>
              <a:rPr lang="en-US" dirty="0"/>
              <a:t>Below plot describe the accuracy, sensitivity and specificity</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While looking into the plot we can take inferences that on probability at point number 0.3 on X axis data point and we can find that closet value for accuracy, sensitivity and specificity.</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8F5EDA17-DCAC-47C7-A067-7A3F70A116BC}"/>
              </a:ext>
            </a:extLst>
          </p:cNvPr>
          <p:cNvPicPr>
            <a:picLocks noChangeAspect="1"/>
          </p:cNvPicPr>
          <p:nvPr/>
        </p:nvPicPr>
        <p:blipFill>
          <a:blip r:embed="rId2"/>
          <a:stretch>
            <a:fillRect/>
          </a:stretch>
        </p:blipFill>
        <p:spPr>
          <a:xfrm>
            <a:off x="309488" y="1955409"/>
            <a:ext cx="9566031" cy="3422285"/>
          </a:xfrm>
          <a:prstGeom prst="rect">
            <a:avLst/>
          </a:prstGeom>
        </p:spPr>
      </p:pic>
    </p:spTree>
    <p:extLst>
      <p:ext uri="{BB962C8B-B14F-4D97-AF65-F5344CB8AC3E}">
        <p14:creationId xmlns:p14="http://schemas.microsoft.com/office/powerpoint/2010/main" val="3744549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57636-741A-418D-AD6D-A3479A66DBF8}"/>
              </a:ext>
            </a:extLst>
          </p:cNvPr>
          <p:cNvSpPr>
            <a:spLocks noGrp="1"/>
          </p:cNvSpPr>
          <p:nvPr>
            <p:ph type="title"/>
          </p:nvPr>
        </p:nvSpPr>
        <p:spPr>
          <a:xfrm>
            <a:off x="267286" y="365760"/>
            <a:ext cx="10888394" cy="998806"/>
          </a:xfrm>
        </p:spPr>
        <p:txBody>
          <a:bodyPr/>
          <a:lstStyle/>
          <a:p>
            <a:r>
              <a:rPr lang="en-US" dirty="0"/>
              <a:t>Cutoff Probability </a:t>
            </a:r>
          </a:p>
        </p:txBody>
      </p:sp>
      <p:sp>
        <p:nvSpPr>
          <p:cNvPr id="3" name="Content Placeholder 2">
            <a:extLst>
              <a:ext uri="{FF2B5EF4-FFF2-40B4-BE49-F238E27FC236}">
                <a16:creationId xmlns:a16="http://schemas.microsoft.com/office/drawing/2014/main" id="{07FA3FF0-9320-4EE5-8A57-1C588F46BE41}"/>
              </a:ext>
            </a:extLst>
          </p:cNvPr>
          <p:cNvSpPr>
            <a:spLocks noGrp="1"/>
          </p:cNvSpPr>
          <p:nvPr>
            <p:ph idx="1"/>
          </p:nvPr>
        </p:nvSpPr>
        <p:spPr>
          <a:xfrm>
            <a:off x="267286" y="1364566"/>
            <a:ext cx="10888394" cy="5359791"/>
          </a:xfrm>
        </p:spPr>
        <p:txBody>
          <a:bodyPr>
            <a:normAutofit fontScale="92500" lnSpcReduction="10000"/>
          </a:bodyPr>
          <a:lstStyle/>
          <a:p>
            <a:r>
              <a:rPr lang="en-US" dirty="0"/>
              <a:t>We have now considered the 0.3 as cut-off point and same considered to define the probability and introduce the new column as ‘</a:t>
            </a:r>
            <a:r>
              <a:rPr lang="en-US" dirty="0" err="1"/>
              <a:t>Final_Predicated</a:t>
            </a:r>
            <a:r>
              <a:rPr lang="en-US" dirty="0"/>
              <a:t>’  where we can see the probability with most higher side Prospect ID showcased where the criteria mostly fulfilled business requirement, for this below program and result is showcases that </a:t>
            </a:r>
            <a:r>
              <a:rPr lang="en-US" dirty="0" err="1"/>
              <a:t>Prospect_Id</a:t>
            </a:r>
            <a:r>
              <a:rPr lang="en-US" dirty="0"/>
              <a:t> 3575,7021 is mostly correlate with each other , and majorly playing an important role to take business decision.</a:t>
            </a:r>
          </a:p>
          <a:p>
            <a:endParaRPr lang="en-US" dirty="0"/>
          </a:p>
          <a:p>
            <a:endParaRPr lang="en-US" dirty="0"/>
          </a:p>
          <a:p>
            <a:endParaRPr lang="en-US" dirty="0"/>
          </a:p>
          <a:p>
            <a:endParaRPr lang="en-US" dirty="0"/>
          </a:p>
          <a:p>
            <a:endParaRPr lang="en-US" dirty="0"/>
          </a:p>
          <a:p>
            <a:endParaRPr lang="en-US" dirty="0"/>
          </a:p>
          <a:p>
            <a:endParaRPr lang="en-US" dirty="0"/>
          </a:p>
          <a:p>
            <a:r>
              <a:rPr lang="en-US" dirty="0"/>
              <a:t>After this we have re-validated the accuracy of all parameters of confusion matrix. Same we have executed and found that numbers is matching with the above table.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1A36D2C5-EC17-4575-BC34-9FBBD7DA82AE}"/>
              </a:ext>
            </a:extLst>
          </p:cNvPr>
          <p:cNvPicPr>
            <a:picLocks noChangeAspect="1"/>
          </p:cNvPicPr>
          <p:nvPr/>
        </p:nvPicPr>
        <p:blipFill>
          <a:blip r:embed="rId2"/>
          <a:stretch>
            <a:fillRect/>
          </a:stretch>
        </p:blipFill>
        <p:spPr>
          <a:xfrm>
            <a:off x="585053" y="2996418"/>
            <a:ext cx="9754700" cy="2730352"/>
          </a:xfrm>
          <a:prstGeom prst="rect">
            <a:avLst/>
          </a:prstGeom>
        </p:spPr>
      </p:pic>
    </p:spTree>
    <p:extLst>
      <p:ext uri="{BB962C8B-B14F-4D97-AF65-F5344CB8AC3E}">
        <p14:creationId xmlns:p14="http://schemas.microsoft.com/office/powerpoint/2010/main" val="3713585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7D699-1A82-494D-9A6B-92B702AF0197}"/>
              </a:ext>
            </a:extLst>
          </p:cNvPr>
          <p:cNvSpPr>
            <a:spLocks noGrp="1"/>
          </p:cNvSpPr>
          <p:nvPr>
            <p:ph type="title"/>
          </p:nvPr>
        </p:nvSpPr>
        <p:spPr>
          <a:xfrm>
            <a:off x="393895" y="365761"/>
            <a:ext cx="10560617" cy="844062"/>
          </a:xfrm>
        </p:spPr>
        <p:txBody>
          <a:bodyPr/>
          <a:lstStyle/>
          <a:p>
            <a:r>
              <a:rPr lang="en-US" dirty="0"/>
              <a:t>Conclusion and Recommendation</a:t>
            </a:r>
          </a:p>
        </p:txBody>
      </p:sp>
      <p:sp>
        <p:nvSpPr>
          <p:cNvPr id="3" name="Content Placeholder 2">
            <a:extLst>
              <a:ext uri="{FF2B5EF4-FFF2-40B4-BE49-F238E27FC236}">
                <a16:creationId xmlns:a16="http://schemas.microsoft.com/office/drawing/2014/main" id="{8C313B00-EAA9-470F-943D-76261A148D94}"/>
              </a:ext>
            </a:extLst>
          </p:cNvPr>
          <p:cNvSpPr>
            <a:spLocks noGrp="1"/>
          </p:cNvSpPr>
          <p:nvPr>
            <p:ph idx="1"/>
          </p:nvPr>
        </p:nvSpPr>
        <p:spPr>
          <a:xfrm>
            <a:off x="393894" y="1322364"/>
            <a:ext cx="10958733" cy="5169876"/>
          </a:xfrm>
        </p:spPr>
        <p:txBody>
          <a:bodyPr>
            <a:normAutofit fontScale="85000" lnSpcReduction="10000"/>
          </a:bodyPr>
          <a:lstStyle/>
          <a:p>
            <a:r>
              <a:rPr lang="en-US" dirty="0"/>
              <a:t>As per the analysis and overall insights from the different plots , statistics, correlation matrix, confusion matrix, accuracy , specificity, sensitivity, ROC , Optimal cut off etc. The inferences from this study is that “Converted” is basically reply on the following columns –</a:t>
            </a:r>
          </a:p>
          <a:p>
            <a:r>
              <a:rPr lang="en-US" b="1" dirty="0" err="1">
                <a:solidFill>
                  <a:srgbClr val="FFFF00"/>
                </a:solidFill>
              </a:rPr>
              <a:t>TotalVisits,Asymmetrique</a:t>
            </a:r>
            <a:r>
              <a:rPr lang="en-US" b="1" dirty="0">
                <a:solidFill>
                  <a:srgbClr val="FFFF00"/>
                </a:solidFill>
              </a:rPr>
              <a:t> Profile </a:t>
            </a:r>
            <a:r>
              <a:rPr lang="en-US" b="1" dirty="0" err="1">
                <a:solidFill>
                  <a:srgbClr val="FFFF00"/>
                </a:solidFill>
              </a:rPr>
              <a:t>Index,Last</a:t>
            </a:r>
            <a:r>
              <a:rPr lang="en-US" b="1" dirty="0">
                <a:solidFill>
                  <a:srgbClr val="FFFF00"/>
                </a:solidFill>
              </a:rPr>
              <a:t> </a:t>
            </a:r>
            <a:r>
              <a:rPr lang="en-US" b="1" dirty="0" err="1">
                <a:solidFill>
                  <a:srgbClr val="FFFF00"/>
                </a:solidFill>
              </a:rPr>
              <a:t>Activity,Lead</a:t>
            </a:r>
            <a:r>
              <a:rPr lang="en-US" b="1" dirty="0">
                <a:solidFill>
                  <a:srgbClr val="FFFF00"/>
                </a:solidFill>
              </a:rPr>
              <a:t> Source(google),X Education </a:t>
            </a:r>
            <a:r>
              <a:rPr lang="en-US" b="1" dirty="0" err="1">
                <a:solidFill>
                  <a:srgbClr val="FFFF00"/>
                </a:solidFill>
              </a:rPr>
              <a:t>Forums,Total</a:t>
            </a:r>
            <a:r>
              <a:rPr lang="en-US" b="1" dirty="0">
                <a:solidFill>
                  <a:srgbClr val="FFFF00"/>
                </a:solidFill>
              </a:rPr>
              <a:t> Time Spent on </a:t>
            </a:r>
            <a:r>
              <a:rPr lang="en-US" b="1" dirty="0" err="1">
                <a:solidFill>
                  <a:srgbClr val="FFFF00"/>
                </a:solidFill>
              </a:rPr>
              <a:t>Website,Last</a:t>
            </a:r>
            <a:r>
              <a:rPr lang="en-US" b="1" dirty="0">
                <a:solidFill>
                  <a:srgbClr val="FFFF00"/>
                </a:solidFill>
              </a:rPr>
              <a:t> Notable </a:t>
            </a:r>
            <a:r>
              <a:rPr lang="en-US" b="1" dirty="0" err="1">
                <a:solidFill>
                  <a:srgbClr val="FFFF00"/>
                </a:solidFill>
              </a:rPr>
              <a:t>Activity_Modified</a:t>
            </a:r>
            <a:endParaRPr lang="en-US" b="1" dirty="0">
              <a:solidFill>
                <a:srgbClr val="FFFF00"/>
              </a:solidFill>
            </a:endParaRPr>
          </a:p>
          <a:p>
            <a:r>
              <a:rPr lang="en-US" dirty="0"/>
              <a:t>The above columns playing an important role of different their own parameters and the values within the variables of that. For example – when we have checked the Source with different variables and Source values with different variable combination , we have judged that Google value playing a most important role. In Similar pattern applicable for X Education Forum too. Again for this variable, we have considered different other variables like – </a:t>
            </a:r>
            <a:r>
              <a:rPr lang="en-US" dirty="0" err="1"/>
              <a:t>Occuption</a:t>
            </a:r>
            <a:r>
              <a:rPr lang="en-US" dirty="0"/>
              <a:t>, Specialization, Interest Area, What purpose client will opt for the course etc. and all these connected with each other . So when we choice for X Education Forum , we can easily segment the data and target to customer with different variations. </a:t>
            </a:r>
          </a:p>
          <a:p>
            <a:r>
              <a:rPr lang="en-US" dirty="0"/>
              <a:t>Also when we looked at the Site visited, time spent , pages visited gave us the good statistics figure , where we’ll able to analyze the interest area of client, and able to judge and target to customer.</a:t>
            </a:r>
          </a:p>
          <a:p>
            <a:r>
              <a:rPr lang="en-US" dirty="0"/>
              <a:t>So consideration of all these possible scenarios , above recommended high level variables would play an important role. There is again the dependency of other variable of these too, but when we digging and think business point of view , other sub variables also be part of these variables . Although these are the majorly recommended variables.</a:t>
            </a:r>
          </a:p>
        </p:txBody>
      </p:sp>
    </p:spTree>
    <p:extLst>
      <p:ext uri="{BB962C8B-B14F-4D97-AF65-F5344CB8AC3E}">
        <p14:creationId xmlns:p14="http://schemas.microsoft.com/office/powerpoint/2010/main" val="2302360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327D7-451F-4E1A-A295-4C2408EB22A6}"/>
              </a:ext>
            </a:extLst>
          </p:cNvPr>
          <p:cNvSpPr>
            <a:spLocks noGrp="1"/>
          </p:cNvSpPr>
          <p:nvPr>
            <p:ph type="title"/>
          </p:nvPr>
        </p:nvSpPr>
        <p:spPr>
          <a:xfrm>
            <a:off x="337625" y="365760"/>
            <a:ext cx="10789920" cy="6020972"/>
          </a:xfrm>
        </p:spPr>
        <p:txBody>
          <a:bodyPr anchor="ctr"/>
          <a:lstStyle/>
          <a:p>
            <a:pPr algn="ctr"/>
            <a:r>
              <a:rPr lang="en-US" dirty="0"/>
              <a:t>Thank You </a:t>
            </a:r>
          </a:p>
        </p:txBody>
      </p:sp>
    </p:spTree>
    <p:extLst>
      <p:ext uri="{BB962C8B-B14F-4D97-AF65-F5344CB8AC3E}">
        <p14:creationId xmlns:p14="http://schemas.microsoft.com/office/powerpoint/2010/main" val="7898401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358</TotalTime>
  <Words>2096</Words>
  <Application>Microsoft Office PowerPoint</Application>
  <PresentationFormat>Widescreen</PresentationFormat>
  <Paragraphs>168</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Century Gothic</vt:lpstr>
      <vt:lpstr>Wingdings 3</vt:lpstr>
      <vt:lpstr>Ion</vt:lpstr>
      <vt:lpstr>Lead Scoring Assignment Presentation</vt:lpstr>
      <vt:lpstr>Problem Statement and Objective </vt:lpstr>
      <vt:lpstr>Data Understanding </vt:lpstr>
      <vt:lpstr>Data Cleaning and Manipulation</vt:lpstr>
      <vt:lpstr>Data Cleaning and Manipulation</vt:lpstr>
      <vt:lpstr>Data Cleaning and Manipulation</vt:lpstr>
      <vt:lpstr>Data Cleaning and Manipulation</vt:lpstr>
      <vt:lpstr>Data Cleaning and Manipulation</vt:lpstr>
      <vt:lpstr>Feature Standardization and Split Data into Train and Test Sets</vt:lpstr>
      <vt:lpstr>Feature Standardization and Split Data into Train and Test Sets</vt:lpstr>
      <vt:lpstr>Feature Standardization and Split Data into Train and Test Sets</vt:lpstr>
      <vt:lpstr>Model Building </vt:lpstr>
      <vt:lpstr>Feature Selection Using RFE</vt:lpstr>
      <vt:lpstr>Assessing the model with StatsModels </vt:lpstr>
      <vt:lpstr>Predicated variables on the train set</vt:lpstr>
      <vt:lpstr>Predicated variables on the train set</vt:lpstr>
      <vt:lpstr>Confusion Matrix</vt:lpstr>
      <vt:lpstr>Applying VIFs </vt:lpstr>
      <vt:lpstr>Metrics for simple accuracy </vt:lpstr>
      <vt:lpstr>Plotting the ROC Curve</vt:lpstr>
      <vt:lpstr>Plotting the ROC Curve</vt:lpstr>
      <vt:lpstr>Optimal Cut-Off</vt:lpstr>
      <vt:lpstr>Calculate accuracy sensitivity and specificity for various probability cutoffs</vt:lpstr>
      <vt:lpstr>Calculate accuracy sensitivity and specificity for various probability cutoffs</vt:lpstr>
      <vt:lpstr>Cutoff Probability </vt:lpstr>
      <vt:lpstr>Conclusion and Recommendation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 Scoring Assignment :  Presentation</dc:title>
  <dc:creator>Chandrasen Wadikar</dc:creator>
  <cp:lastModifiedBy>Chandrasen Wadikar</cp:lastModifiedBy>
  <cp:revision>62</cp:revision>
  <dcterms:created xsi:type="dcterms:W3CDTF">2019-08-24T07:44:22Z</dcterms:created>
  <dcterms:modified xsi:type="dcterms:W3CDTF">2019-08-24T14:05:02Z</dcterms:modified>
</cp:coreProperties>
</file>