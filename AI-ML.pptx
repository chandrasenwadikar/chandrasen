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12"/>
  </p:notesMasterIdLst>
  <p:sldIdLst>
    <p:sldId id="257" r:id="rId2"/>
    <p:sldId id="272" r:id="rId3"/>
    <p:sldId id="271" r:id="rId4"/>
    <p:sldId id="334" r:id="rId5"/>
    <p:sldId id="333" r:id="rId6"/>
    <p:sldId id="269" r:id="rId7"/>
    <p:sldId id="275" r:id="rId8"/>
    <p:sldId id="273" r:id="rId9"/>
    <p:sldId id="27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67AC"/>
    <a:srgbClr val="90D9FA"/>
    <a:srgbClr val="B8D4EE"/>
    <a:srgbClr val="075A7F"/>
    <a:srgbClr val="0A8CC6"/>
    <a:srgbClr val="20B2F4"/>
    <a:srgbClr val="5BC7F7"/>
    <a:srgbClr val="ABE2FB"/>
    <a:srgbClr val="FFD966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1FD136-5D0E-4F3D-8E17-8C94130E79CB}" type="doc">
      <dgm:prSet loTypeId="urn:microsoft.com/office/officeart/2005/8/layout/hList6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628091FF-3ABC-4FF4-A7CF-8BD66B4481A3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1800" u="sng" dirty="0"/>
            <a:t>Business Understanding</a:t>
          </a:r>
        </a:p>
        <a:p>
          <a:r>
            <a:rPr lang="en-US" sz="1200" dirty="0"/>
            <a:t>What is the most efficient collections channel, that will be cost effective, will help collect faster and will help collect more</a:t>
          </a:r>
          <a:endParaRPr lang="en-US" sz="1200" u="sng" dirty="0"/>
        </a:p>
      </dgm:t>
    </dgm:pt>
    <dgm:pt modelId="{655AC7DC-4AAD-428D-BBE1-2F7E873464FC}" type="parTrans" cxnId="{E8269BB3-0939-4829-8DD7-33A146D0F294}">
      <dgm:prSet/>
      <dgm:spPr/>
      <dgm:t>
        <a:bodyPr/>
        <a:lstStyle/>
        <a:p>
          <a:endParaRPr lang="en-US" sz="1400"/>
        </a:p>
      </dgm:t>
    </dgm:pt>
    <dgm:pt modelId="{3DA20163-698E-46FD-96B8-51EC8BC0C575}" type="sibTrans" cxnId="{E8269BB3-0939-4829-8DD7-33A146D0F294}">
      <dgm:prSet/>
      <dgm:spPr/>
      <dgm:t>
        <a:bodyPr/>
        <a:lstStyle/>
        <a:p>
          <a:endParaRPr lang="en-US" sz="1400"/>
        </a:p>
      </dgm:t>
    </dgm:pt>
    <dgm:pt modelId="{B7CBCBD7-E538-42B2-9015-B5FCCF3B7CE4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Data Mining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Application Data, Demographics, Family, Employment </a:t>
          </a:r>
          <a:r>
            <a:rPr lang="en-US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Details, Financial Details, Property details, Channels/Source of leads, Legal Factors, Market conditions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Behavior: Transaction/Payment/Usage pattern, Collections behavior</a:t>
          </a:r>
          <a:endParaRPr lang="en-US" sz="1200" u="sng" kern="1200" dirty="0"/>
        </a:p>
      </dgm:t>
    </dgm:pt>
    <dgm:pt modelId="{5FB9EDD7-A68C-42A2-8FB0-1F34D02C478D}" type="parTrans" cxnId="{335AEB5F-1D86-4D20-A12A-F035852BCCD1}">
      <dgm:prSet/>
      <dgm:spPr/>
      <dgm:t>
        <a:bodyPr/>
        <a:lstStyle/>
        <a:p>
          <a:endParaRPr lang="en-US" sz="1400"/>
        </a:p>
      </dgm:t>
    </dgm:pt>
    <dgm:pt modelId="{9A3BD2AC-F2CF-49AA-B762-41325D795AD2}" type="sibTrans" cxnId="{335AEB5F-1D86-4D20-A12A-F035852BCCD1}">
      <dgm:prSet/>
      <dgm:spPr/>
      <dgm:t>
        <a:bodyPr/>
        <a:lstStyle/>
        <a:p>
          <a:endParaRPr lang="en-US" sz="1400"/>
        </a:p>
      </dgm:t>
    </dgm:pt>
    <dgm:pt modelId="{D4641743-EFA0-4D95-9978-F8DD79ED8B7A}">
      <dgm:prSet phldrT="[Text]" custT="1"/>
      <dgm:spPr/>
      <dgm:t>
        <a:bodyPr/>
        <a:lstStyle/>
        <a:p>
          <a:r>
            <a:rPr lang="en-US" sz="1800" u="sng" dirty="0"/>
            <a:t>Data Cleaning</a:t>
          </a:r>
        </a:p>
        <a:p>
          <a:r>
            <a:rPr lang="en-US" sz="1200" dirty="0"/>
            <a:t>Handling missing values, treat NA values, duplicate values in the data set</a:t>
          </a:r>
          <a:endParaRPr lang="en-US" sz="1200" u="sng" dirty="0"/>
        </a:p>
      </dgm:t>
    </dgm:pt>
    <dgm:pt modelId="{E7541D6F-3267-41DE-9965-A68510C59796}" type="parTrans" cxnId="{94F6EF98-792B-4133-B4BF-9934301EA312}">
      <dgm:prSet/>
      <dgm:spPr/>
      <dgm:t>
        <a:bodyPr/>
        <a:lstStyle/>
        <a:p>
          <a:endParaRPr lang="en-US" sz="1400"/>
        </a:p>
      </dgm:t>
    </dgm:pt>
    <dgm:pt modelId="{5DAFA723-D469-4582-8DFD-B8D27542F681}" type="sibTrans" cxnId="{94F6EF98-792B-4133-B4BF-9934301EA312}">
      <dgm:prSet/>
      <dgm:spPr/>
      <dgm:t>
        <a:bodyPr/>
        <a:lstStyle/>
        <a:p>
          <a:endParaRPr lang="en-US" sz="1400"/>
        </a:p>
      </dgm:t>
    </dgm:pt>
    <dgm:pt modelId="{49EF7422-6440-4212-8894-48FDF700B685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en-US" sz="1600" dirty="0"/>
        </a:p>
      </dgm:t>
    </dgm:pt>
    <dgm:pt modelId="{8041B5F5-EC39-4492-8D6E-42A9EAAFABD8}" type="parTrans" cxnId="{8E86BBAE-2C80-48CC-B18C-BA3E050201B6}">
      <dgm:prSet/>
      <dgm:spPr/>
      <dgm:t>
        <a:bodyPr/>
        <a:lstStyle/>
        <a:p>
          <a:endParaRPr lang="en-US" sz="1400"/>
        </a:p>
      </dgm:t>
    </dgm:pt>
    <dgm:pt modelId="{9A6A27B6-E7D9-4798-96CF-692CDF8978C1}" type="sibTrans" cxnId="{8E86BBAE-2C80-48CC-B18C-BA3E050201B6}">
      <dgm:prSet/>
      <dgm:spPr/>
      <dgm:t>
        <a:bodyPr/>
        <a:lstStyle/>
        <a:p>
          <a:endParaRPr lang="en-US" sz="1400"/>
        </a:p>
      </dgm:t>
    </dgm:pt>
    <dgm:pt modelId="{0B190566-DD12-4E4F-AC4B-E152B931B00C}">
      <dgm:prSet/>
      <dgm:spPr/>
      <dgm:t>
        <a:bodyPr/>
        <a:lstStyle/>
        <a:p>
          <a:endParaRPr lang="en-US" sz="3600" dirty="0"/>
        </a:p>
      </dgm:t>
    </dgm:pt>
    <dgm:pt modelId="{A705DCB2-FE23-4EFD-8F8D-F7FC8009B10F}" type="parTrans" cxnId="{6C7733FE-6C3F-4DFF-B1D4-7EF8C69ADDFA}">
      <dgm:prSet/>
      <dgm:spPr/>
      <dgm:t>
        <a:bodyPr/>
        <a:lstStyle/>
        <a:p>
          <a:endParaRPr lang="en-US"/>
        </a:p>
      </dgm:t>
    </dgm:pt>
    <dgm:pt modelId="{DF57F936-3AC7-4082-A18B-BF1BD3E31F19}" type="sibTrans" cxnId="{6C7733FE-6C3F-4DFF-B1D4-7EF8C69ADDFA}">
      <dgm:prSet/>
      <dgm:spPr/>
      <dgm:t>
        <a:bodyPr/>
        <a:lstStyle/>
        <a:p>
          <a:endParaRPr lang="en-US"/>
        </a:p>
      </dgm:t>
    </dgm:pt>
    <dgm:pt modelId="{3F93C5A4-2E4D-4CC0-B659-D1E2E0901292}" type="pres">
      <dgm:prSet presAssocID="{1C1FD136-5D0E-4F3D-8E17-8C94130E79CB}" presName="Name0" presStyleCnt="0">
        <dgm:presLayoutVars>
          <dgm:dir/>
          <dgm:resizeHandles val="exact"/>
        </dgm:presLayoutVars>
      </dgm:prSet>
      <dgm:spPr/>
    </dgm:pt>
    <dgm:pt modelId="{62909A75-041E-462F-94A2-1A8AD42F223B}" type="pres">
      <dgm:prSet presAssocID="{628091FF-3ABC-4FF4-A7CF-8BD66B4481A3}" presName="node" presStyleLbl="node1" presStyleIdx="0" presStyleCnt="3" custScaleX="105287" custLinFactNeighborY="241">
        <dgm:presLayoutVars>
          <dgm:bulletEnabled val="1"/>
        </dgm:presLayoutVars>
      </dgm:prSet>
      <dgm:spPr/>
    </dgm:pt>
    <dgm:pt modelId="{D01CF40B-C1A4-42A1-88B4-504EA506E24A}" type="pres">
      <dgm:prSet presAssocID="{3DA20163-698E-46FD-96B8-51EC8BC0C575}" presName="sibTrans" presStyleCnt="0"/>
      <dgm:spPr/>
    </dgm:pt>
    <dgm:pt modelId="{340FF98E-61BA-488E-A70D-3B4D803A1EBA}" type="pres">
      <dgm:prSet presAssocID="{B7CBCBD7-E538-42B2-9015-B5FCCF3B7CE4}" presName="node" presStyleLbl="node1" presStyleIdx="1" presStyleCnt="3" custLinFactNeighborY="-241">
        <dgm:presLayoutVars>
          <dgm:bulletEnabled val="1"/>
        </dgm:presLayoutVars>
      </dgm:prSet>
      <dgm:spPr/>
    </dgm:pt>
    <dgm:pt modelId="{C2CAB1D4-00CD-4789-8B95-D8D90E944EA0}" type="pres">
      <dgm:prSet presAssocID="{9A3BD2AC-F2CF-49AA-B762-41325D795AD2}" presName="sibTrans" presStyleCnt="0"/>
      <dgm:spPr/>
    </dgm:pt>
    <dgm:pt modelId="{47243540-0AC9-442E-89C2-383842DF3035}" type="pres">
      <dgm:prSet presAssocID="{D4641743-EFA0-4D95-9978-F8DD79ED8B7A}" presName="node" presStyleLbl="node1" presStyleIdx="2" presStyleCnt="3">
        <dgm:presLayoutVars>
          <dgm:bulletEnabled val="1"/>
        </dgm:presLayoutVars>
      </dgm:prSet>
      <dgm:spPr/>
    </dgm:pt>
  </dgm:ptLst>
  <dgm:cxnLst>
    <dgm:cxn modelId="{F90EE931-A990-46F7-9547-9921E3C5BA68}" type="presOf" srcId="{628091FF-3ABC-4FF4-A7CF-8BD66B4481A3}" destId="{62909A75-041E-462F-94A2-1A8AD42F223B}" srcOrd="0" destOrd="0" presId="urn:microsoft.com/office/officeart/2005/8/layout/hList6"/>
    <dgm:cxn modelId="{490E7D38-CC1D-4648-BF1E-29A034265E94}" type="presOf" srcId="{1C1FD136-5D0E-4F3D-8E17-8C94130E79CB}" destId="{3F93C5A4-2E4D-4CC0-B659-D1E2E0901292}" srcOrd="0" destOrd="0" presId="urn:microsoft.com/office/officeart/2005/8/layout/hList6"/>
    <dgm:cxn modelId="{335AEB5F-1D86-4D20-A12A-F035852BCCD1}" srcId="{1C1FD136-5D0E-4F3D-8E17-8C94130E79CB}" destId="{B7CBCBD7-E538-42B2-9015-B5FCCF3B7CE4}" srcOrd="1" destOrd="0" parTransId="{5FB9EDD7-A68C-42A2-8FB0-1F34D02C478D}" sibTransId="{9A3BD2AC-F2CF-49AA-B762-41325D795AD2}"/>
    <dgm:cxn modelId="{38046F78-9255-4D43-894F-FB708321A801}" type="presOf" srcId="{0B190566-DD12-4E4F-AC4B-E152B931B00C}" destId="{62909A75-041E-462F-94A2-1A8AD42F223B}" srcOrd="0" destOrd="1" presId="urn:microsoft.com/office/officeart/2005/8/layout/hList6"/>
    <dgm:cxn modelId="{94F6EF98-792B-4133-B4BF-9934301EA312}" srcId="{1C1FD136-5D0E-4F3D-8E17-8C94130E79CB}" destId="{D4641743-EFA0-4D95-9978-F8DD79ED8B7A}" srcOrd="2" destOrd="0" parTransId="{E7541D6F-3267-41DE-9965-A68510C59796}" sibTransId="{5DAFA723-D469-4582-8DFD-B8D27542F681}"/>
    <dgm:cxn modelId="{8E86BBAE-2C80-48CC-B18C-BA3E050201B6}" srcId="{628091FF-3ABC-4FF4-A7CF-8BD66B4481A3}" destId="{49EF7422-6440-4212-8894-48FDF700B685}" srcOrd="1" destOrd="0" parTransId="{8041B5F5-EC39-4492-8D6E-42A9EAAFABD8}" sibTransId="{9A6A27B6-E7D9-4798-96CF-692CDF8978C1}"/>
    <dgm:cxn modelId="{E8269BB3-0939-4829-8DD7-33A146D0F294}" srcId="{1C1FD136-5D0E-4F3D-8E17-8C94130E79CB}" destId="{628091FF-3ABC-4FF4-A7CF-8BD66B4481A3}" srcOrd="0" destOrd="0" parTransId="{655AC7DC-4AAD-428D-BBE1-2F7E873464FC}" sibTransId="{3DA20163-698E-46FD-96B8-51EC8BC0C575}"/>
    <dgm:cxn modelId="{AA43EEB3-EF61-4ED4-9C91-02B7B54DCC6B}" type="presOf" srcId="{49EF7422-6440-4212-8894-48FDF700B685}" destId="{62909A75-041E-462F-94A2-1A8AD42F223B}" srcOrd="0" destOrd="2" presId="urn:microsoft.com/office/officeart/2005/8/layout/hList6"/>
    <dgm:cxn modelId="{407DBDC0-168F-423C-B0A6-DC492B0F15EF}" type="presOf" srcId="{B7CBCBD7-E538-42B2-9015-B5FCCF3B7CE4}" destId="{340FF98E-61BA-488E-A70D-3B4D803A1EBA}" srcOrd="0" destOrd="0" presId="urn:microsoft.com/office/officeart/2005/8/layout/hList6"/>
    <dgm:cxn modelId="{7D0135F3-709A-4646-BA36-FA80A30867C7}" type="presOf" srcId="{D4641743-EFA0-4D95-9978-F8DD79ED8B7A}" destId="{47243540-0AC9-442E-89C2-383842DF3035}" srcOrd="0" destOrd="0" presId="urn:microsoft.com/office/officeart/2005/8/layout/hList6"/>
    <dgm:cxn modelId="{6C7733FE-6C3F-4DFF-B1D4-7EF8C69ADDFA}" srcId="{628091FF-3ABC-4FF4-A7CF-8BD66B4481A3}" destId="{0B190566-DD12-4E4F-AC4B-E152B931B00C}" srcOrd="0" destOrd="0" parTransId="{A705DCB2-FE23-4EFD-8F8D-F7FC8009B10F}" sibTransId="{DF57F936-3AC7-4082-A18B-BF1BD3E31F19}"/>
    <dgm:cxn modelId="{4B817B70-69FF-49B2-90F7-EEA5F3F7552F}" type="presParOf" srcId="{3F93C5A4-2E4D-4CC0-B659-D1E2E0901292}" destId="{62909A75-041E-462F-94A2-1A8AD42F223B}" srcOrd="0" destOrd="0" presId="urn:microsoft.com/office/officeart/2005/8/layout/hList6"/>
    <dgm:cxn modelId="{DBCB228B-883B-425F-8CEE-86C4E7BEED7D}" type="presParOf" srcId="{3F93C5A4-2E4D-4CC0-B659-D1E2E0901292}" destId="{D01CF40B-C1A4-42A1-88B4-504EA506E24A}" srcOrd="1" destOrd="0" presId="urn:microsoft.com/office/officeart/2005/8/layout/hList6"/>
    <dgm:cxn modelId="{07E30336-451C-4841-BBFF-94E4A7A5334D}" type="presParOf" srcId="{3F93C5A4-2E4D-4CC0-B659-D1E2E0901292}" destId="{340FF98E-61BA-488E-A70D-3B4D803A1EBA}" srcOrd="2" destOrd="0" presId="urn:microsoft.com/office/officeart/2005/8/layout/hList6"/>
    <dgm:cxn modelId="{B98E65ED-DB33-476B-89A4-8BABF6406790}" type="presParOf" srcId="{3F93C5A4-2E4D-4CC0-B659-D1E2E0901292}" destId="{C2CAB1D4-00CD-4789-8B95-D8D90E944EA0}" srcOrd="3" destOrd="0" presId="urn:microsoft.com/office/officeart/2005/8/layout/hList6"/>
    <dgm:cxn modelId="{947F6EF9-8C68-4574-B5D2-5103A2000550}" type="presParOf" srcId="{3F93C5A4-2E4D-4CC0-B659-D1E2E0901292}" destId="{47243540-0AC9-442E-89C2-383842DF303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1FD136-5D0E-4F3D-8E17-8C94130E79CB}" type="doc">
      <dgm:prSet loTypeId="urn:microsoft.com/office/officeart/2005/8/layout/hList6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628091FF-3ABC-4FF4-A7CF-8BD66B4481A3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1800" u="sng" dirty="0"/>
            <a:t>Data Exploration </a:t>
          </a:r>
        </a:p>
        <a:p>
          <a:r>
            <a:rPr lang="en-US" sz="1200" dirty="0"/>
            <a:t>To find out the different variable correlation, along with the attributes of variables which have more weightage using different exploration methods.</a:t>
          </a:r>
          <a:endParaRPr lang="en-US" sz="1200" u="sng" dirty="0"/>
        </a:p>
      </dgm:t>
    </dgm:pt>
    <dgm:pt modelId="{655AC7DC-4AAD-428D-BBE1-2F7E873464FC}" type="parTrans" cxnId="{E8269BB3-0939-4829-8DD7-33A146D0F294}">
      <dgm:prSet/>
      <dgm:spPr/>
      <dgm:t>
        <a:bodyPr/>
        <a:lstStyle/>
        <a:p>
          <a:endParaRPr lang="en-US" sz="1400"/>
        </a:p>
      </dgm:t>
    </dgm:pt>
    <dgm:pt modelId="{3DA20163-698E-46FD-96B8-51EC8BC0C575}" type="sibTrans" cxnId="{E8269BB3-0939-4829-8DD7-33A146D0F294}">
      <dgm:prSet/>
      <dgm:spPr/>
      <dgm:t>
        <a:bodyPr/>
        <a:lstStyle/>
        <a:p>
          <a:endParaRPr lang="en-US" sz="1400"/>
        </a:p>
      </dgm:t>
    </dgm:pt>
    <dgm:pt modelId="{B7CBCBD7-E538-42B2-9015-B5FCCF3B7CE4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Feature Engineering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Get the insights from the EDA process, to identify the different variables and there scaling range for feature engineering.</a:t>
          </a:r>
          <a:endParaRPr lang="en-US" sz="1200" u="sng" kern="1200" dirty="0"/>
        </a:p>
      </dgm:t>
    </dgm:pt>
    <dgm:pt modelId="{5FB9EDD7-A68C-42A2-8FB0-1F34D02C478D}" type="parTrans" cxnId="{335AEB5F-1D86-4D20-A12A-F035852BCCD1}">
      <dgm:prSet/>
      <dgm:spPr/>
      <dgm:t>
        <a:bodyPr/>
        <a:lstStyle/>
        <a:p>
          <a:endParaRPr lang="en-US" sz="1400"/>
        </a:p>
      </dgm:t>
    </dgm:pt>
    <dgm:pt modelId="{9A3BD2AC-F2CF-49AA-B762-41325D795AD2}" type="sibTrans" cxnId="{335AEB5F-1D86-4D20-A12A-F035852BCCD1}">
      <dgm:prSet/>
      <dgm:spPr/>
      <dgm:t>
        <a:bodyPr/>
        <a:lstStyle/>
        <a:p>
          <a:endParaRPr lang="en-US" sz="1400"/>
        </a:p>
      </dgm:t>
    </dgm:pt>
    <dgm:pt modelId="{D4641743-EFA0-4D95-9978-F8DD79ED8B7A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1800" u="sng" dirty="0"/>
            <a:t>Predictive Modeling &amp; Visualization</a:t>
          </a:r>
        </a:p>
        <a:p>
          <a:r>
            <a:rPr lang="en-US" sz="1200" dirty="0"/>
            <a:t>Build the different models like - Logistic Regression, Decision Tree, Random Forest etc. Major the performance of the models using metrics (Confusion Matrix, RMSE, Precision &amp; Recall, accuracy  score etc.)</a:t>
          </a:r>
          <a:endParaRPr lang="en-US" sz="1200" u="sng" dirty="0"/>
        </a:p>
      </dgm:t>
    </dgm:pt>
    <dgm:pt modelId="{E7541D6F-3267-41DE-9965-A68510C59796}" type="parTrans" cxnId="{94F6EF98-792B-4133-B4BF-9934301EA312}">
      <dgm:prSet/>
      <dgm:spPr/>
      <dgm:t>
        <a:bodyPr/>
        <a:lstStyle/>
        <a:p>
          <a:endParaRPr lang="en-US" sz="1400"/>
        </a:p>
      </dgm:t>
    </dgm:pt>
    <dgm:pt modelId="{5DAFA723-D469-4582-8DFD-B8D27542F681}" type="sibTrans" cxnId="{94F6EF98-792B-4133-B4BF-9934301EA312}">
      <dgm:prSet/>
      <dgm:spPr/>
      <dgm:t>
        <a:bodyPr/>
        <a:lstStyle/>
        <a:p>
          <a:endParaRPr lang="en-US" sz="1400"/>
        </a:p>
      </dgm:t>
    </dgm:pt>
    <dgm:pt modelId="{49EF7422-6440-4212-8894-48FDF700B685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en-US" sz="1600" dirty="0"/>
        </a:p>
      </dgm:t>
    </dgm:pt>
    <dgm:pt modelId="{8041B5F5-EC39-4492-8D6E-42A9EAAFABD8}" type="parTrans" cxnId="{8E86BBAE-2C80-48CC-B18C-BA3E050201B6}">
      <dgm:prSet/>
      <dgm:spPr/>
      <dgm:t>
        <a:bodyPr/>
        <a:lstStyle/>
        <a:p>
          <a:endParaRPr lang="en-US" sz="1400"/>
        </a:p>
      </dgm:t>
    </dgm:pt>
    <dgm:pt modelId="{9A6A27B6-E7D9-4798-96CF-692CDF8978C1}" type="sibTrans" cxnId="{8E86BBAE-2C80-48CC-B18C-BA3E050201B6}">
      <dgm:prSet/>
      <dgm:spPr/>
      <dgm:t>
        <a:bodyPr/>
        <a:lstStyle/>
        <a:p>
          <a:endParaRPr lang="en-US" sz="1400"/>
        </a:p>
      </dgm:t>
    </dgm:pt>
    <dgm:pt modelId="{0B190566-DD12-4E4F-AC4B-E152B931B00C}">
      <dgm:prSet/>
      <dgm:spPr/>
      <dgm:t>
        <a:bodyPr/>
        <a:lstStyle/>
        <a:p>
          <a:endParaRPr lang="en-US" sz="3600" dirty="0"/>
        </a:p>
      </dgm:t>
    </dgm:pt>
    <dgm:pt modelId="{A705DCB2-FE23-4EFD-8F8D-F7FC8009B10F}" type="parTrans" cxnId="{6C7733FE-6C3F-4DFF-B1D4-7EF8C69ADDFA}">
      <dgm:prSet/>
      <dgm:spPr/>
      <dgm:t>
        <a:bodyPr/>
        <a:lstStyle/>
        <a:p>
          <a:endParaRPr lang="en-US"/>
        </a:p>
      </dgm:t>
    </dgm:pt>
    <dgm:pt modelId="{DF57F936-3AC7-4082-A18B-BF1BD3E31F19}" type="sibTrans" cxnId="{6C7733FE-6C3F-4DFF-B1D4-7EF8C69ADDFA}">
      <dgm:prSet/>
      <dgm:spPr/>
      <dgm:t>
        <a:bodyPr/>
        <a:lstStyle/>
        <a:p>
          <a:endParaRPr lang="en-US"/>
        </a:p>
      </dgm:t>
    </dgm:pt>
    <dgm:pt modelId="{3F93C5A4-2E4D-4CC0-B659-D1E2E0901292}" type="pres">
      <dgm:prSet presAssocID="{1C1FD136-5D0E-4F3D-8E17-8C94130E79CB}" presName="Name0" presStyleCnt="0">
        <dgm:presLayoutVars>
          <dgm:dir/>
          <dgm:resizeHandles val="exact"/>
        </dgm:presLayoutVars>
      </dgm:prSet>
      <dgm:spPr/>
    </dgm:pt>
    <dgm:pt modelId="{62909A75-041E-462F-94A2-1A8AD42F223B}" type="pres">
      <dgm:prSet presAssocID="{628091FF-3ABC-4FF4-A7CF-8BD66B4481A3}" presName="node" presStyleLbl="node1" presStyleIdx="0" presStyleCnt="3" custScaleX="105287" custLinFactNeighborY="241">
        <dgm:presLayoutVars>
          <dgm:bulletEnabled val="1"/>
        </dgm:presLayoutVars>
      </dgm:prSet>
      <dgm:spPr/>
    </dgm:pt>
    <dgm:pt modelId="{D01CF40B-C1A4-42A1-88B4-504EA506E24A}" type="pres">
      <dgm:prSet presAssocID="{3DA20163-698E-46FD-96B8-51EC8BC0C575}" presName="sibTrans" presStyleCnt="0"/>
      <dgm:spPr/>
    </dgm:pt>
    <dgm:pt modelId="{340FF98E-61BA-488E-A70D-3B4D803A1EBA}" type="pres">
      <dgm:prSet presAssocID="{B7CBCBD7-E538-42B2-9015-B5FCCF3B7CE4}" presName="node" presStyleLbl="node1" presStyleIdx="1" presStyleCnt="3" custLinFactNeighborY="-241">
        <dgm:presLayoutVars>
          <dgm:bulletEnabled val="1"/>
        </dgm:presLayoutVars>
      </dgm:prSet>
      <dgm:spPr/>
    </dgm:pt>
    <dgm:pt modelId="{C2CAB1D4-00CD-4789-8B95-D8D90E944EA0}" type="pres">
      <dgm:prSet presAssocID="{9A3BD2AC-F2CF-49AA-B762-41325D795AD2}" presName="sibTrans" presStyleCnt="0"/>
      <dgm:spPr/>
    </dgm:pt>
    <dgm:pt modelId="{47243540-0AC9-442E-89C2-383842DF3035}" type="pres">
      <dgm:prSet presAssocID="{D4641743-EFA0-4D95-9978-F8DD79ED8B7A}" presName="node" presStyleLbl="node1" presStyleIdx="2" presStyleCnt="3">
        <dgm:presLayoutVars>
          <dgm:bulletEnabled val="1"/>
        </dgm:presLayoutVars>
      </dgm:prSet>
      <dgm:spPr/>
    </dgm:pt>
  </dgm:ptLst>
  <dgm:cxnLst>
    <dgm:cxn modelId="{F90EE931-A990-46F7-9547-9921E3C5BA68}" type="presOf" srcId="{628091FF-3ABC-4FF4-A7CF-8BD66B4481A3}" destId="{62909A75-041E-462F-94A2-1A8AD42F223B}" srcOrd="0" destOrd="0" presId="urn:microsoft.com/office/officeart/2005/8/layout/hList6"/>
    <dgm:cxn modelId="{490E7D38-CC1D-4648-BF1E-29A034265E94}" type="presOf" srcId="{1C1FD136-5D0E-4F3D-8E17-8C94130E79CB}" destId="{3F93C5A4-2E4D-4CC0-B659-D1E2E0901292}" srcOrd="0" destOrd="0" presId="urn:microsoft.com/office/officeart/2005/8/layout/hList6"/>
    <dgm:cxn modelId="{335AEB5F-1D86-4D20-A12A-F035852BCCD1}" srcId="{1C1FD136-5D0E-4F3D-8E17-8C94130E79CB}" destId="{B7CBCBD7-E538-42B2-9015-B5FCCF3B7CE4}" srcOrd="1" destOrd="0" parTransId="{5FB9EDD7-A68C-42A2-8FB0-1F34D02C478D}" sibTransId="{9A3BD2AC-F2CF-49AA-B762-41325D795AD2}"/>
    <dgm:cxn modelId="{38046F78-9255-4D43-894F-FB708321A801}" type="presOf" srcId="{0B190566-DD12-4E4F-AC4B-E152B931B00C}" destId="{62909A75-041E-462F-94A2-1A8AD42F223B}" srcOrd="0" destOrd="1" presId="urn:microsoft.com/office/officeart/2005/8/layout/hList6"/>
    <dgm:cxn modelId="{94F6EF98-792B-4133-B4BF-9934301EA312}" srcId="{1C1FD136-5D0E-4F3D-8E17-8C94130E79CB}" destId="{D4641743-EFA0-4D95-9978-F8DD79ED8B7A}" srcOrd="2" destOrd="0" parTransId="{E7541D6F-3267-41DE-9965-A68510C59796}" sibTransId="{5DAFA723-D469-4582-8DFD-B8D27542F681}"/>
    <dgm:cxn modelId="{8E86BBAE-2C80-48CC-B18C-BA3E050201B6}" srcId="{628091FF-3ABC-4FF4-A7CF-8BD66B4481A3}" destId="{49EF7422-6440-4212-8894-48FDF700B685}" srcOrd="1" destOrd="0" parTransId="{8041B5F5-EC39-4492-8D6E-42A9EAAFABD8}" sibTransId="{9A6A27B6-E7D9-4798-96CF-692CDF8978C1}"/>
    <dgm:cxn modelId="{E8269BB3-0939-4829-8DD7-33A146D0F294}" srcId="{1C1FD136-5D0E-4F3D-8E17-8C94130E79CB}" destId="{628091FF-3ABC-4FF4-A7CF-8BD66B4481A3}" srcOrd="0" destOrd="0" parTransId="{655AC7DC-4AAD-428D-BBE1-2F7E873464FC}" sibTransId="{3DA20163-698E-46FD-96B8-51EC8BC0C575}"/>
    <dgm:cxn modelId="{AA43EEB3-EF61-4ED4-9C91-02B7B54DCC6B}" type="presOf" srcId="{49EF7422-6440-4212-8894-48FDF700B685}" destId="{62909A75-041E-462F-94A2-1A8AD42F223B}" srcOrd="0" destOrd="2" presId="urn:microsoft.com/office/officeart/2005/8/layout/hList6"/>
    <dgm:cxn modelId="{407DBDC0-168F-423C-B0A6-DC492B0F15EF}" type="presOf" srcId="{B7CBCBD7-E538-42B2-9015-B5FCCF3B7CE4}" destId="{340FF98E-61BA-488E-A70D-3B4D803A1EBA}" srcOrd="0" destOrd="0" presId="urn:microsoft.com/office/officeart/2005/8/layout/hList6"/>
    <dgm:cxn modelId="{7D0135F3-709A-4646-BA36-FA80A30867C7}" type="presOf" srcId="{D4641743-EFA0-4D95-9978-F8DD79ED8B7A}" destId="{47243540-0AC9-442E-89C2-383842DF3035}" srcOrd="0" destOrd="0" presId="urn:microsoft.com/office/officeart/2005/8/layout/hList6"/>
    <dgm:cxn modelId="{6C7733FE-6C3F-4DFF-B1D4-7EF8C69ADDFA}" srcId="{628091FF-3ABC-4FF4-A7CF-8BD66B4481A3}" destId="{0B190566-DD12-4E4F-AC4B-E152B931B00C}" srcOrd="0" destOrd="0" parTransId="{A705DCB2-FE23-4EFD-8F8D-F7FC8009B10F}" sibTransId="{DF57F936-3AC7-4082-A18B-BF1BD3E31F19}"/>
    <dgm:cxn modelId="{4B817B70-69FF-49B2-90F7-EEA5F3F7552F}" type="presParOf" srcId="{3F93C5A4-2E4D-4CC0-B659-D1E2E0901292}" destId="{62909A75-041E-462F-94A2-1A8AD42F223B}" srcOrd="0" destOrd="0" presId="urn:microsoft.com/office/officeart/2005/8/layout/hList6"/>
    <dgm:cxn modelId="{DBCB228B-883B-425F-8CEE-86C4E7BEED7D}" type="presParOf" srcId="{3F93C5A4-2E4D-4CC0-B659-D1E2E0901292}" destId="{D01CF40B-C1A4-42A1-88B4-504EA506E24A}" srcOrd="1" destOrd="0" presId="urn:microsoft.com/office/officeart/2005/8/layout/hList6"/>
    <dgm:cxn modelId="{07E30336-451C-4841-BBFF-94E4A7A5334D}" type="presParOf" srcId="{3F93C5A4-2E4D-4CC0-B659-D1E2E0901292}" destId="{340FF98E-61BA-488E-A70D-3B4D803A1EBA}" srcOrd="2" destOrd="0" presId="urn:microsoft.com/office/officeart/2005/8/layout/hList6"/>
    <dgm:cxn modelId="{B98E65ED-DB33-476B-89A4-8BABF6406790}" type="presParOf" srcId="{3F93C5A4-2E4D-4CC0-B659-D1E2E0901292}" destId="{C2CAB1D4-00CD-4789-8B95-D8D90E944EA0}" srcOrd="3" destOrd="0" presId="urn:microsoft.com/office/officeart/2005/8/layout/hList6"/>
    <dgm:cxn modelId="{947F6EF9-8C68-4574-B5D2-5103A2000550}" type="presParOf" srcId="{3F93C5A4-2E4D-4CC0-B659-D1E2E0901292}" destId="{47243540-0AC9-442E-89C2-383842DF303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23F2B6-682F-4BD8-9448-1B0A34D1A620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0935A6-09F5-4A82-BEBE-2434B8648446}">
      <dgm:prSet phldrT="[Text]" custT="1"/>
      <dgm:spPr/>
      <dgm:t>
        <a:bodyPr/>
        <a:lstStyle/>
        <a:p>
          <a:r>
            <a:rPr lang="en-US" sz="1600" b="1" u="sng" dirty="0"/>
            <a:t>Workshop ( 2 Days)</a:t>
          </a:r>
        </a:p>
        <a:p>
          <a:r>
            <a:rPr lang="en-US" sz="1200" dirty="0"/>
            <a:t>- Meeting Stake holders</a:t>
          </a:r>
        </a:p>
        <a:p>
          <a:r>
            <a:rPr lang="en-US" sz="1200" dirty="0"/>
            <a:t>- Review on the Problem Statements</a:t>
          </a:r>
        </a:p>
        <a:p>
          <a:r>
            <a:rPr lang="en-US" sz="1200" dirty="0"/>
            <a:t>- KPI &amp; Success definition</a:t>
          </a:r>
        </a:p>
        <a:p>
          <a:r>
            <a:rPr lang="en-US" sz="1200" dirty="0"/>
            <a:t>- Data Insights with Business</a:t>
          </a:r>
        </a:p>
        <a:p>
          <a:r>
            <a:rPr lang="en-US" sz="1200" dirty="0"/>
            <a:t>- Discussion with IT team on Data Requirements / Data Security  matters</a:t>
          </a:r>
        </a:p>
      </dgm:t>
    </dgm:pt>
    <dgm:pt modelId="{70DF9564-4EB9-46CF-BD62-F88CE0B255BE}" type="parTrans" cxnId="{8585C12D-9025-42A1-B869-CD8E1A6CB96F}">
      <dgm:prSet/>
      <dgm:spPr/>
      <dgm:t>
        <a:bodyPr/>
        <a:lstStyle/>
        <a:p>
          <a:endParaRPr lang="en-US" sz="1200"/>
        </a:p>
      </dgm:t>
    </dgm:pt>
    <dgm:pt modelId="{0A68F178-7BDA-4197-8C6F-D86545B47797}" type="sibTrans" cxnId="{8585C12D-9025-42A1-B869-CD8E1A6CB96F}">
      <dgm:prSet/>
      <dgm:spPr/>
      <dgm:t>
        <a:bodyPr/>
        <a:lstStyle/>
        <a:p>
          <a:endParaRPr lang="en-US" sz="1200"/>
        </a:p>
      </dgm:t>
    </dgm:pt>
    <dgm:pt modelId="{ADF6818D-43E8-4C6C-9FCA-7717C42AFA32}">
      <dgm:prSet phldrT="[Text]" custT="1"/>
      <dgm:spPr/>
      <dgm:t>
        <a:bodyPr/>
        <a:lstStyle/>
        <a:p>
          <a:r>
            <a:rPr lang="en-US" sz="1600" b="1" u="sng" dirty="0"/>
            <a:t>High Level Design &amp; Plan ( 1 week)</a:t>
          </a:r>
          <a:endParaRPr lang="en-US" sz="1200" dirty="0"/>
        </a:p>
        <a:p>
          <a:r>
            <a:rPr lang="en-US" sz="1200" dirty="0"/>
            <a:t>Share high level Design and Project plan</a:t>
          </a:r>
        </a:p>
        <a:p>
          <a:r>
            <a:rPr lang="en-US" sz="1200" dirty="0"/>
            <a:t>Share Data requirements</a:t>
          </a:r>
        </a:p>
        <a:p>
          <a:endParaRPr lang="en-US" sz="1200" dirty="0"/>
        </a:p>
      </dgm:t>
    </dgm:pt>
    <dgm:pt modelId="{F3FA6EC3-DABF-4D2A-9471-63CA94F73915}" type="parTrans" cxnId="{A2AE190E-0A4B-4216-8CA9-A4CF89E2435D}">
      <dgm:prSet/>
      <dgm:spPr/>
      <dgm:t>
        <a:bodyPr/>
        <a:lstStyle/>
        <a:p>
          <a:endParaRPr lang="en-US" sz="1200"/>
        </a:p>
      </dgm:t>
    </dgm:pt>
    <dgm:pt modelId="{1CC1DE39-2978-4504-9EDD-9681FEBC7C0B}" type="sibTrans" cxnId="{A2AE190E-0A4B-4216-8CA9-A4CF89E2435D}">
      <dgm:prSet/>
      <dgm:spPr/>
      <dgm:t>
        <a:bodyPr/>
        <a:lstStyle/>
        <a:p>
          <a:endParaRPr lang="en-US" sz="1200"/>
        </a:p>
      </dgm:t>
    </dgm:pt>
    <dgm:pt modelId="{3331B208-963C-462A-AF23-4D5B61B52A48}">
      <dgm:prSet phldrT="[Text]" custT="1"/>
      <dgm:spPr/>
      <dgm:t>
        <a:bodyPr/>
        <a:lstStyle/>
        <a:p>
          <a:r>
            <a:rPr lang="en-US" sz="1600" b="1" dirty="0"/>
            <a:t>Data Exploration ( 2 weeks)</a:t>
          </a:r>
        </a:p>
        <a:p>
          <a:r>
            <a:rPr lang="en-US" sz="1200" dirty="0"/>
            <a:t>- Slice the data in different ways</a:t>
          </a:r>
        </a:p>
        <a:p>
          <a:r>
            <a:rPr lang="en-US" sz="1200" dirty="0"/>
            <a:t>- Counts, Graphs, distribution, histograms</a:t>
          </a:r>
        </a:p>
        <a:p>
          <a:endParaRPr lang="en-US" sz="1200" dirty="0"/>
        </a:p>
      </dgm:t>
    </dgm:pt>
    <dgm:pt modelId="{3B8DB3FE-6532-4EF9-9BB8-6CC7C79AF262}" type="parTrans" cxnId="{7B501FA2-7B34-4A77-8AB4-F0EBD4C08038}">
      <dgm:prSet/>
      <dgm:spPr/>
      <dgm:t>
        <a:bodyPr/>
        <a:lstStyle/>
        <a:p>
          <a:endParaRPr lang="en-US" sz="1200"/>
        </a:p>
      </dgm:t>
    </dgm:pt>
    <dgm:pt modelId="{25ED525F-0FB2-4051-8B24-1FA13C235ED5}" type="sibTrans" cxnId="{7B501FA2-7B34-4A77-8AB4-F0EBD4C08038}">
      <dgm:prSet/>
      <dgm:spPr/>
      <dgm:t>
        <a:bodyPr/>
        <a:lstStyle/>
        <a:p>
          <a:endParaRPr lang="en-US" sz="1200"/>
        </a:p>
      </dgm:t>
    </dgm:pt>
    <dgm:pt modelId="{BFBE4027-FF55-4B3B-8B84-07D1CAFF8FA7}">
      <dgm:prSet phldrT="[Text]" custT="1"/>
      <dgm:spPr/>
      <dgm:t>
        <a:bodyPr/>
        <a:lstStyle/>
        <a:p>
          <a:r>
            <a:rPr lang="en-US" sz="1600" dirty="0"/>
            <a:t>Modelling ( 6 weeks)</a:t>
          </a:r>
        </a:p>
        <a:p>
          <a:r>
            <a:rPr lang="en-US" sz="1200" dirty="0"/>
            <a:t>Build ETL, Train Models, Evaluate Models with different metrices &amp; baselines, Sanity check of the Models</a:t>
          </a:r>
        </a:p>
      </dgm:t>
    </dgm:pt>
    <dgm:pt modelId="{21A95F62-E58C-4A76-8E88-FAD604AD64A4}" type="parTrans" cxnId="{5BFBBBC4-A98D-4A2A-93DE-4EEA48FD0977}">
      <dgm:prSet/>
      <dgm:spPr/>
      <dgm:t>
        <a:bodyPr/>
        <a:lstStyle/>
        <a:p>
          <a:endParaRPr lang="en-US" sz="1200"/>
        </a:p>
      </dgm:t>
    </dgm:pt>
    <dgm:pt modelId="{45BD08A4-842D-42DF-B5ED-F13CA77D8DD0}" type="sibTrans" cxnId="{5BFBBBC4-A98D-4A2A-93DE-4EEA48FD0977}">
      <dgm:prSet/>
      <dgm:spPr/>
      <dgm:t>
        <a:bodyPr/>
        <a:lstStyle/>
        <a:p>
          <a:endParaRPr lang="en-US" sz="1200"/>
        </a:p>
      </dgm:t>
    </dgm:pt>
    <dgm:pt modelId="{8998D5BC-5F7A-4FDE-878E-EBB11457D46E}">
      <dgm:prSet phldrT="[Text]" custT="1"/>
      <dgm:spPr/>
      <dgm:t>
        <a:bodyPr/>
        <a:lstStyle/>
        <a:p>
          <a:r>
            <a:rPr lang="en-US" sz="1600" b="1" dirty="0"/>
            <a:t>Product Planning ( 1 weeks)</a:t>
          </a:r>
        </a:p>
        <a:p>
          <a:r>
            <a:rPr lang="en-US" sz="1200" dirty="0"/>
            <a:t>Configuration / Customization requirements in Collection product</a:t>
          </a:r>
        </a:p>
        <a:p>
          <a:endParaRPr lang="en-US" sz="1200" dirty="0"/>
        </a:p>
      </dgm:t>
    </dgm:pt>
    <dgm:pt modelId="{5F85722F-0DCF-41D4-A960-22AB197E3083}" type="parTrans" cxnId="{47A3DACB-027D-4675-B542-76E455E78A86}">
      <dgm:prSet/>
      <dgm:spPr/>
      <dgm:t>
        <a:bodyPr/>
        <a:lstStyle/>
        <a:p>
          <a:endParaRPr lang="en-US" sz="1200"/>
        </a:p>
      </dgm:t>
    </dgm:pt>
    <dgm:pt modelId="{F37D3C52-303B-44C7-B1F0-07F8FC1088F3}" type="sibTrans" cxnId="{47A3DACB-027D-4675-B542-76E455E78A86}">
      <dgm:prSet/>
      <dgm:spPr/>
      <dgm:t>
        <a:bodyPr/>
        <a:lstStyle/>
        <a:p>
          <a:endParaRPr lang="en-US" sz="1200"/>
        </a:p>
      </dgm:t>
    </dgm:pt>
    <dgm:pt modelId="{A1B76CA2-6686-4E36-9175-FC2470979A6E}">
      <dgm:prSet phldrT="[Text]" custT="1"/>
      <dgm:spPr/>
      <dgm:t>
        <a:bodyPr/>
        <a:lstStyle/>
        <a:p>
          <a:r>
            <a:rPr lang="en-US" sz="1600" dirty="0"/>
            <a:t>Productization ( 5 weeks)</a:t>
          </a:r>
        </a:p>
        <a:p>
          <a:r>
            <a:rPr lang="en-US" sz="1200" dirty="0"/>
            <a:t>Code Development / Configuration, Review, </a:t>
          </a:r>
        </a:p>
        <a:p>
          <a:r>
            <a:rPr lang="en-US" sz="1200" dirty="0"/>
            <a:t>Optimization, </a:t>
          </a:r>
        </a:p>
      </dgm:t>
    </dgm:pt>
    <dgm:pt modelId="{A7AECC82-0F3E-40C4-8D9E-CFEFFB38FACC}" type="parTrans" cxnId="{84087274-31DA-48BC-A222-FF31C0E1DC6C}">
      <dgm:prSet/>
      <dgm:spPr/>
      <dgm:t>
        <a:bodyPr/>
        <a:lstStyle/>
        <a:p>
          <a:endParaRPr lang="en-US" sz="1200"/>
        </a:p>
      </dgm:t>
    </dgm:pt>
    <dgm:pt modelId="{8D368A69-1F6B-48EA-931D-B30DB50BF659}" type="sibTrans" cxnId="{84087274-31DA-48BC-A222-FF31C0E1DC6C}">
      <dgm:prSet/>
      <dgm:spPr/>
      <dgm:t>
        <a:bodyPr/>
        <a:lstStyle/>
        <a:p>
          <a:endParaRPr lang="en-US" sz="1200"/>
        </a:p>
      </dgm:t>
    </dgm:pt>
    <dgm:pt modelId="{30AE8017-3397-4EB6-9353-B4DEFB3D2FA5}">
      <dgm:prSet phldrT="[Text]" custT="1"/>
      <dgm:spPr/>
      <dgm:t>
        <a:bodyPr/>
        <a:lstStyle/>
        <a:p>
          <a:r>
            <a:rPr lang="en-US" sz="1600" dirty="0"/>
            <a:t>Testing ( 2 weeks) </a:t>
          </a:r>
        </a:p>
        <a:p>
          <a:r>
            <a:rPr lang="en-US" sz="1200" dirty="0"/>
            <a:t>Deployment of Models &amp; Code / Configuration and Testing for acceptance &amp; regressions</a:t>
          </a:r>
        </a:p>
      </dgm:t>
    </dgm:pt>
    <dgm:pt modelId="{11993F8A-9DD3-4ADF-AB76-689C39BEAAFB}" type="parTrans" cxnId="{A07B0951-33CB-4F03-8ECF-384C31836033}">
      <dgm:prSet/>
      <dgm:spPr/>
      <dgm:t>
        <a:bodyPr/>
        <a:lstStyle/>
        <a:p>
          <a:endParaRPr lang="en-US" sz="1200"/>
        </a:p>
      </dgm:t>
    </dgm:pt>
    <dgm:pt modelId="{E239AD60-65C1-48CD-A938-5E6AC1EF335E}" type="sibTrans" cxnId="{A07B0951-33CB-4F03-8ECF-384C31836033}">
      <dgm:prSet/>
      <dgm:spPr/>
      <dgm:t>
        <a:bodyPr/>
        <a:lstStyle/>
        <a:p>
          <a:endParaRPr lang="en-US" sz="1200"/>
        </a:p>
      </dgm:t>
    </dgm:pt>
    <dgm:pt modelId="{29E3046D-208A-4C55-A687-CDE0EE7697AE}">
      <dgm:prSet phldrT="[Text]" custT="1"/>
      <dgm:spPr/>
      <dgm:t>
        <a:bodyPr/>
        <a:lstStyle/>
        <a:p>
          <a:r>
            <a:rPr lang="en-US" sz="1600" dirty="0"/>
            <a:t>Production Movement (1 Week)</a:t>
          </a:r>
        </a:p>
        <a:p>
          <a:r>
            <a:rPr lang="en-US" sz="1200" dirty="0"/>
            <a:t>Production Usage of Models </a:t>
          </a:r>
        </a:p>
      </dgm:t>
    </dgm:pt>
    <dgm:pt modelId="{F30F67DA-18CD-4CC7-B7D3-161C5A231475}" type="parTrans" cxnId="{5A3DDC9E-9FB2-4A64-90FF-2CF5C75B3847}">
      <dgm:prSet/>
      <dgm:spPr/>
      <dgm:t>
        <a:bodyPr/>
        <a:lstStyle/>
        <a:p>
          <a:endParaRPr lang="en-US" sz="1200"/>
        </a:p>
      </dgm:t>
    </dgm:pt>
    <dgm:pt modelId="{E6449825-6A25-4340-9BB6-E0F8B9CDF6AC}" type="sibTrans" cxnId="{5A3DDC9E-9FB2-4A64-90FF-2CF5C75B3847}">
      <dgm:prSet/>
      <dgm:spPr/>
      <dgm:t>
        <a:bodyPr/>
        <a:lstStyle/>
        <a:p>
          <a:endParaRPr lang="en-US" sz="1200"/>
        </a:p>
      </dgm:t>
    </dgm:pt>
    <dgm:pt modelId="{A6EBF088-2A6C-4318-AA74-A97B1B299295}">
      <dgm:prSet phldrT="[Text]" custT="1"/>
      <dgm:spPr/>
      <dgm:t>
        <a:bodyPr/>
        <a:lstStyle/>
        <a:p>
          <a:r>
            <a:rPr lang="en-US" sz="1600" dirty="0"/>
            <a:t>Result Review &amp; Model Optimization ( </a:t>
          </a:r>
          <a:r>
            <a:rPr lang="en-US" sz="1600" dirty="0" err="1"/>
            <a:t>Monthy</a:t>
          </a:r>
          <a:r>
            <a:rPr lang="en-US" sz="1600" dirty="0"/>
            <a:t>)</a:t>
          </a:r>
        </a:p>
        <a:p>
          <a:r>
            <a:rPr lang="en-US" sz="1200" dirty="0"/>
            <a:t>(monthly activity)</a:t>
          </a:r>
        </a:p>
        <a:p>
          <a:r>
            <a:rPr lang="en-US" sz="1200" dirty="0"/>
            <a:t>Review model performance</a:t>
          </a:r>
        </a:p>
        <a:p>
          <a:r>
            <a:rPr lang="en-US" sz="1200" dirty="0"/>
            <a:t>Recalibration requirements to be assessed</a:t>
          </a:r>
        </a:p>
      </dgm:t>
    </dgm:pt>
    <dgm:pt modelId="{3B0A70B5-409D-41A2-81B8-50208C1D6C69}" type="parTrans" cxnId="{4BBEAE85-AE95-42CC-80F1-8C03A553B252}">
      <dgm:prSet/>
      <dgm:spPr/>
      <dgm:t>
        <a:bodyPr/>
        <a:lstStyle/>
        <a:p>
          <a:endParaRPr lang="en-US" sz="1200"/>
        </a:p>
      </dgm:t>
    </dgm:pt>
    <dgm:pt modelId="{C6742B0E-D5FD-43C7-A830-BA723BAC252C}" type="sibTrans" cxnId="{4BBEAE85-AE95-42CC-80F1-8C03A553B252}">
      <dgm:prSet/>
      <dgm:spPr/>
      <dgm:t>
        <a:bodyPr/>
        <a:lstStyle/>
        <a:p>
          <a:endParaRPr lang="en-US" sz="1200"/>
        </a:p>
      </dgm:t>
    </dgm:pt>
    <dgm:pt modelId="{15C45145-D6C7-42BE-89E3-4FA1A08530D6}" type="pres">
      <dgm:prSet presAssocID="{D723F2B6-682F-4BD8-9448-1B0A34D1A620}" presName="Name0" presStyleCnt="0">
        <dgm:presLayoutVars>
          <dgm:dir/>
          <dgm:resizeHandles/>
        </dgm:presLayoutVars>
      </dgm:prSet>
      <dgm:spPr/>
    </dgm:pt>
    <dgm:pt modelId="{C96D69C8-0012-49D1-BD49-80E52FED66F8}" type="pres">
      <dgm:prSet presAssocID="{040935A6-09F5-4A82-BEBE-2434B8648446}" presName="compNode" presStyleCnt="0"/>
      <dgm:spPr/>
    </dgm:pt>
    <dgm:pt modelId="{761A4A05-A5F2-4B35-92F4-50C3001FCEAD}" type="pres">
      <dgm:prSet presAssocID="{040935A6-09F5-4A82-BEBE-2434B8648446}" presName="dummyConnPt" presStyleCnt="0"/>
      <dgm:spPr/>
    </dgm:pt>
    <dgm:pt modelId="{CE6EC537-F916-405F-9A1B-C36C817F6B97}" type="pres">
      <dgm:prSet presAssocID="{040935A6-09F5-4A82-BEBE-2434B8648446}" presName="node" presStyleLbl="node1" presStyleIdx="0" presStyleCnt="9">
        <dgm:presLayoutVars>
          <dgm:bulletEnabled val="1"/>
        </dgm:presLayoutVars>
      </dgm:prSet>
      <dgm:spPr/>
    </dgm:pt>
    <dgm:pt modelId="{260C3E0E-75EF-4FF9-9A07-1F4552862E35}" type="pres">
      <dgm:prSet presAssocID="{0A68F178-7BDA-4197-8C6F-D86545B47797}" presName="sibTrans" presStyleLbl="bgSibTrans2D1" presStyleIdx="0" presStyleCnt="8"/>
      <dgm:spPr/>
    </dgm:pt>
    <dgm:pt modelId="{29B67BBF-102B-4DD6-8085-F505C6B6A30F}" type="pres">
      <dgm:prSet presAssocID="{ADF6818D-43E8-4C6C-9FCA-7717C42AFA32}" presName="compNode" presStyleCnt="0"/>
      <dgm:spPr/>
    </dgm:pt>
    <dgm:pt modelId="{B7497FCE-8CDD-4290-A505-82B97DF5D963}" type="pres">
      <dgm:prSet presAssocID="{ADF6818D-43E8-4C6C-9FCA-7717C42AFA32}" presName="dummyConnPt" presStyleCnt="0"/>
      <dgm:spPr/>
    </dgm:pt>
    <dgm:pt modelId="{FECF4644-0EBF-4EC1-A1B8-27BB7D4C819D}" type="pres">
      <dgm:prSet presAssocID="{ADF6818D-43E8-4C6C-9FCA-7717C42AFA32}" presName="node" presStyleLbl="node1" presStyleIdx="1" presStyleCnt="9">
        <dgm:presLayoutVars>
          <dgm:bulletEnabled val="1"/>
        </dgm:presLayoutVars>
      </dgm:prSet>
      <dgm:spPr/>
    </dgm:pt>
    <dgm:pt modelId="{B84D88CF-6448-425E-A5E1-08BEE44D83CF}" type="pres">
      <dgm:prSet presAssocID="{1CC1DE39-2978-4504-9EDD-9681FEBC7C0B}" presName="sibTrans" presStyleLbl="bgSibTrans2D1" presStyleIdx="1" presStyleCnt="8"/>
      <dgm:spPr/>
    </dgm:pt>
    <dgm:pt modelId="{3D683024-0CBA-4825-9EB2-40DD6C7B04DC}" type="pres">
      <dgm:prSet presAssocID="{3331B208-963C-462A-AF23-4D5B61B52A48}" presName="compNode" presStyleCnt="0"/>
      <dgm:spPr/>
    </dgm:pt>
    <dgm:pt modelId="{C81D4E54-85EA-4893-AAEA-F6D4591A988F}" type="pres">
      <dgm:prSet presAssocID="{3331B208-963C-462A-AF23-4D5B61B52A48}" presName="dummyConnPt" presStyleCnt="0"/>
      <dgm:spPr/>
    </dgm:pt>
    <dgm:pt modelId="{D68B32F3-4F49-4731-A098-95F87DE54495}" type="pres">
      <dgm:prSet presAssocID="{3331B208-963C-462A-AF23-4D5B61B52A48}" presName="node" presStyleLbl="node1" presStyleIdx="2" presStyleCnt="9">
        <dgm:presLayoutVars>
          <dgm:bulletEnabled val="1"/>
        </dgm:presLayoutVars>
      </dgm:prSet>
      <dgm:spPr/>
    </dgm:pt>
    <dgm:pt modelId="{1A1676DE-E434-4875-9A3D-4C1D232E4EC0}" type="pres">
      <dgm:prSet presAssocID="{25ED525F-0FB2-4051-8B24-1FA13C235ED5}" presName="sibTrans" presStyleLbl="bgSibTrans2D1" presStyleIdx="2" presStyleCnt="8"/>
      <dgm:spPr/>
    </dgm:pt>
    <dgm:pt modelId="{6402D615-5A32-48D5-9362-9FC808C56E7B}" type="pres">
      <dgm:prSet presAssocID="{BFBE4027-FF55-4B3B-8B84-07D1CAFF8FA7}" presName="compNode" presStyleCnt="0"/>
      <dgm:spPr/>
    </dgm:pt>
    <dgm:pt modelId="{3FCF571D-D0C0-402A-B6BE-6E8324C39DD4}" type="pres">
      <dgm:prSet presAssocID="{BFBE4027-FF55-4B3B-8B84-07D1CAFF8FA7}" presName="dummyConnPt" presStyleCnt="0"/>
      <dgm:spPr/>
    </dgm:pt>
    <dgm:pt modelId="{BF8D7215-215E-49CE-AC65-2198C7D456C6}" type="pres">
      <dgm:prSet presAssocID="{BFBE4027-FF55-4B3B-8B84-07D1CAFF8FA7}" presName="node" presStyleLbl="node1" presStyleIdx="3" presStyleCnt="9">
        <dgm:presLayoutVars>
          <dgm:bulletEnabled val="1"/>
        </dgm:presLayoutVars>
      </dgm:prSet>
      <dgm:spPr/>
    </dgm:pt>
    <dgm:pt modelId="{CCAB4859-CF8A-4189-855F-D49BC47CE450}" type="pres">
      <dgm:prSet presAssocID="{45BD08A4-842D-42DF-B5ED-F13CA77D8DD0}" presName="sibTrans" presStyleLbl="bgSibTrans2D1" presStyleIdx="3" presStyleCnt="8"/>
      <dgm:spPr/>
    </dgm:pt>
    <dgm:pt modelId="{68F8FF78-FDE1-466B-8766-202A28EB1335}" type="pres">
      <dgm:prSet presAssocID="{8998D5BC-5F7A-4FDE-878E-EBB11457D46E}" presName="compNode" presStyleCnt="0"/>
      <dgm:spPr/>
    </dgm:pt>
    <dgm:pt modelId="{0EDB4CD4-004D-4FE4-B489-D3EAD848D482}" type="pres">
      <dgm:prSet presAssocID="{8998D5BC-5F7A-4FDE-878E-EBB11457D46E}" presName="dummyConnPt" presStyleCnt="0"/>
      <dgm:spPr/>
    </dgm:pt>
    <dgm:pt modelId="{5D1DCC20-8FCF-4F6A-9F7F-F9E00FB12E18}" type="pres">
      <dgm:prSet presAssocID="{8998D5BC-5F7A-4FDE-878E-EBB11457D46E}" presName="node" presStyleLbl="node1" presStyleIdx="4" presStyleCnt="9">
        <dgm:presLayoutVars>
          <dgm:bulletEnabled val="1"/>
        </dgm:presLayoutVars>
      </dgm:prSet>
      <dgm:spPr/>
    </dgm:pt>
    <dgm:pt modelId="{4E0D2A9C-C070-466E-9E85-60816315BEA8}" type="pres">
      <dgm:prSet presAssocID="{F37D3C52-303B-44C7-B1F0-07F8FC1088F3}" presName="sibTrans" presStyleLbl="bgSibTrans2D1" presStyleIdx="4" presStyleCnt="8"/>
      <dgm:spPr/>
    </dgm:pt>
    <dgm:pt modelId="{A9616618-1EF7-4EE8-AC5D-D7F9FD5266DA}" type="pres">
      <dgm:prSet presAssocID="{A1B76CA2-6686-4E36-9175-FC2470979A6E}" presName="compNode" presStyleCnt="0"/>
      <dgm:spPr/>
    </dgm:pt>
    <dgm:pt modelId="{E3A7A282-074F-4473-B6B6-A68389297C11}" type="pres">
      <dgm:prSet presAssocID="{A1B76CA2-6686-4E36-9175-FC2470979A6E}" presName="dummyConnPt" presStyleCnt="0"/>
      <dgm:spPr/>
    </dgm:pt>
    <dgm:pt modelId="{6ECDDEB0-82AD-4C9F-B4F6-5549BF675AA3}" type="pres">
      <dgm:prSet presAssocID="{A1B76CA2-6686-4E36-9175-FC2470979A6E}" presName="node" presStyleLbl="node1" presStyleIdx="5" presStyleCnt="9">
        <dgm:presLayoutVars>
          <dgm:bulletEnabled val="1"/>
        </dgm:presLayoutVars>
      </dgm:prSet>
      <dgm:spPr/>
    </dgm:pt>
    <dgm:pt modelId="{9C0234A8-A60E-4EF5-8D47-B258974E4090}" type="pres">
      <dgm:prSet presAssocID="{8D368A69-1F6B-48EA-931D-B30DB50BF659}" presName="sibTrans" presStyleLbl="bgSibTrans2D1" presStyleIdx="5" presStyleCnt="8"/>
      <dgm:spPr/>
    </dgm:pt>
    <dgm:pt modelId="{7F92A3E3-B213-4243-BF28-9544F3A4AA95}" type="pres">
      <dgm:prSet presAssocID="{30AE8017-3397-4EB6-9353-B4DEFB3D2FA5}" presName="compNode" presStyleCnt="0"/>
      <dgm:spPr/>
    </dgm:pt>
    <dgm:pt modelId="{2B916571-04EF-4666-8C5F-2B17370C06E5}" type="pres">
      <dgm:prSet presAssocID="{30AE8017-3397-4EB6-9353-B4DEFB3D2FA5}" presName="dummyConnPt" presStyleCnt="0"/>
      <dgm:spPr/>
    </dgm:pt>
    <dgm:pt modelId="{898B767F-F474-423A-9C74-FD16DCD63846}" type="pres">
      <dgm:prSet presAssocID="{30AE8017-3397-4EB6-9353-B4DEFB3D2FA5}" presName="node" presStyleLbl="node1" presStyleIdx="6" presStyleCnt="9">
        <dgm:presLayoutVars>
          <dgm:bulletEnabled val="1"/>
        </dgm:presLayoutVars>
      </dgm:prSet>
      <dgm:spPr/>
    </dgm:pt>
    <dgm:pt modelId="{61FD81FF-0F56-421F-9A13-FDD32E453F98}" type="pres">
      <dgm:prSet presAssocID="{E239AD60-65C1-48CD-A938-5E6AC1EF335E}" presName="sibTrans" presStyleLbl="bgSibTrans2D1" presStyleIdx="6" presStyleCnt="8"/>
      <dgm:spPr/>
    </dgm:pt>
    <dgm:pt modelId="{093D659A-8402-41A3-B417-2D71D6911ECA}" type="pres">
      <dgm:prSet presAssocID="{29E3046D-208A-4C55-A687-CDE0EE7697AE}" presName="compNode" presStyleCnt="0"/>
      <dgm:spPr/>
    </dgm:pt>
    <dgm:pt modelId="{ED0CA886-3294-41CA-8F91-AA39ACF91632}" type="pres">
      <dgm:prSet presAssocID="{29E3046D-208A-4C55-A687-CDE0EE7697AE}" presName="dummyConnPt" presStyleCnt="0"/>
      <dgm:spPr/>
    </dgm:pt>
    <dgm:pt modelId="{E8C9B803-069D-4C9D-8464-C682F1C088D3}" type="pres">
      <dgm:prSet presAssocID="{29E3046D-208A-4C55-A687-CDE0EE7697AE}" presName="node" presStyleLbl="node1" presStyleIdx="7" presStyleCnt="9">
        <dgm:presLayoutVars>
          <dgm:bulletEnabled val="1"/>
        </dgm:presLayoutVars>
      </dgm:prSet>
      <dgm:spPr/>
    </dgm:pt>
    <dgm:pt modelId="{3ECC082A-8D7C-41CB-96CC-AFCD26677AB8}" type="pres">
      <dgm:prSet presAssocID="{E6449825-6A25-4340-9BB6-E0F8B9CDF6AC}" presName="sibTrans" presStyleLbl="bgSibTrans2D1" presStyleIdx="7" presStyleCnt="8"/>
      <dgm:spPr/>
    </dgm:pt>
    <dgm:pt modelId="{5201A4DE-9E82-4FC7-93E2-FAFFE87CE8FE}" type="pres">
      <dgm:prSet presAssocID="{A6EBF088-2A6C-4318-AA74-A97B1B299295}" presName="compNode" presStyleCnt="0"/>
      <dgm:spPr/>
    </dgm:pt>
    <dgm:pt modelId="{32BB2974-2600-43F7-B677-26816F675347}" type="pres">
      <dgm:prSet presAssocID="{A6EBF088-2A6C-4318-AA74-A97B1B299295}" presName="dummyConnPt" presStyleCnt="0"/>
      <dgm:spPr/>
    </dgm:pt>
    <dgm:pt modelId="{F4DC10F6-8796-4007-9D83-4D26A0FA5428}" type="pres">
      <dgm:prSet presAssocID="{A6EBF088-2A6C-4318-AA74-A97B1B299295}" presName="node" presStyleLbl="node1" presStyleIdx="8" presStyleCnt="9">
        <dgm:presLayoutVars>
          <dgm:bulletEnabled val="1"/>
        </dgm:presLayoutVars>
      </dgm:prSet>
      <dgm:spPr/>
    </dgm:pt>
  </dgm:ptLst>
  <dgm:cxnLst>
    <dgm:cxn modelId="{A2AE190E-0A4B-4216-8CA9-A4CF89E2435D}" srcId="{D723F2B6-682F-4BD8-9448-1B0A34D1A620}" destId="{ADF6818D-43E8-4C6C-9FCA-7717C42AFA32}" srcOrd="1" destOrd="0" parTransId="{F3FA6EC3-DABF-4D2A-9471-63CA94F73915}" sibTransId="{1CC1DE39-2978-4504-9EDD-9681FEBC7C0B}"/>
    <dgm:cxn modelId="{8585C12D-9025-42A1-B869-CD8E1A6CB96F}" srcId="{D723F2B6-682F-4BD8-9448-1B0A34D1A620}" destId="{040935A6-09F5-4A82-BEBE-2434B8648446}" srcOrd="0" destOrd="0" parTransId="{70DF9564-4EB9-46CF-BD62-F88CE0B255BE}" sibTransId="{0A68F178-7BDA-4197-8C6F-D86545B47797}"/>
    <dgm:cxn modelId="{E9476034-DC40-4B1E-B5FB-06C8FCF5BAAF}" type="presOf" srcId="{8D368A69-1F6B-48EA-931D-B30DB50BF659}" destId="{9C0234A8-A60E-4EF5-8D47-B258974E4090}" srcOrd="0" destOrd="0" presId="urn:microsoft.com/office/officeart/2005/8/layout/bProcess4"/>
    <dgm:cxn modelId="{D583D438-6625-4975-A4E3-C9A25811B048}" type="presOf" srcId="{A6EBF088-2A6C-4318-AA74-A97B1B299295}" destId="{F4DC10F6-8796-4007-9D83-4D26A0FA5428}" srcOrd="0" destOrd="0" presId="urn:microsoft.com/office/officeart/2005/8/layout/bProcess4"/>
    <dgm:cxn modelId="{EE098941-0A2B-4C7B-9D80-0CD52629CC79}" type="presOf" srcId="{45BD08A4-842D-42DF-B5ED-F13CA77D8DD0}" destId="{CCAB4859-CF8A-4189-855F-D49BC47CE450}" srcOrd="0" destOrd="0" presId="urn:microsoft.com/office/officeart/2005/8/layout/bProcess4"/>
    <dgm:cxn modelId="{4BCA3A62-BC2D-4C22-982D-8F065D68DD22}" type="presOf" srcId="{F37D3C52-303B-44C7-B1F0-07F8FC1088F3}" destId="{4E0D2A9C-C070-466E-9E85-60816315BEA8}" srcOrd="0" destOrd="0" presId="urn:microsoft.com/office/officeart/2005/8/layout/bProcess4"/>
    <dgm:cxn modelId="{F6417A68-C32A-4301-AFFC-D9AD856346EF}" type="presOf" srcId="{25ED525F-0FB2-4051-8B24-1FA13C235ED5}" destId="{1A1676DE-E434-4875-9A3D-4C1D232E4EC0}" srcOrd="0" destOrd="0" presId="urn:microsoft.com/office/officeart/2005/8/layout/bProcess4"/>
    <dgm:cxn modelId="{F47AB74C-0B23-4E3E-8D76-D3043C740D96}" type="presOf" srcId="{29E3046D-208A-4C55-A687-CDE0EE7697AE}" destId="{E8C9B803-069D-4C9D-8464-C682F1C088D3}" srcOrd="0" destOrd="0" presId="urn:microsoft.com/office/officeart/2005/8/layout/bProcess4"/>
    <dgm:cxn modelId="{EDAF074D-22B0-465E-AD77-586B8CFA0B37}" type="presOf" srcId="{040935A6-09F5-4A82-BEBE-2434B8648446}" destId="{CE6EC537-F916-405F-9A1B-C36C817F6B97}" srcOrd="0" destOrd="0" presId="urn:microsoft.com/office/officeart/2005/8/layout/bProcess4"/>
    <dgm:cxn modelId="{A07B0951-33CB-4F03-8ECF-384C31836033}" srcId="{D723F2B6-682F-4BD8-9448-1B0A34D1A620}" destId="{30AE8017-3397-4EB6-9353-B4DEFB3D2FA5}" srcOrd="6" destOrd="0" parTransId="{11993F8A-9DD3-4ADF-AB76-689C39BEAAFB}" sibTransId="{E239AD60-65C1-48CD-A938-5E6AC1EF335E}"/>
    <dgm:cxn modelId="{9AA26271-EE39-4BCD-9262-9AE81B7716E1}" type="presOf" srcId="{ADF6818D-43E8-4C6C-9FCA-7717C42AFA32}" destId="{FECF4644-0EBF-4EC1-A1B8-27BB7D4C819D}" srcOrd="0" destOrd="0" presId="urn:microsoft.com/office/officeart/2005/8/layout/bProcess4"/>
    <dgm:cxn modelId="{84087274-31DA-48BC-A222-FF31C0E1DC6C}" srcId="{D723F2B6-682F-4BD8-9448-1B0A34D1A620}" destId="{A1B76CA2-6686-4E36-9175-FC2470979A6E}" srcOrd="5" destOrd="0" parTransId="{A7AECC82-0F3E-40C4-8D9E-CFEFFB38FACC}" sibTransId="{8D368A69-1F6B-48EA-931D-B30DB50BF659}"/>
    <dgm:cxn modelId="{36F6A459-382C-49C3-9B56-FBB3E71E8B3F}" type="presOf" srcId="{E239AD60-65C1-48CD-A938-5E6AC1EF335E}" destId="{61FD81FF-0F56-421F-9A13-FDD32E453F98}" srcOrd="0" destOrd="0" presId="urn:microsoft.com/office/officeart/2005/8/layout/bProcess4"/>
    <dgm:cxn modelId="{7EFA807C-757F-4704-AD82-812C986B18F7}" type="presOf" srcId="{3331B208-963C-462A-AF23-4D5B61B52A48}" destId="{D68B32F3-4F49-4731-A098-95F87DE54495}" srcOrd="0" destOrd="0" presId="urn:microsoft.com/office/officeart/2005/8/layout/bProcess4"/>
    <dgm:cxn modelId="{BE68E681-644A-4E8D-9553-3AE5C00CACFD}" type="presOf" srcId="{E6449825-6A25-4340-9BB6-E0F8B9CDF6AC}" destId="{3ECC082A-8D7C-41CB-96CC-AFCD26677AB8}" srcOrd="0" destOrd="0" presId="urn:microsoft.com/office/officeart/2005/8/layout/bProcess4"/>
    <dgm:cxn modelId="{4BBEAE85-AE95-42CC-80F1-8C03A553B252}" srcId="{D723F2B6-682F-4BD8-9448-1B0A34D1A620}" destId="{A6EBF088-2A6C-4318-AA74-A97B1B299295}" srcOrd="8" destOrd="0" parTransId="{3B0A70B5-409D-41A2-81B8-50208C1D6C69}" sibTransId="{C6742B0E-D5FD-43C7-A830-BA723BAC252C}"/>
    <dgm:cxn modelId="{4389D495-C5DE-4EE6-AF4A-E14E3D9A174A}" type="presOf" srcId="{BFBE4027-FF55-4B3B-8B84-07D1CAFF8FA7}" destId="{BF8D7215-215E-49CE-AC65-2198C7D456C6}" srcOrd="0" destOrd="0" presId="urn:microsoft.com/office/officeart/2005/8/layout/bProcess4"/>
    <dgm:cxn modelId="{A4ADC096-37FB-4510-A49D-092D0A330F2B}" type="presOf" srcId="{0A68F178-7BDA-4197-8C6F-D86545B47797}" destId="{260C3E0E-75EF-4FF9-9A07-1F4552862E35}" srcOrd="0" destOrd="0" presId="urn:microsoft.com/office/officeart/2005/8/layout/bProcess4"/>
    <dgm:cxn modelId="{5A3DDC9E-9FB2-4A64-90FF-2CF5C75B3847}" srcId="{D723F2B6-682F-4BD8-9448-1B0A34D1A620}" destId="{29E3046D-208A-4C55-A687-CDE0EE7697AE}" srcOrd="7" destOrd="0" parTransId="{F30F67DA-18CD-4CC7-B7D3-161C5A231475}" sibTransId="{E6449825-6A25-4340-9BB6-E0F8B9CDF6AC}"/>
    <dgm:cxn modelId="{7B501FA2-7B34-4A77-8AB4-F0EBD4C08038}" srcId="{D723F2B6-682F-4BD8-9448-1B0A34D1A620}" destId="{3331B208-963C-462A-AF23-4D5B61B52A48}" srcOrd="2" destOrd="0" parTransId="{3B8DB3FE-6532-4EF9-9BB8-6CC7C79AF262}" sibTransId="{25ED525F-0FB2-4051-8B24-1FA13C235ED5}"/>
    <dgm:cxn modelId="{61D3F7A3-4F56-4C28-A3E6-E7B98D31D6BC}" type="presOf" srcId="{A1B76CA2-6686-4E36-9175-FC2470979A6E}" destId="{6ECDDEB0-82AD-4C9F-B4F6-5549BF675AA3}" srcOrd="0" destOrd="0" presId="urn:microsoft.com/office/officeart/2005/8/layout/bProcess4"/>
    <dgm:cxn modelId="{56873BAC-ED2B-44A5-85D6-4A105A089B22}" type="presOf" srcId="{8998D5BC-5F7A-4FDE-878E-EBB11457D46E}" destId="{5D1DCC20-8FCF-4F6A-9F7F-F9E00FB12E18}" srcOrd="0" destOrd="0" presId="urn:microsoft.com/office/officeart/2005/8/layout/bProcess4"/>
    <dgm:cxn modelId="{FC6CC8B0-533E-432A-A474-C3B87128B6F0}" type="presOf" srcId="{30AE8017-3397-4EB6-9353-B4DEFB3D2FA5}" destId="{898B767F-F474-423A-9C74-FD16DCD63846}" srcOrd="0" destOrd="0" presId="urn:microsoft.com/office/officeart/2005/8/layout/bProcess4"/>
    <dgm:cxn modelId="{8FDDFDB4-4862-4FDD-BA63-2DD4D732F316}" type="presOf" srcId="{D723F2B6-682F-4BD8-9448-1B0A34D1A620}" destId="{15C45145-D6C7-42BE-89E3-4FA1A08530D6}" srcOrd="0" destOrd="0" presId="urn:microsoft.com/office/officeart/2005/8/layout/bProcess4"/>
    <dgm:cxn modelId="{5BFBBBC4-A98D-4A2A-93DE-4EEA48FD0977}" srcId="{D723F2B6-682F-4BD8-9448-1B0A34D1A620}" destId="{BFBE4027-FF55-4B3B-8B84-07D1CAFF8FA7}" srcOrd="3" destOrd="0" parTransId="{21A95F62-E58C-4A76-8E88-FAD604AD64A4}" sibTransId="{45BD08A4-842D-42DF-B5ED-F13CA77D8DD0}"/>
    <dgm:cxn modelId="{7B223CC9-F3D0-4264-8924-4C1B1A99E450}" type="presOf" srcId="{1CC1DE39-2978-4504-9EDD-9681FEBC7C0B}" destId="{B84D88CF-6448-425E-A5E1-08BEE44D83CF}" srcOrd="0" destOrd="0" presId="urn:microsoft.com/office/officeart/2005/8/layout/bProcess4"/>
    <dgm:cxn modelId="{47A3DACB-027D-4675-B542-76E455E78A86}" srcId="{D723F2B6-682F-4BD8-9448-1B0A34D1A620}" destId="{8998D5BC-5F7A-4FDE-878E-EBB11457D46E}" srcOrd="4" destOrd="0" parTransId="{5F85722F-0DCF-41D4-A960-22AB197E3083}" sibTransId="{F37D3C52-303B-44C7-B1F0-07F8FC1088F3}"/>
    <dgm:cxn modelId="{121A17B7-1E27-477F-BE19-5475FE6FB416}" type="presParOf" srcId="{15C45145-D6C7-42BE-89E3-4FA1A08530D6}" destId="{C96D69C8-0012-49D1-BD49-80E52FED66F8}" srcOrd="0" destOrd="0" presId="urn:microsoft.com/office/officeart/2005/8/layout/bProcess4"/>
    <dgm:cxn modelId="{6E80FE47-FD4B-4A94-B619-EC51E17587BB}" type="presParOf" srcId="{C96D69C8-0012-49D1-BD49-80E52FED66F8}" destId="{761A4A05-A5F2-4B35-92F4-50C3001FCEAD}" srcOrd="0" destOrd="0" presId="urn:microsoft.com/office/officeart/2005/8/layout/bProcess4"/>
    <dgm:cxn modelId="{F3DA4314-86BB-40FE-8B03-1B0700CE1DF1}" type="presParOf" srcId="{C96D69C8-0012-49D1-BD49-80E52FED66F8}" destId="{CE6EC537-F916-405F-9A1B-C36C817F6B97}" srcOrd="1" destOrd="0" presId="urn:microsoft.com/office/officeart/2005/8/layout/bProcess4"/>
    <dgm:cxn modelId="{0035D644-E889-443F-85C5-81C51E3A637E}" type="presParOf" srcId="{15C45145-D6C7-42BE-89E3-4FA1A08530D6}" destId="{260C3E0E-75EF-4FF9-9A07-1F4552862E35}" srcOrd="1" destOrd="0" presId="urn:microsoft.com/office/officeart/2005/8/layout/bProcess4"/>
    <dgm:cxn modelId="{BBB2447F-D64C-445E-AA8F-DF70A5CBC7BF}" type="presParOf" srcId="{15C45145-D6C7-42BE-89E3-4FA1A08530D6}" destId="{29B67BBF-102B-4DD6-8085-F505C6B6A30F}" srcOrd="2" destOrd="0" presId="urn:microsoft.com/office/officeart/2005/8/layout/bProcess4"/>
    <dgm:cxn modelId="{E443A199-C1FE-4865-8142-3DBFA7AD7790}" type="presParOf" srcId="{29B67BBF-102B-4DD6-8085-F505C6B6A30F}" destId="{B7497FCE-8CDD-4290-A505-82B97DF5D963}" srcOrd="0" destOrd="0" presId="urn:microsoft.com/office/officeart/2005/8/layout/bProcess4"/>
    <dgm:cxn modelId="{AD68A8E9-89E5-4719-ACA7-68F60CC8E3EE}" type="presParOf" srcId="{29B67BBF-102B-4DD6-8085-F505C6B6A30F}" destId="{FECF4644-0EBF-4EC1-A1B8-27BB7D4C819D}" srcOrd="1" destOrd="0" presId="urn:microsoft.com/office/officeart/2005/8/layout/bProcess4"/>
    <dgm:cxn modelId="{11DC3EC0-5E7D-49A6-94B3-7D0BAE181906}" type="presParOf" srcId="{15C45145-D6C7-42BE-89E3-4FA1A08530D6}" destId="{B84D88CF-6448-425E-A5E1-08BEE44D83CF}" srcOrd="3" destOrd="0" presId="urn:microsoft.com/office/officeart/2005/8/layout/bProcess4"/>
    <dgm:cxn modelId="{E0032A2A-805B-4AAF-BE2D-F31E993F8EFD}" type="presParOf" srcId="{15C45145-D6C7-42BE-89E3-4FA1A08530D6}" destId="{3D683024-0CBA-4825-9EB2-40DD6C7B04DC}" srcOrd="4" destOrd="0" presId="urn:microsoft.com/office/officeart/2005/8/layout/bProcess4"/>
    <dgm:cxn modelId="{28255291-C7D2-41F3-B18B-6F49B7AAA655}" type="presParOf" srcId="{3D683024-0CBA-4825-9EB2-40DD6C7B04DC}" destId="{C81D4E54-85EA-4893-AAEA-F6D4591A988F}" srcOrd="0" destOrd="0" presId="urn:microsoft.com/office/officeart/2005/8/layout/bProcess4"/>
    <dgm:cxn modelId="{F40A39D1-2470-4EC3-A045-E5DE1D46E0C0}" type="presParOf" srcId="{3D683024-0CBA-4825-9EB2-40DD6C7B04DC}" destId="{D68B32F3-4F49-4731-A098-95F87DE54495}" srcOrd="1" destOrd="0" presId="urn:microsoft.com/office/officeart/2005/8/layout/bProcess4"/>
    <dgm:cxn modelId="{B454ED3E-343B-4748-A072-1F2FABE82B4F}" type="presParOf" srcId="{15C45145-D6C7-42BE-89E3-4FA1A08530D6}" destId="{1A1676DE-E434-4875-9A3D-4C1D232E4EC0}" srcOrd="5" destOrd="0" presId="urn:microsoft.com/office/officeart/2005/8/layout/bProcess4"/>
    <dgm:cxn modelId="{C4D25DBB-FB9D-4097-9F1A-50B8506B47B1}" type="presParOf" srcId="{15C45145-D6C7-42BE-89E3-4FA1A08530D6}" destId="{6402D615-5A32-48D5-9362-9FC808C56E7B}" srcOrd="6" destOrd="0" presId="urn:microsoft.com/office/officeart/2005/8/layout/bProcess4"/>
    <dgm:cxn modelId="{341571A9-F001-4A56-8E72-E096E045DBD0}" type="presParOf" srcId="{6402D615-5A32-48D5-9362-9FC808C56E7B}" destId="{3FCF571D-D0C0-402A-B6BE-6E8324C39DD4}" srcOrd="0" destOrd="0" presId="urn:microsoft.com/office/officeart/2005/8/layout/bProcess4"/>
    <dgm:cxn modelId="{31A7A248-110C-4E89-89FA-0215607AFC94}" type="presParOf" srcId="{6402D615-5A32-48D5-9362-9FC808C56E7B}" destId="{BF8D7215-215E-49CE-AC65-2198C7D456C6}" srcOrd="1" destOrd="0" presId="urn:microsoft.com/office/officeart/2005/8/layout/bProcess4"/>
    <dgm:cxn modelId="{77C698A7-B451-4FB6-B093-925B976C909A}" type="presParOf" srcId="{15C45145-D6C7-42BE-89E3-4FA1A08530D6}" destId="{CCAB4859-CF8A-4189-855F-D49BC47CE450}" srcOrd="7" destOrd="0" presId="urn:microsoft.com/office/officeart/2005/8/layout/bProcess4"/>
    <dgm:cxn modelId="{4564FBD3-7E15-467A-9F7A-B4EB3387192E}" type="presParOf" srcId="{15C45145-D6C7-42BE-89E3-4FA1A08530D6}" destId="{68F8FF78-FDE1-466B-8766-202A28EB1335}" srcOrd="8" destOrd="0" presId="urn:microsoft.com/office/officeart/2005/8/layout/bProcess4"/>
    <dgm:cxn modelId="{DADFD17F-E467-405D-9B76-39A081756E33}" type="presParOf" srcId="{68F8FF78-FDE1-466B-8766-202A28EB1335}" destId="{0EDB4CD4-004D-4FE4-B489-D3EAD848D482}" srcOrd="0" destOrd="0" presId="urn:microsoft.com/office/officeart/2005/8/layout/bProcess4"/>
    <dgm:cxn modelId="{0142D8F2-53EA-404B-858D-871A217D1FB5}" type="presParOf" srcId="{68F8FF78-FDE1-466B-8766-202A28EB1335}" destId="{5D1DCC20-8FCF-4F6A-9F7F-F9E00FB12E18}" srcOrd="1" destOrd="0" presId="urn:microsoft.com/office/officeart/2005/8/layout/bProcess4"/>
    <dgm:cxn modelId="{D9F5E070-1366-4799-84C2-F174929FB879}" type="presParOf" srcId="{15C45145-D6C7-42BE-89E3-4FA1A08530D6}" destId="{4E0D2A9C-C070-466E-9E85-60816315BEA8}" srcOrd="9" destOrd="0" presId="urn:microsoft.com/office/officeart/2005/8/layout/bProcess4"/>
    <dgm:cxn modelId="{02AAD37E-BAEE-4C7F-BB11-A1E45271C222}" type="presParOf" srcId="{15C45145-D6C7-42BE-89E3-4FA1A08530D6}" destId="{A9616618-1EF7-4EE8-AC5D-D7F9FD5266DA}" srcOrd="10" destOrd="0" presId="urn:microsoft.com/office/officeart/2005/8/layout/bProcess4"/>
    <dgm:cxn modelId="{D47B8058-DFF3-4378-804B-8C6C83F95D92}" type="presParOf" srcId="{A9616618-1EF7-4EE8-AC5D-D7F9FD5266DA}" destId="{E3A7A282-074F-4473-B6B6-A68389297C11}" srcOrd="0" destOrd="0" presId="urn:microsoft.com/office/officeart/2005/8/layout/bProcess4"/>
    <dgm:cxn modelId="{A18EEFA8-6983-4442-BD0A-4DC36B4F9E65}" type="presParOf" srcId="{A9616618-1EF7-4EE8-AC5D-D7F9FD5266DA}" destId="{6ECDDEB0-82AD-4C9F-B4F6-5549BF675AA3}" srcOrd="1" destOrd="0" presId="urn:microsoft.com/office/officeart/2005/8/layout/bProcess4"/>
    <dgm:cxn modelId="{C5388015-CBA1-4804-802B-82ADA395FAC6}" type="presParOf" srcId="{15C45145-D6C7-42BE-89E3-4FA1A08530D6}" destId="{9C0234A8-A60E-4EF5-8D47-B258974E4090}" srcOrd="11" destOrd="0" presId="urn:microsoft.com/office/officeart/2005/8/layout/bProcess4"/>
    <dgm:cxn modelId="{A631671C-6223-496C-985F-01B8FF28A022}" type="presParOf" srcId="{15C45145-D6C7-42BE-89E3-4FA1A08530D6}" destId="{7F92A3E3-B213-4243-BF28-9544F3A4AA95}" srcOrd="12" destOrd="0" presId="urn:microsoft.com/office/officeart/2005/8/layout/bProcess4"/>
    <dgm:cxn modelId="{1EBA922A-29B2-4AD2-BCB1-2B8CB11ADAD6}" type="presParOf" srcId="{7F92A3E3-B213-4243-BF28-9544F3A4AA95}" destId="{2B916571-04EF-4666-8C5F-2B17370C06E5}" srcOrd="0" destOrd="0" presId="urn:microsoft.com/office/officeart/2005/8/layout/bProcess4"/>
    <dgm:cxn modelId="{E41AF87E-611E-4706-B537-48970F97036C}" type="presParOf" srcId="{7F92A3E3-B213-4243-BF28-9544F3A4AA95}" destId="{898B767F-F474-423A-9C74-FD16DCD63846}" srcOrd="1" destOrd="0" presId="urn:microsoft.com/office/officeart/2005/8/layout/bProcess4"/>
    <dgm:cxn modelId="{ECEC388E-1A91-4D7E-8727-C30A6065FE58}" type="presParOf" srcId="{15C45145-D6C7-42BE-89E3-4FA1A08530D6}" destId="{61FD81FF-0F56-421F-9A13-FDD32E453F98}" srcOrd="13" destOrd="0" presId="urn:microsoft.com/office/officeart/2005/8/layout/bProcess4"/>
    <dgm:cxn modelId="{8D51BBD5-0384-4AD8-AD7C-0350D446F3A1}" type="presParOf" srcId="{15C45145-D6C7-42BE-89E3-4FA1A08530D6}" destId="{093D659A-8402-41A3-B417-2D71D6911ECA}" srcOrd="14" destOrd="0" presId="urn:microsoft.com/office/officeart/2005/8/layout/bProcess4"/>
    <dgm:cxn modelId="{10EC2A87-B3DE-478D-B958-AE4F3C3ED789}" type="presParOf" srcId="{093D659A-8402-41A3-B417-2D71D6911ECA}" destId="{ED0CA886-3294-41CA-8F91-AA39ACF91632}" srcOrd="0" destOrd="0" presId="urn:microsoft.com/office/officeart/2005/8/layout/bProcess4"/>
    <dgm:cxn modelId="{6333A708-458C-4097-B56C-15CFF2B928E8}" type="presParOf" srcId="{093D659A-8402-41A3-B417-2D71D6911ECA}" destId="{E8C9B803-069D-4C9D-8464-C682F1C088D3}" srcOrd="1" destOrd="0" presId="urn:microsoft.com/office/officeart/2005/8/layout/bProcess4"/>
    <dgm:cxn modelId="{167D2501-D458-4A4C-B070-B27524FA5E7E}" type="presParOf" srcId="{15C45145-D6C7-42BE-89E3-4FA1A08530D6}" destId="{3ECC082A-8D7C-41CB-96CC-AFCD26677AB8}" srcOrd="15" destOrd="0" presId="urn:microsoft.com/office/officeart/2005/8/layout/bProcess4"/>
    <dgm:cxn modelId="{168B8896-71EC-482B-B9C0-4AE19D19279F}" type="presParOf" srcId="{15C45145-D6C7-42BE-89E3-4FA1A08530D6}" destId="{5201A4DE-9E82-4FC7-93E2-FAFFE87CE8FE}" srcOrd="16" destOrd="0" presId="urn:microsoft.com/office/officeart/2005/8/layout/bProcess4"/>
    <dgm:cxn modelId="{1D2778FC-0FB5-45D3-BF01-2559153A4E1E}" type="presParOf" srcId="{5201A4DE-9E82-4FC7-93E2-FAFFE87CE8FE}" destId="{32BB2974-2600-43F7-B677-26816F675347}" srcOrd="0" destOrd="0" presId="urn:microsoft.com/office/officeart/2005/8/layout/bProcess4"/>
    <dgm:cxn modelId="{68FFD38F-55CB-4BCB-A81A-A13C58B659FE}" type="presParOf" srcId="{5201A4DE-9E82-4FC7-93E2-FAFFE87CE8FE}" destId="{F4DC10F6-8796-4007-9D83-4D26A0FA5428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09A75-041E-462F-94A2-1A8AD42F223B}">
      <dsp:nvSpPr>
        <dsp:cNvPr id="0" name=""/>
        <dsp:cNvSpPr/>
      </dsp:nvSpPr>
      <dsp:spPr>
        <a:xfrm rot="16200000">
          <a:off x="-1193041" y="1194663"/>
          <a:ext cx="3986783" cy="1597456"/>
        </a:xfrm>
        <a:prstGeom prst="flowChartManualOperati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Business Understanding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What is the most efficient collections channel, that will be cost effective, will help collect faster and will help collect more</a:t>
          </a:r>
          <a:endParaRPr lang="en-US" sz="1200" u="sng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 rot="5400000">
        <a:off x="1622" y="797357"/>
        <a:ext cx="1597456" cy="2392069"/>
      </dsp:txXfrm>
    </dsp:sp>
    <dsp:sp modelId="{340FF98E-61BA-488E-A70D-3B4D803A1EBA}">
      <dsp:nvSpPr>
        <dsp:cNvPr id="0" name=""/>
        <dsp:cNvSpPr/>
      </dsp:nvSpPr>
      <dsp:spPr>
        <a:xfrm rot="16200000">
          <a:off x="478099" y="1234771"/>
          <a:ext cx="3986783" cy="1517239"/>
        </a:xfrm>
        <a:prstGeom prst="flowChartManualOperati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Data Mining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Application Data, Demographics, Family, Employment </a:t>
          </a:r>
          <a:r>
            <a:rPr lang="en-US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Details, Financial Details, Property details, Channels/Source of leads, Legal Factors, Market conditions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Behavior: Transaction/Payment/Usage pattern, Collections behavior</a:t>
          </a:r>
          <a:endParaRPr lang="en-US" sz="1200" u="sng" kern="1200" dirty="0"/>
        </a:p>
      </dsp:txBody>
      <dsp:txXfrm rot="5400000">
        <a:off x="1712871" y="797356"/>
        <a:ext cx="1517239" cy="2392069"/>
      </dsp:txXfrm>
    </dsp:sp>
    <dsp:sp modelId="{47243540-0AC9-442E-89C2-383842DF3035}">
      <dsp:nvSpPr>
        <dsp:cNvPr id="0" name=""/>
        <dsp:cNvSpPr/>
      </dsp:nvSpPr>
      <dsp:spPr>
        <a:xfrm rot="16200000">
          <a:off x="2109132" y="1234771"/>
          <a:ext cx="3986783" cy="1517239"/>
        </a:xfrm>
        <a:prstGeom prst="flowChartManualOperation">
          <a:avLst/>
        </a:prstGeom>
        <a:solidFill>
          <a:schemeClr val="accent1">
            <a:shade val="50000"/>
            <a:hueOff val="222839"/>
            <a:satOff val="5970"/>
            <a:lumOff val="263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Data Cleaning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Handling missing values, treat NA values, duplicate values in the data set</a:t>
          </a:r>
          <a:endParaRPr lang="en-US" sz="1200" u="sng" kern="1200" dirty="0"/>
        </a:p>
      </dsp:txBody>
      <dsp:txXfrm rot="5400000">
        <a:off x="3343904" y="797356"/>
        <a:ext cx="1517239" cy="23920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09A75-041E-462F-94A2-1A8AD42F223B}">
      <dsp:nvSpPr>
        <dsp:cNvPr id="0" name=""/>
        <dsp:cNvSpPr/>
      </dsp:nvSpPr>
      <dsp:spPr>
        <a:xfrm rot="16200000">
          <a:off x="-1116788" y="1118565"/>
          <a:ext cx="3986783" cy="1749652"/>
        </a:xfrm>
        <a:prstGeom prst="flowChartManualOperati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Data Exploration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find out the different variable correlation, along with the attributes of variables which have more weightage using different exploration methods.</a:t>
          </a:r>
          <a:endParaRPr lang="en-US" sz="1200" u="sng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 rot="5400000">
        <a:off x="1777" y="797357"/>
        <a:ext cx="1749652" cy="2392069"/>
      </dsp:txXfrm>
    </dsp:sp>
    <dsp:sp modelId="{340FF98E-61BA-488E-A70D-3B4D803A1EBA}">
      <dsp:nvSpPr>
        <dsp:cNvPr id="0" name=""/>
        <dsp:cNvSpPr/>
      </dsp:nvSpPr>
      <dsp:spPr>
        <a:xfrm rot="16200000">
          <a:off x="713569" y="1162494"/>
          <a:ext cx="3986783" cy="1661793"/>
        </a:xfrm>
        <a:prstGeom prst="flowChartManualOperati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Feature Engineering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Get the insights from the EDA process, to identify the different variables and there scaling range for feature engineering.</a:t>
          </a:r>
          <a:endParaRPr lang="en-US" sz="1200" u="sng" kern="1200" dirty="0"/>
        </a:p>
      </dsp:txBody>
      <dsp:txXfrm rot="5400000">
        <a:off x="1876064" y="797356"/>
        <a:ext cx="1661793" cy="2392069"/>
      </dsp:txXfrm>
    </dsp:sp>
    <dsp:sp modelId="{47243540-0AC9-442E-89C2-383842DF3035}">
      <dsp:nvSpPr>
        <dsp:cNvPr id="0" name=""/>
        <dsp:cNvSpPr/>
      </dsp:nvSpPr>
      <dsp:spPr>
        <a:xfrm rot="16200000">
          <a:off x="2499997" y="1162494"/>
          <a:ext cx="3986783" cy="1661793"/>
        </a:xfrm>
        <a:prstGeom prst="flowChartManualOperation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Predictive Modeling &amp; Visualization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Build the different models like - Logistic Regression, Decision Tree, Random Forest etc. Major the performance of the models using metrics (Confusion Matrix, RMSE, Precision &amp; Recall, accuracy  score etc.)</a:t>
          </a:r>
          <a:endParaRPr lang="en-US" sz="1200" u="sng" kern="1200" dirty="0"/>
        </a:p>
      </dsp:txBody>
      <dsp:txXfrm rot="5400000">
        <a:off x="3662492" y="797356"/>
        <a:ext cx="1661793" cy="23920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C3E0E-75EF-4FF9-9A07-1F4552862E35}">
      <dsp:nvSpPr>
        <dsp:cNvPr id="0" name=""/>
        <dsp:cNvSpPr/>
      </dsp:nvSpPr>
      <dsp:spPr>
        <a:xfrm rot="5400000">
          <a:off x="185579" y="1244730"/>
          <a:ext cx="1945983" cy="2345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EC537-F916-405F-9A1B-C36C817F6B97}">
      <dsp:nvSpPr>
        <dsp:cNvPr id="0" name=""/>
        <dsp:cNvSpPr/>
      </dsp:nvSpPr>
      <dsp:spPr>
        <a:xfrm>
          <a:off x="632984" y="2433"/>
          <a:ext cx="2606222" cy="15637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Workshop ( 2 Days)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Meeting Stake holders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Review on the Problem Statements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KPI &amp; Success definition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Data Insights with Business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Discussion with IT team on Data Requirements / Data Security  matters</a:t>
          </a:r>
        </a:p>
      </dsp:txBody>
      <dsp:txXfrm>
        <a:off x="678784" y="48233"/>
        <a:ext cx="2514622" cy="1472133"/>
      </dsp:txXfrm>
    </dsp:sp>
    <dsp:sp modelId="{B84D88CF-6448-425E-A5E1-08BEE44D83CF}">
      <dsp:nvSpPr>
        <dsp:cNvPr id="0" name=""/>
        <dsp:cNvSpPr/>
      </dsp:nvSpPr>
      <dsp:spPr>
        <a:xfrm rot="5400000">
          <a:off x="185579" y="3199397"/>
          <a:ext cx="1945983" cy="2345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F4644-0EBF-4EC1-A1B8-27BB7D4C819D}">
      <dsp:nvSpPr>
        <dsp:cNvPr id="0" name=""/>
        <dsp:cNvSpPr/>
      </dsp:nvSpPr>
      <dsp:spPr>
        <a:xfrm>
          <a:off x="632984" y="1957100"/>
          <a:ext cx="2606222" cy="15637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High Level Design &amp; Plan ( 1 week)</a:t>
          </a:r>
          <a:endParaRPr lang="en-US" sz="12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Share high level Design and Project plan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Share Data requirements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678784" y="2002900"/>
        <a:ext cx="2514622" cy="1472133"/>
      </dsp:txXfrm>
    </dsp:sp>
    <dsp:sp modelId="{1A1676DE-E434-4875-9A3D-4C1D232E4EC0}">
      <dsp:nvSpPr>
        <dsp:cNvPr id="0" name=""/>
        <dsp:cNvSpPr/>
      </dsp:nvSpPr>
      <dsp:spPr>
        <a:xfrm>
          <a:off x="1162913" y="4176731"/>
          <a:ext cx="3457592" cy="2345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B32F3-4F49-4731-A098-95F87DE54495}">
      <dsp:nvSpPr>
        <dsp:cNvPr id="0" name=""/>
        <dsp:cNvSpPr/>
      </dsp:nvSpPr>
      <dsp:spPr>
        <a:xfrm>
          <a:off x="632984" y="3911767"/>
          <a:ext cx="2606222" cy="15637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Exploration ( 2 weeks)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Slice the data in different ways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Counts, Graphs, distribution, histograms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678784" y="3957567"/>
        <a:ext cx="2514622" cy="1472133"/>
      </dsp:txXfrm>
    </dsp:sp>
    <dsp:sp modelId="{CCAB4859-CF8A-4189-855F-D49BC47CE450}">
      <dsp:nvSpPr>
        <dsp:cNvPr id="0" name=""/>
        <dsp:cNvSpPr/>
      </dsp:nvSpPr>
      <dsp:spPr>
        <a:xfrm rot="16200000">
          <a:off x="3651855" y="3199397"/>
          <a:ext cx="1945983" cy="2345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D7215-215E-49CE-AC65-2198C7D456C6}">
      <dsp:nvSpPr>
        <dsp:cNvPr id="0" name=""/>
        <dsp:cNvSpPr/>
      </dsp:nvSpPr>
      <dsp:spPr>
        <a:xfrm>
          <a:off x="4099260" y="3911767"/>
          <a:ext cx="2606222" cy="15637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Modelling ( 6 weeks)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Build ETL, Train Models, Evaluate Models with different metrices &amp; baselines, Sanity check of the Models</a:t>
          </a:r>
        </a:p>
      </dsp:txBody>
      <dsp:txXfrm>
        <a:off x="4145060" y="3957567"/>
        <a:ext cx="2514622" cy="1472133"/>
      </dsp:txXfrm>
    </dsp:sp>
    <dsp:sp modelId="{4E0D2A9C-C070-466E-9E85-60816315BEA8}">
      <dsp:nvSpPr>
        <dsp:cNvPr id="0" name=""/>
        <dsp:cNvSpPr/>
      </dsp:nvSpPr>
      <dsp:spPr>
        <a:xfrm rot="16200000">
          <a:off x="3651855" y="1244730"/>
          <a:ext cx="1945983" cy="2345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DCC20-8FCF-4F6A-9F7F-F9E00FB12E18}">
      <dsp:nvSpPr>
        <dsp:cNvPr id="0" name=""/>
        <dsp:cNvSpPr/>
      </dsp:nvSpPr>
      <dsp:spPr>
        <a:xfrm>
          <a:off x="4099260" y="1957100"/>
          <a:ext cx="2606222" cy="15637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Planning ( 1 weeks)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Configuration / Customization requirements in Collection product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4145060" y="2002900"/>
        <a:ext cx="2514622" cy="1472133"/>
      </dsp:txXfrm>
    </dsp:sp>
    <dsp:sp modelId="{9C0234A8-A60E-4EF5-8D47-B258974E4090}">
      <dsp:nvSpPr>
        <dsp:cNvPr id="0" name=""/>
        <dsp:cNvSpPr/>
      </dsp:nvSpPr>
      <dsp:spPr>
        <a:xfrm>
          <a:off x="4629188" y="267397"/>
          <a:ext cx="3457592" cy="2345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DDEB0-82AD-4C9F-B4F6-5549BF675AA3}">
      <dsp:nvSpPr>
        <dsp:cNvPr id="0" name=""/>
        <dsp:cNvSpPr/>
      </dsp:nvSpPr>
      <dsp:spPr>
        <a:xfrm>
          <a:off x="4099260" y="2433"/>
          <a:ext cx="2606222" cy="15637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Productization ( 5 weeks)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Code Development / Configuration, Review,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Optimization, </a:t>
          </a:r>
        </a:p>
      </dsp:txBody>
      <dsp:txXfrm>
        <a:off x="4145060" y="48233"/>
        <a:ext cx="2514622" cy="1472133"/>
      </dsp:txXfrm>
    </dsp:sp>
    <dsp:sp modelId="{61FD81FF-0F56-421F-9A13-FDD32E453F98}">
      <dsp:nvSpPr>
        <dsp:cNvPr id="0" name=""/>
        <dsp:cNvSpPr/>
      </dsp:nvSpPr>
      <dsp:spPr>
        <a:xfrm rot="5400000">
          <a:off x="7118131" y="1244730"/>
          <a:ext cx="1945983" cy="2345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B767F-F474-423A-9C74-FD16DCD63846}">
      <dsp:nvSpPr>
        <dsp:cNvPr id="0" name=""/>
        <dsp:cNvSpPr/>
      </dsp:nvSpPr>
      <dsp:spPr>
        <a:xfrm>
          <a:off x="7565536" y="2433"/>
          <a:ext cx="2606222" cy="15637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Testing ( 2 weeks)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Deployment of Models &amp; Code / Configuration and Testing for acceptance &amp; regressions</a:t>
          </a:r>
        </a:p>
      </dsp:txBody>
      <dsp:txXfrm>
        <a:off x="7611336" y="48233"/>
        <a:ext cx="2514622" cy="1472133"/>
      </dsp:txXfrm>
    </dsp:sp>
    <dsp:sp modelId="{3ECC082A-8D7C-41CB-96CC-AFCD26677AB8}">
      <dsp:nvSpPr>
        <dsp:cNvPr id="0" name=""/>
        <dsp:cNvSpPr/>
      </dsp:nvSpPr>
      <dsp:spPr>
        <a:xfrm rot="5400000">
          <a:off x="7118131" y="3199397"/>
          <a:ext cx="1945983" cy="2345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9B803-069D-4C9D-8464-C682F1C088D3}">
      <dsp:nvSpPr>
        <dsp:cNvPr id="0" name=""/>
        <dsp:cNvSpPr/>
      </dsp:nvSpPr>
      <dsp:spPr>
        <a:xfrm>
          <a:off x="7565536" y="1957100"/>
          <a:ext cx="2606222" cy="15637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Production Movement (1 Week)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Production Usage of Models </a:t>
          </a:r>
        </a:p>
      </dsp:txBody>
      <dsp:txXfrm>
        <a:off x="7611336" y="2002900"/>
        <a:ext cx="2514622" cy="1472133"/>
      </dsp:txXfrm>
    </dsp:sp>
    <dsp:sp modelId="{F4DC10F6-8796-4007-9D83-4D26A0FA5428}">
      <dsp:nvSpPr>
        <dsp:cNvPr id="0" name=""/>
        <dsp:cNvSpPr/>
      </dsp:nvSpPr>
      <dsp:spPr>
        <a:xfrm>
          <a:off x="7565536" y="3911767"/>
          <a:ext cx="2606222" cy="15637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Result Review &amp; Model Optimization ( </a:t>
          </a:r>
          <a:r>
            <a:rPr lang="en-US" sz="1600" kern="1200" dirty="0" err="1"/>
            <a:t>Monthy</a:t>
          </a:r>
          <a:r>
            <a:rPr lang="en-US" sz="1600" kern="1200" dirty="0"/>
            <a:t>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(monthly activity)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Review model performance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Recalibration requirements to be assessed</a:t>
          </a:r>
        </a:p>
      </dsp:txBody>
      <dsp:txXfrm>
        <a:off x="7611336" y="3957567"/>
        <a:ext cx="2514622" cy="1472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44371-0B65-455E-B064-0CA1DF67E567}" type="datetimeFigureOut">
              <a:rPr lang="en-US" smtClean="0"/>
              <a:pPr/>
              <a:t>30-Jan-20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75C12-E934-4202-A7C2-9AF889AF97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17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7EEC0-5CE1-4479-90B0-5320DD4718B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77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7EEC0-5CE1-4479-90B0-5320DD4718B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7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4" t="78108" r="2008"/>
          <a:stretch/>
        </p:blipFill>
        <p:spPr>
          <a:xfrm rot="10800000">
            <a:off x="469265" y="5847080"/>
            <a:ext cx="11253892" cy="647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953" y="1798899"/>
            <a:ext cx="4323027" cy="1812403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469493" y="361951"/>
            <a:ext cx="11253014" cy="6134098"/>
          </a:xfrm>
          <a:prstGeom prst="rect">
            <a:avLst/>
          </a:prstGeom>
          <a:noFill/>
          <a:ln w="22225">
            <a:solidFill>
              <a:srgbClr val="78B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/>
          <p:nvPr userDrawn="1"/>
        </p:nvGrpSpPr>
        <p:grpSpPr>
          <a:xfrm>
            <a:off x="11568786" y="528638"/>
            <a:ext cx="278117" cy="804153"/>
            <a:chOff x="11568786" y="528638"/>
            <a:chExt cx="278117" cy="804153"/>
          </a:xfrm>
        </p:grpSpPr>
        <p:sp>
          <p:nvSpPr>
            <p:cNvPr id="23" name="Rectangle 22"/>
            <p:cNvSpPr/>
            <p:nvPr/>
          </p:nvSpPr>
          <p:spPr>
            <a:xfrm>
              <a:off x="11568786" y="528638"/>
              <a:ext cx="278117" cy="804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2269" y="641866"/>
              <a:ext cx="230498" cy="596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89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469493" y="361951"/>
            <a:ext cx="11253014" cy="6134098"/>
          </a:xfrm>
          <a:prstGeom prst="rect">
            <a:avLst/>
          </a:prstGeom>
          <a:noFill/>
          <a:ln w="22225">
            <a:solidFill>
              <a:srgbClr val="78B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673099" y="6141329"/>
            <a:ext cx="3677660" cy="716671"/>
            <a:chOff x="673099" y="6141329"/>
            <a:chExt cx="3677660" cy="716671"/>
          </a:xfrm>
        </p:grpSpPr>
        <p:sp>
          <p:nvSpPr>
            <p:cNvPr id="5" name="Rectangle 4"/>
            <p:cNvSpPr/>
            <p:nvPr userDrawn="1"/>
          </p:nvSpPr>
          <p:spPr>
            <a:xfrm>
              <a:off x="673099" y="6141329"/>
              <a:ext cx="3677659" cy="7166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 preferRelativeResize="0"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191" t="-7286" r="-5961" b="-2420"/>
            <a:stretch/>
          </p:blipFill>
          <p:spPr>
            <a:xfrm>
              <a:off x="771525" y="6247271"/>
              <a:ext cx="1257300" cy="53468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 userDrawn="1"/>
          </p:nvSpPr>
          <p:spPr>
            <a:xfrm>
              <a:off x="1981200" y="6391942"/>
              <a:ext cx="23695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C3C3C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Copyright © 2019 </a:t>
              </a:r>
              <a:r>
                <a:rPr lang="en-US" sz="800" dirty="0" err="1">
                  <a:solidFill>
                    <a:srgbClr val="C3C3C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EbixCash</a:t>
              </a:r>
              <a:r>
                <a:rPr lang="en-US" sz="800" dirty="0">
                  <a:solidFill>
                    <a:srgbClr val="C3C3C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All rights reserved.</a:t>
              </a:r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11568786" y="528638"/>
            <a:ext cx="278117" cy="804153"/>
            <a:chOff x="11568786" y="528638"/>
            <a:chExt cx="278117" cy="804153"/>
          </a:xfrm>
        </p:grpSpPr>
        <p:sp>
          <p:nvSpPr>
            <p:cNvPr id="13" name="Rectangle 12"/>
            <p:cNvSpPr/>
            <p:nvPr/>
          </p:nvSpPr>
          <p:spPr>
            <a:xfrm>
              <a:off x="11568786" y="528638"/>
              <a:ext cx="278117" cy="804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2269" y="641866"/>
              <a:ext cx="230498" cy="596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153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4" t="78108" r="2008"/>
          <a:stretch/>
        </p:blipFill>
        <p:spPr>
          <a:xfrm rot="10800000">
            <a:off x="469265" y="5847080"/>
            <a:ext cx="11253892" cy="647700"/>
          </a:xfrm>
          <a:prstGeom prst="rect">
            <a:avLst/>
          </a:prstGeom>
        </p:spPr>
      </p:pic>
      <p:sp>
        <p:nvSpPr>
          <p:cNvPr id="33" name="Rectangle 32"/>
          <p:cNvSpPr/>
          <p:nvPr userDrawn="1"/>
        </p:nvSpPr>
        <p:spPr>
          <a:xfrm>
            <a:off x="469493" y="361951"/>
            <a:ext cx="11253014" cy="6134098"/>
          </a:xfrm>
          <a:prstGeom prst="rect">
            <a:avLst/>
          </a:prstGeom>
          <a:noFill/>
          <a:ln w="22225">
            <a:solidFill>
              <a:srgbClr val="78B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11568786" y="528638"/>
            <a:ext cx="278117" cy="804153"/>
            <a:chOff x="11568786" y="528638"/>
            <a:chExt cx="278117" cy="804153"/>
          </a:xfrm>
        </p:grpSpPr>
        <p:sp>
          <p:nvSpPr>
            <p:cNvPr id="31" name="Rectangle 30"/>
            <p:cNvSpPr/>
            <p:nvPr/>
          </p:nvSpPr>
          <p:spPr>
            <a:xfrm>
              <a:off x="11568786" y="528638"/>
              <a:ext cx="278117" cy="804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2269" y="641866"/>
              <a:ext cx="230498" cy="596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79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1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3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5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9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10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5339FD-9F21-4961-A754-BF082586937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55660C-780C-4F9A-8399-E121088C8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77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D40CF3-EC5F-414C-90AF-E6F436FF2E0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12359-1A34-4C14-81B1-0AFC0F95C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80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D40CF3-EC5F-414C-90AF-E6F436FF2E03}" type="datetimeFigureOut">
              <a:rPr lang="en-US" smtClean="0"/>
              <a:t>30-Jan-20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12359-1A34-4C14-81B1-0AFC0F95C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87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jpeg"/><Relationship Id="rId20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jpeg"/><Relationship Id="rId10" Type="http://schemas.openxmlformats.org/officeDocument/2006/relationships/image" Target="../media/image12.png"/><Relationship Id="rId19" Type="http://schemas.openxmlformats.org/officeDocument/2006/relationships/image" Target="../media/image21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19552" y="3599695"/>
            <a:ext cx="59529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8367AC"/>
                </a:solidFill>
              </a:rPr>
              <a:t>Collections Analytics Generation Engine</a:t>
            </a:r>
          </a:p>
          <a:p>
            <a:pPr algn="ctr"/>
            <a:r>
              <a:rPr lang="en-US" sz="2800" dirty="0">
                <a:solidFill>
                  <a:srgbClr val="8367AC"/>
                </a:solidFill>
              </a:rPr>
              <a:t>(CAGE)</a:t>
            </a:r>
          </a:p>
        </p:txBody>
      </p:sp>
    </p:spTree>
    <p:extLst>
      <p:ext uri="{BB962C8B-B14F-4D97-AF65-F5344CB8AC3E}">
        <p14:creationId xmlns:p14="http://schemas.microsoft.com/office/powerpoint/2010/main" val="411867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0EDC-4567-4F36-B06A-4AEAF6EA87F1}"/>
              </a:ext>
            </a:extLst>
          </p:cNvPr>
          <p:cNvSpPr txBox="1">
            <a:spLocks/>
          </p:cNvSpPr>
          <p:nvPr/>
        </p:nvSpPr>
        <p:spPr>
          <a:xfrm>
            <a:off x="735122" y="52241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Approach for Implementing Predictive Analytics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E847C0-BE02-4CCD-8845-C6A9A11924B7}"/>
              </a:ext>
            </a:extLst>
          </p:cNvPr>
          <p:cNvSpPr/>
          <p:nvPr/>
        </p:nvSpPr>
        <p:spPr>
          <a:xfrm>
            <a:off x="745348" y="1066928"/>
            <a:ext cx="10416137" cy="51306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Debt Collections Observations: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 Cost Actions leads to delay in Collections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 Cost Leads to collect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Following Actions sequentially based on cost i.e. delaying high cost actions, would not only delay Collections but may lead to Customers non ability to pay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 Problem Statement 1: (What Channel)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To Identify Customers who would respond/pay to Low Cost Actions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To Identify Customers who would respond/pay only to High Cost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Problem Statement 2: (Whom to Prioritize)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With limited Resources (Tele-Callers, Budgets to spend on Agency Commission), whom do I focus first and what Action combination to perform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593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4EA-34BE-4737-9906-FB139A2ADBD3}"/>
              </a:ext>
            </a:extLst>
          </p:cNvPr>
          <p:cNvSpPr txBox="1">
            <a:spLocks/>
          </p:cNvSpPr>
          <p:nvPr/>
        </p:nvSpPr>
        <p:spPr>
          <a:xfrm>
            <a:off x="735122" y="52241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Predictive Analytics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6DC47E-EBF0-440C-BC9E-4ABFFE27CFAD}"/>
              </a:ext>
            </a:extLst>
          </p:cNvPr>
          <p:cNvSpPr/>
          <p:nvPr/>
        </p:nvSpPr>
        <p:spPr>
          <a:xfrm>
            <a:off x="745349" y="1348839"/>
            <a:ext cx="4797630" cy="4500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Machine Learning Model 1:</a:t>
            </a:r>
          </a:p>
          <a:p>
            <a:pPr algn="ctr"/>
            <a:r>
              <a:rPr lang="en-US" b="1" dirty="0"/>
              <a:t>Problem Statement:</a:t>
            </a:r>
            <a:r>
              <a:rPr lang="en-US" dirty="0"/>
              <a:t> What is the most  efficient collections channel, that will be cost effective, will help collect faster and </a:t>
            </a:r>
          </a:p>
          <a:p>
            <a:pPr algn="ctr"/>
            <a:r>
              <a:rPr lang="en-US" dirty="0"/>
              <a:t>will help collect more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Solution:</a:t>
            </a:r>
            <a:r>
              <a:rPr lang="en-US" dirty="0"/>
              <a:t> Use the Follow-up/Collections Action History, Payment Data to analyze what Actions are effective on which groups of customers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Machine Learning models to predict for existing and a first timer in Debt collections, what should be the </a:t>
            </a:r>
            <a:r>
              <a:rPr lang="en-US" b="1" dirty="0"/>
              <a:t>Most Effective Collections Channel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A4351-B88A-41BC-9A4A-4AF487A6850E}"/>
              </a:ext>
            </a:extLst>
          </p:cNvPr>
          <p:cNvSpPr txBox="1"/>
          <p:nvPr/>
        </p:nvSpPr>
        <p:spPr>
          <a:xfrm>
            <a:off x="5727700" y="1066929"/>
            <a:ext cx="5770672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u="sng" dirty="0"/>
              <a:t>Existing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Profile (from LOS)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Application Profile (From LOS)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Collections Channels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Days Past Due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Action Dates/Time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Overdue Days when Action Taken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Cure Dates / Payment Dates / Payment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Days between Cure and 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Cost of this 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Channel Score</a:t>
            </a:r>
          </a:p>
          <a:p>
            <a:r>
              <a:rPr lang="en-US" sz="1400" dirty="0"/>
              <a:t>Channel Score: Analytics to determine most cost-effective Action, that would yield a fastest cure on the Account..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EE1CC-56F6-4569-A9B8-FDF8268B4352}"/>
              </a:ext>
            </a:extLst>
          </p:cNvPr>
          <p:cNvSpPr txBox="1"/>
          <p:nvPr/>
        </p:nvSpPr>
        <p:spPr>
          <a:xfrm>
            <a:off x="5727699" y="4393833"/>
            <a:ext cx="5770673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u="sng" dirty="0"/>
              <a:t>Collections Channel: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Self Cure: Pays within 5 to 8 days of Delinquency, with or without reminders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Digital Channel – SMS, Emails, Voice &amp; Chat Bots, WhatsApp, Voice Blast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Tele Calling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Field Visit by External Agency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Legal Collections  </a:t>
            </a:r>
          </a:p>
        </p:txBody>
      </p:sp>
    </p:spTree>
    <p:extLst>
      <p:ext uri="{BB962C8B-B14F-4D97-AF65-F5344CB8AC3E}">
        <p14:creationId xmlns:p14="http://schemas.microsoft.com/office/powerpoint/2010/main" val="192540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454989-2B5C-4083-A707-D9F4E94F9235}"/>
              </a:ext>
            </a:extLst>
          </p:cNvPr>
          <p:cNvSpPr txBox="1">
            <a:spLocks/>
          </p:cNvSpPr>
          <p:nvPr/>
        </p:nvSpPr>
        <p:spPr>
          <a:xfrm>
            <a:off x="617537" y="482790"/>
            <a:ext cx="10956925" cy="5445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Recommended Optimum Collections Channel (through Classification)</a:t>
            </a:r>
            <a:endParaRPr lang="en-US" sz="2800" dirty="0">
              <a:solidFill>
                <a:srgbClr val="5B289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 rotWithShape="1">
          <a:blip r:embed="rId3"/>
          <a:srcRect r="6342"/>
          <a:stretch/>
        </p:blipFill>
        <p:spPr bwMode="auto">
          <a:xfrm>
            <a:off x="677253" y="956041"/>
            <a:ext cx="5127631" cy="4044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DF529FE-0743-49A2-B0AB-56AACC2BBF52}"/>
              </a:ext>
            </a:extLst>
          </p:cNvPr>
          <p:cNvGrpSpPr/>
          <p:nvPr/>
        </p:nvGrpSpPr>
        <p:grpSpPr>
          <a:xfrm>
            <a:off x="5577385" y="1788349"/>
            <a:ext cx="5627647" cy="4113610"/>
            <a:chOff x="623570" y="467553"/>
            <a:chExt cx="9432880" cy="6415356"/>
          </a:xfrm>
        </p:grpSpPr>
        <p:pic>
          <p:nvPicPr>
            <p:cNvPr id="6" name="Picture 5" descr="man.png">
              <a:extLst>
                <a:ext uri="{FF2B5EF4-FFF2-40B4-BE49-F238E27FC236}">
                  <a16:creationId xmlns:a16="http://schemas.microsoft.com/office/drawing/2014/main" id="{63A251CE-DB35-4FF0-8AFF-08A223857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570" y="1429001"/>
              <a:ext cx="1344295" cy="1344295"/>
            </a:xfrm>
            <a:prstGeom prst="rect">
              <a:avLst/>
            </a:prstGeom>
          </p:spPr>
        </p:pic>
        <p:pic>
          <p:nvPicPr>
            <p:cNvPr id="8" name="Picture 7" descr="telephone.png">
              <a:extLst>
                <a:ext uri="{FF2B5EF4-FFF2-40B4-BE49-F238E27FC236}">
                  <a16:creationId xmlns:a16="http://schemas.microsoft.com/office/drawing/2014/main" id="{6E421DB2-634B-487C-8AEB-46030F6AF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2575" y="806701"/>
              <a:ext cx="546100" cy="546100"/>
            </a:xfrm>
            <a:prstGeom prst="rect">
              <a:avLst/>
            </a:prstGeom>
          </p:spPr>
        </p:pic>
        <p:pic>
          <p:nvPicPr>
            <p:cNvPr id="9" name="Picture 8" descr="call.png">
              <a:extLst>
                <a:ext uri="{FF2B5EF4-FFF2-40B4-BE49-F238E27FC236}">
                  <a16:creationId xmlns:a16="http://schemas.microsoft.com/office/drawing/2014/main" id="{28DC986C-FA8D-48FA-A49A-E8602AF17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1775" y="2773296"/>
              <a:ext cx="685800" cy="685800"/>
            </a:xfrm>
            <a:prstGeom prst="rect">
              <a:avLst/>
            </a:prstGeom>
          </p:spPr>
        </p:pic>
        <p:pic>
          <p:nvPicPr>
            <p:cNvPr id="10" name="Picture 9" descr="msg.png">
              <a:extLst>
                <a:ext uri="{FF2B5EF4-FFF2-40B4-BE49-F238E27FC236}">
                  <a16:creationId xmlns:a16="http://schemas.microsoft.com/office/drawing/2014/main" id="{F6C3C8D1-9415-4DDE-AB63-6CF644F68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2743575">
              <a:off x="2585085" y="1561081"/>
              <a:ext cx="882015" cy="882015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D96F604-F919-40A4-AFC0-1937066B2B9A}"/>
                </a:ext>
              </a:extLst>
            </p:cNvPr>
            <p:cNvCxnSpPr/>
            <p:nvPr/>
          </p:nvCxnSpPr>
          <p:spPr>
            <a:xfrm flipV="1">
              <a:off x="1968096" y="1294958"/>
              <a:ext cx="609600" cy="6927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1090DE8-5CD6-45ED-AB1C-297E09C1BC9B}"/>
                </a:ext>
              </a:extLst>
            </p:cNvPr>
            <p:cNvCxnSpPr/>
            <p:nvPr/>
          </p:nvCxnSpPr>
          <p:spPr>
            <a:xfrm flipV="1">
              <a:off x="2032866" y="1987570"/>
              <a:ext cx="738909" cy="277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07C8F4-0648-415B-A05E-EB9E03C2DB27}"/>
                </a:ext>
              </a:extLst>
            </p:cNvPr>
            <p:cNvCxnSpPr/>
            <p:nvPr/>
          </p:nvCxnSpPr>
          <p:spPr>
            <a:xfrm>
              <a:off x="2032346" y="2067753"/>
              <a:ext cx="544946" cy="7850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 descr="que.jpg">
              <a:extLst>
                <a:ext uri="{FF2B5EF4-FFF2-40B4-BE49-F238E27FC236}">
                  <a16:creationId xmlns:a16="http://schemas.microsoft.com/office/drawing/2014/main" id="{94BCF21C-F7E1-4762-967A-44554560B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6746" y="1765957"/>
              <a:ext cx="460813" cy="471053"/>
            </a:xfrm>
            <a:prstGeom prst="rect">
              <a:avLst/>
            </a:prstGeom>
          </p:spPr>
        </p:pic>
        <p:pic>
          <p:nvPicPr>
            <p:cNvPr id="15" name="Picture 14" descr="clus.JPG">
              <a:extLst>
                <a:ext uri="{FF2B5EF4-FFF2-40B4-BE49-F238E27FC236}">
                  <a16:creationId xmlns:a16="http://schemas.microsoft.com/office/drawing/2014/main" id="{B6EB0542-9014-4CA2-9644-7A41A191E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7845" y="990444"/>
              <a:ext cx="3187700" cy="2089150"/>
            </a:xfrm>
            <a:prstGeom prst="rect">
              <a:avLst/>
            </a:prstGeom>
          </p:spPr>
        </p:pic>
        <p:pic>
          <p:nvPicPr>
            <p:cNvPr id="16" name="Picture 15" descr="man.png">
              <a:extLst>
                <a:ext uri="{FF2B5EF4-FFF2-40B4-BE49-F238E27FC236}">
                  <a16:creationId xmlns:a16="http://schemas.microsoft.com/office/drawing/2014/main" id="{40F5B204-96D4-4108-9A5C-2C9DB5DF5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462" y="1840120"/>
              <a:ext cx="513080" cy="513080"/>
            </a:xfrm>
            <a:prstGeom prst="rect">
              <a:avLst/>
            </a:prstGeom>
          </p:spPr>
        </p:pic>
        <p:pic>
          <p:nvPicPr>
            <p:cNvPr id="17" name="Picture 16" descr="man.png">
              <a:extLst>
                <a:ext uri="{FF2B5EF4-FFF2-40B4-BE49-F238E27FC236}">
                  <a16:creationId xmlns:a16="http://schemas.microsoft.com/office/drawing/2014/main" id="{1ADCFE02-B228-4DD9-897C-040D2AC82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1590" y="1535084"/>
              <a:ext cx="1249680" cy="1249680"/>
            </a:xfrm>
            <a:prstGeom prst="rect">
              <a:avLst/>
            </a:prstGeom>
          </p:spPr>
        </p:pic>
        <p:pic>
          <p:nvPicPr>
            <p:cNvPr id="18" name="Picture 17" descr="telephone.png">
              <a:extLst>
                <a:ext uri="{FF2B5EF4-FFF2-40B4-BE49-F238E27FC236}">
                  <a16:creationId xmlns:a16="http://schemas.microsoft.com/office/drawing/2014/main" id="{C8582A5D-C0BD-4923-9F75-885B3A933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9931" y="1527761"/>
              <a:ext cx="620395" cy="620394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4E6309-DE1D-49C0-9D1D-A104B6F5E6C2}"/>
                </a:ext>
              </a:extLst>
            </p:cNvPr>
            <p:cNvCxnSpPr/>
            <p:nvPr/>
          </p:nvCxnSpPr>
          <p:spPr>
            <a:xfrm>
              <a:off x="7538896" y="1781760"/>
              <a:ext cx="661035" cy="88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telephone.png">
              <a:extLst>
                <a:ext uri="{FF2B5EF4-FFF2-40B4-BE49-F238E27FC236}">
                  <a16:creationId xmlns:a16="http://schemas.microsoft.com/office/drawing/2014/main" id="{2F05D786-BEA9-47D2-B0A1-3A5AC9FAA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7845" y="999698"/>
              <a:ext cx="300844" cy="300844"/>
            </a:xfrm>
            <a:prstGeom prst="rect">
              <a:avLst/>
            </a:prstGeom>
          </p:spPr>
        </p:pic>
        <p:pic>
          <p:nvPicPr>
            <p:cNvPr id="21" name="Picture 20" descr="msg.png">
              <a:extLst>
                <a:ext uri="{FF2B5EF4-FFF2-40B4-BE49-F238E27FC236}">
                  <a16:creationId xmlns:a16="http://schemas.microsoft.com/office/drawing/2014/main" id="{662FFC92-80D9-4E44-884A-31229FDA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2743575">
              <a:off x="7027345" y="895799"/>
              <a:ext cx="508640" cy="508640"/>
            </a:xfrm>
            <a:prstGeom prst="rect">
              <a:avLst/>
            </a:prstGeom>
          </p:spPr>
        </p:pic>
        <p:pic>
          <p:nvPicPr>
            <p:cNvPr id="22" name="Picture 21" descr="call.png">
              <a:extLst>
                <a:ext uri="{FF2B5EF4-FFF2-40B4-BE49-F238E27FC236}">
                  <a16:creationId xmlns:a16="http://schemas.microsoft.com/office/drawing/2014/main" id="{D92B5892-489E-454B-85A7-002384F2C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57085" y="2712502"/>
              <a:ext cx="354029" cy="35402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60A4DA-B31C-4D80-AB29-AF6FBB1727BA}"/>
                </a:ext>
              </a:extLst>
            </p:cNvPr>
            <p:cNvSpPr txBox="1"/>
            <p:nvPr/>
          </p:nvSpPr>
          <p:spPr>
            <a:xfrm>
              <a:off x="2435033" y="467553"/>
              <a:ext cx="2009446" cy="394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Possible Next 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1BD774-B566-4B54-8B80-5D6813B3310B}"/>
                </a:ext>
              </a:extLst>
            </p:cNvPr>
            <p:cNvSpPr txBox="1"/>
            <p:nvPr/>
          </p:nvSpPr>
          <p:spPr>
            <a:xfrm>
              <a:off x="7978479" y="1193095"/>
              <a:ext cx="1898709" cy="394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Best Possible Action</a:t>
              </a:r>
            </a:p>
          </p:txBody>
        </p:sp>
        <p:pic>
          <p:nvPicPr>
            <p:cNvPr id="25" name="Picture 16" descr="Related image">
              <a:extLst>
                <a:ext uri="{FF2B5EF4-FFF2-40B4-BE49-F238E27FC236}">
                  <a16:creationId xmlns:a16="http://schemas.microsoft.com/office/drawing/2014/main" id="{90ED84A9-C8F1-4112-946D-A7F4400C6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3552" y="3978286"/>
              <a:ext cx="3224065" cy="2418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man.png">
              <a:extLst>
                <a:ext uri="{FF2B5EF4-FFF2-40B4-BE49-F238E27FC236}">
                  <a16:creationId xmlns:a16="http://schemas.microsoft.com/office/drawing/2014/main" id="{9D5BD8EA-03E0-4D13-8C5D-F5862678B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960" y="4916304"/>
              <a:ext cx="1344295" cy="1344295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C112C81-2FE3-4060-87C8-3A6B398B17A8}"/>
                </a:ext>
              </a:extLst>
            </p:cNvPr>
            <p:cNvCxnSpPr/>
            <p:nvPr/>
          </p:nvCxnSpPr>
          <p:spPr>
            <a:xfrm flipV="1">
              <a:off x="1983486" y="4782261"/>
              <a:ext cx="609600" cy="6927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B15130-7247-4575-AC9D-9207033501C0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2048256" y="5502583"/>
              <a:ext cx="715047" cy="892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D1E883-8FF7-4D20-8C49-AC86C32D4F26}"/>
                </a:ext>
              </a:extLst>
            </p:cNvPr>
            <p:cNvCxnSpPr>
              <a:cxnSpLocks/>
            </p:cNvCxnSpPr>
            <p:nvPr/>
          </p:nvCxnSpPr>
          <p:spPr>
            <a:xfrm>
              <a:off x="2047736" y="5555056"/>
              <a:ext cx="544946" cy="7850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 descr="que.jpg">
              <a:extLst>
                <a:ext uri="{FF2B5EF4-FFF2-40B4-BE49-F238E27FC236}">
                  <a16:creationId xmlns:a16="http://schemas.microsoft.com/office/drawing/2014/main" id="{64E18178-17C2-48DD-8C61-192064FB2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2136" y="5253260"/>
              <a:ext cx="460813" cy="471053"/>
            </a:xfrm>
            <a:prstGeom prst="rect">
              <a:avLst/>
            </a:prstGeom>
          </p:spPr>
        </p:pic>
        <p:pic>
          <p:nvPicPr>
            <p:cNvPr id="31" name="Picture 30" descr="man.png">
              <a:extLst>
                <a:ext uri="{FF2B5EF4-FFF2-40B4-BE49-F238E27FC236}">
                  <a16:creationId xmlns:a16="http://schemas.microsoft.com/office/drawing/2014/main" id="{D486CB95-62C0-4A70-A891-0B93D5E20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873" y="5232246"/>
              <a:ext cx="513080" cy="513080"/>
            </a:xfrm>
            <a:prstGeom prst="rect">
              <a:avLst/>
            </a:prstGeom>
          </p:spPr>
        </p:pic>
        <p:pic>
          <p:nvPicPr>
            <p:cNvPr id="32" name="Picture 31" descr="man.png">
              <a:extLst>
                <a:ext uri="{FF2B5EF4-FFF2-40B4-BE49-F238E27FC236}">
                  <a16:creationId xmlns:a16="http://schemas.microsoft.com/office/drawing/2014/main" id="{533EFFE4-7668-4D32-BE01-144E56AC9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7993" y="4410252"/>
              <a:ext cx="835184" cy="835184"/>
            </a:xfrm>
            <a:prstGeom prst="rect">
              <a:avLst/>
            </a:prstGeom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FBA7128-E2D5-4654-B071-526B4A2F00BB}"/>
                </a:ext>
              </a:extLst>
            </p:cNvPr>
            <p:cNvCxnSpPr/>
            <p:nvPr/>
          </p:nvCxnSpPr>
          <p:spPr>
            <a:xfrm>
              <a:off x="7505636" y="5269063"/>
              <a:ext cx="661035" cy="88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C33BB6-DB6D-443E-8FE7-42E4CF5A9D94}"/>
                </a:ext>
              </a:extLst>
            </p:cNvPr>
            <p:cNvSpPr txBox="1"/>
            <p:nvPr/>
          </p:nvSpPr>
          <p:spPr>
            <a:xfrm>
              <a:off x="2450423" y="3954856"/>
              <a:ext cx="2497513" cy="394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Possible Allocation Options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0CA6B0-C5B7-4C15-A6A5-EBA68052C6F8}"/>
                </a:ext>
              </a:extLst>
            </p:cNvPr>
            <p:cNvSpPr txBox="1"/>
            <p:nvPr/>
          </p:nvSpPr>
          <p:spPr>
            <a:xfrm>
              <a:off x="7945218" y="4680398"/>
              <a:ext cx="2111232" cy="394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Best Possible Collector</a:t>
              </a:r>
            </a:p>
          </p:txBody>
        </p:sp>
        <p:pic>
          <p:nvPicPr>
            <p:cNvPr id="36" name="Picture 2" descr="Image result for agency">
              <a:extLst>
                <a:ext uri="{FF2B5EF4-FFF2-40B4-BE49-F238E27FC236}">
                  <a16:creationId xmlns:a16="http://schemas.microsoft.com/office/drawing/2014/main" id="{80E0AB30-CD93-45E4-91A6-94AF18E42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8835" y="4392261"/>
              <a:ext cx="763058" cy="752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0" descr="Image result for Field Collections Agents">
              <a:extLst>
                <a:ext uri="{FF2B5EF4-FFF2-40B4-BE49-F238E27FC236}">
                  <a16:creationId xmlns:a16="http://schemas.microsoft.com/office/drawing/2014/main" id="{D4172A7D-55AD-46D2-8F3E-F0F61785A9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303" y="5245436"/>
              <a:ext cx="733578" cy="692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Image result for Field Collections Agents">
              <a:extLst>
                <a:ext uri="{FF2B5EF4-FFF2-40B4-BE49-F238E27FC236}">
                  <a16:creationId xmlns:a16="http://schemas.microsoft.com/office/drawing/2014/main" id="{AC3BAF9C-0114-4F72-8C2D-00C3004574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775" y="6216283"/>
              <a:ext cx="687261" cy="666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DC6F86-64C3-4E4E-9542-1EEE5FD8D502}"/>
                </a:ext>
              </a:extLst>
            </p:cNvPr>
            <p:cNvCxnSpPr>
              <a:cxnSpLocks/>
            </p:cNvCxnSpPr>
            <p:nvPr/>
          </p:nvCxnSpPr>
          <p:spPr>
            <a:xfrm>
              <a:off x="1967865" y="5732019"/>
              <a:ext cx="0" cy="5810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14" descr="Image result for Field Collections Agents">
              <a:extLst>
                <a:ext uri="{FF2B5EF4-FFF2-40B4-BE49-F238E27FC236}">
                  <a16:creationId xmlns:a16="http://schemas.microsoft.com/office/drawing/2014/main" id="{147A08FD-6B49-47FC-BDDF-4FA792B12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018" y="6358782"/>
              <a:ext cx="715937" cy="4775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" descr="Image result for agency">
              <a:extLst>
                <a:ext uri="{FF2B5EF4-FFF2-40B4-BE49-F238E27FC236}">
                  <a16:creationId xmlns:a16="http://schemas.microsoft.com/office/drawing/2014/main" id="{58CD07E3-98B3-4FCA-9B58-8A282DB3FF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4055" y="5020233"/>
              <a:ext cx="763059" cy="752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agency">
              <a:extLst>
                <a:ext uri="{FF2B5EF4-FFF2-40B4-BE49-F238E27FC236}">
                  <a16:creationId xmlns:a16="http://schemas.microsoft.com/office/drawing/2014/main" id="{E6622822-C1D7-47DA-94AD-2C22A88DB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4992" y="4340875"/>
              <a:ext cx="366240" cy="361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0" descr="Image result for Field Collections Agents">
              <a:extLst>
                <a:ext uri="{FF2B5EF4-FFF2-40B4-BE49-F238E27FC236}">
                  <a16:creationId xmlns:a16="http://schemas.microsoft.com/office/drawing/2014/main" id="{A18897D0-2DCA-4F72-901D-EBC49FA409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7364" y="5840828"/>
              <a:ext cx="499983" cy="472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Image result for Field Collections Agents">
              <a:extLst>
                <a:ext uri="{FF2B5EF4-FFF2-40B4-BE49-F238E27FC236}">
                  <a16:creationId xmlns:a16="http://schemas.microsoft.com/office/drawing/2014/main" id="{1E0FA8CF-A16F-4F70-8D14-93F305193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1114" y="5598342"/>
              <a:ext cx="499983" cy="484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4" descr="Image result for Field Collections Agents">
              <a:extLst>
                <a:ext uri="{FF2B5EF4-FFF2-40B4-BE49-F238E27FC236}">
                  <a16:creationId xmlns:a16="http://schemas.microsoft.com/office/drawing/2014/main" id="{C4283CB2-729F-4659-809E-6F3586D80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5971" y="4108744"/>
              <a:ext cx="624319" cy="416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7772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454989-2B5C-4083-A707-D9F4E94F9235}"/>
              </a:ext>
            </a:extLst>
          </p:cNvPr>
          <p:cNvSpPr txBox="1">
            <a:spLocks/>
          </p:cNvSpPr>
          <p:nvPr/>
        </p:nvSpPr>
        <p:spPr>
          <a:xfrm>
            <a:off x="617537" y="482790"/>
            <a:ext cx="10956925" cy="5445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Recommended Optimum Strategy </a:t>
            </a:r>
            <a:r>
              <a:rPr lang="en-US" sz="1400" b="1" dirty="0">
                <a:solidFill>
                  <a:srgbClr val="5B2892"/>
                </a:solidFill>
              </a:rPr>
              <a:t>(…2 of 2)</a:t>
            </a:r>
            <a:endParaRPr lang="en-US" sz="2800" dirty="0">
              <a:solidFill>
                <a:srgbClr val="5B289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7383438" y="2538484"/>
            <a:ext cx="4230805" cy="1378424"/>
          </a:xfrm>
          <a:prstGeom prst="roundRect">
            <a:avLst>
              <a:gd name="adj" fmla="val 7359"/>
            </a:avLst>
          </a:prstGeom>
          <a:solidFill>
            <a:srgbClr val="F0EE90"/>
          </a:solidFill>
          <a:ln w="28575">
            <a:solidFill>
              <a:srgbClr val="CFC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IMPROVED CUSTOMER EXPERIENCE</a:t>
            </a:r>
          </a:p>
          <a:p>
            <a:pPr marL="342900" indent="-342900">
              <a:buFontTx/>
              <a:buAutoNum type="arabicPeriod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REDUCED COST OF COLLECTION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OPERATIONAL EFFICIENCY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INCREASED AND FASTER RECOVERIES</a:t>
            </a:r>
          </a:p>
          <a:p>
            <a:pPr marL="342900" indent="-342900"/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52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4EA-34BE-4737-9906-FB139A2ADBD3}"/>
              </a:ext>
            </a:extLst>
          </p:cNvPr>
          <p:cNvSpPr txBox="1">
            <a:spLocks/>
          </p:cNvSpPr>
          <p:nvPr/>
        </p:nvSpPr>
        <p:spPr>
          <a:xfrm>
            <a:off x="735122" y="52241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Predictive Analytics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637D4C-8532-49BB-8D73-10B6CE8B084E}"/>
              </a:ext>
            </a:extLst>
          </p:cNvPr>
          <p:cNvSpPr/>
          <p:nvPr/>
        </p:nvSpPr>
        <p:spPr>
          <a:xfrm>
            <a:off x="735122" y="1346035"/>
            <a:ext cx="4797630" cy="4500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Machine Learning Model 2:</a:t>
            </a:r>
          </a:p>
          <a:p>
            <a:pPr algn="ctr"/>
            <a:r>
              <a:rPr lang="en-US" sz="1600" dirty="0"/>
              <a:t>Problem Statement: Maximization of existing Resources. </a:t>
            </a:r>
          </a:p>
          <a:p>
            <a:pPr algn="ctr"/>
            <a:r>
              <a:rPr lang="en-US" sz="1600" dirty="0"/>
              <a:t>From the Tele-Calling and/or Field Collections, with limited Tele-calling staff / Field Collections expense budgets, which cases should I prioritize for Tele-calling/agency allocation so that the Collections Increases</a:t>
            </a:r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Solution: </a:t>
            </a:r>
            <a:r>
              <a:rPr lang="en-US" sz="1600" dirty="0"/>
              <a:t>Analyze the Ability and Willingness of the customer, to know the probability of customer Paying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Machine Learning models to predict for existing and the first timer in Debt Collections, what would be the payment propensity for prioritization of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F8FB2-B2E9-4F52-99CA-2965A19E4D83}"/>
              </a:ext>
            </a:extLst>
          </p:cNvPr>
          <p:cNvSpPr txBox="1"/>
          <p:nvPr/>
        </p:nvSpPr>
        <p:spPr>
          <a:xfrm>
            <a:off x="5727700" y="1066929"/>
            <a:ext cx="5770672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u="sng" dirty="0"/>
              <a:t>Existing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Profile (from LOS)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Application Profile (From LOS)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Ability Score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Debt Service coverage 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Other Customer Demographic, Financial, Social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Willingness Score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Bureau Score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Repayment behavior/track with bank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Collections behavior with bank in past</a:t>
            </a:r>
          </a:p>
          <a:p>
            <a:endParaRPr lang="en-US" sz="1400" dirty="0"/>
          </a:p>
          <a:p>
            <a:r>
              <a:rPr lang="en-US" sz="1400" dirty="0"/>
              <a:t>Propensity Score: Models to determine propensity based on Ability and Willingness of the customer to re-pay the overdue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F1247-C12A-408D-B28B-0E00A44AFD53}"/>
              </a:ext>
            </a:extLst>
          </p:cNvPr>
          <p:cNvSpPr txBox="1"/>
          <p:nvPr/>
        </p:nvSpPr>
        <p:spPr>
          <a:xfrm>
            <a:off x="5727699" y="4381133"/>
            <a:ext cx="5770673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u="sng" dirty="0"/>
              <a:t>Propensity Score on Tele Calling: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Propensity – (Business Strategy) Tele Calling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Medium Propensity – (Business Strategy) Intensify Digital Collections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u="sng" dirty="0"/>
              <a:t>Propensity Score on Field Collections: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Propensity – (Business Strategy) Tele Calling first (Try to collect as much, to reduce field collections cost)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Medium &amp; Low Propensity – (Business Strategy)  Field Collections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Left over of High Propensity – (Business Strategy)  Field Collections</a:t>
            </a:r>
          </a:p>
        </p:txBody>
      </p:sp>
    </p:spTree>
    <p:extLst>
      <p:ext uri="{BB962C8B-B14F-4D97-AF65-F5344CB8AC3E}">
        <p14:creationId xmlns:p14="http://schemas.microsoft.com/office/powerpoint/2010/main" val="324784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27C9-C158-45DD-A7E3-2BBD78E4C374}"/>
              </a:ext>
            </a:extLst>
          </p:cNvPr>
          <p:cNvSpPr txBox="1">
            <a:spLocks/>
          </p:cNvSpPr>
          <p:nvPr/>
        </p:nvSpPr>
        <p:spPr>
          <a:xfrm>
            <a:off x="735122" y="52241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Predictive Analytics – Technically Explained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FA9E429-0D53-4626-99C1-BAEB354F9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6124241"/>
              </p:ext>
            </p:extLst>
          </p:nvPr>
        </p:nvGraphicFramePr>
        <p:xfrm>
          <a:off x="1005840" y="1435608"/>
          <a:ext cx="4862766" cy="3986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1DB7F35-AB41-4D85-8B5D-9E3703BBCB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190639"/>
              </p:ext>
            </p:extLst>
          </p:nvPr>
        </p:nvGraphicFramePr>
        <p:xfrm>
          <a:off x="6096000" y="1435608"/>
          <a:ext cx="5326062" cy="3986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7629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5736FF-4B60-4965-83BD-E18493F84DCC}"/>
              </a:ext>
            </a:extLst>
          </p:cNvPr>
          <p:cNvSpPr/>
          <p:nvPr/>
        </p:nvSpPr>
        <p:spPr>
          <a:xfrm>
            <a:off x="3947886" y="664046"/>
            <a:ext cx="3657600" cy="58021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en-US" dirty="0"/>
              <a:t>Overall 6 to 8 weeks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4E90E-7C55-4D75-8FE3-EB82DA90AA95}"/>
              </a:ext>
            </a:extLst>
          </p:cNvPr>
          <p:cNvSpPr txBox="1">
            <a:spLocks/>
          </p:cNvSpPr>
          <p:nvPr/>
        </p:nvSpPr>
        <p:spPr>
          <a:xfrm>
            <a:off x="720608" y="30470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High Level Plan ( 3 to 4 months including assessment)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F9C795F-20F4-4B92-9360-6D11393EF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947184"/>
              </p:ext>
            </p:extLst>
          </p:nvPr>
        </p:nvGraphicFramePr>
        <p:xfrm>
          <a:off x="490428" y="821266"/>
          <a:ext cx="10804744" cy="547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49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3DCB-99FF-4C91-A538-6AB6DDAEB248}"/>
              </a:ext>
            </a:extLst>
          </p:cNvPr>
          <p:cNvSpPr txBox="1">
            <a:spLocks/>
          </p:cNvSpPr>
          <p:nvPr/>
        </p:nvSpPr>
        <p:spPr>
          <a:xfrm>
            <a:off x="720608" y="304706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5B2892"/>
                </a:solidFill>
                <a:latin typeface="+mn-lt"/>
                <a:ea typeface="+mn-ea"/>
                <a:cs typeface="+mn-cs"/>
              </a:rPr>
              <a:t>Commercials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C58E16C-F0C9-4C32-A196-CE99D9643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29562"/>
              </p:ext>
            </p:extLst>
          </p:nvPr>
        </p:nvGraphicFramePr>
        <p:xfrm>
          <a:off x="899885" y="1203960"/>
          <a:ext cx="9739085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9098">
                  <a:extLst>
                    <a:ext uri="{9D8B030D-6E8A-4147-A177-3AD203B41FA5}">
                      <a16:colId xmlns:a16="http://schemas.microsoft.com/office/drawing/2014/main" val="1400533966"/>
                    </a:ext>
                  </a:extLst>
                </a:gridCol>
                <a:gridCol w="2799987">
                  <a:extLst>
                    <a:ext uri="{9D8B030D-6E8A-4147-A177-3AD203B41FA5}">
                      <a16:colId xmlns:a16="http://schemas.microsoft.com/office/drawing/2014/main" val="4058087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Amount (INR)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19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License - Collections Analytics Generation Engine (CAGE)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Free of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3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Professional Fees for Delivery of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Free of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4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Implementation of Models in Ebix Debt Collections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Configuration &amp; Integration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Testing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2.5 Lakhs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99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Post-Production Model Assessment- 3 months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Free of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26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r>
                        <a:rPr lang="en-US" sz="2000" baseline="30000" dirty="0"/>
                        <a:t>th</a:t>
                      </a:r>
                      <a:r>
                        <a:rPr lang="en-US" sz="2000" dirty="0"/>
                        <a:t> Month onwards AMC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2.5 Lakhs per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97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Travel &amp; Living Expense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At Actuals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03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82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EE07-A4B3-4CA6-A603-184B4051AB7B}"/>
              </a:ext>
            </a:extLst>
          </p:cNvPr>
          <p:cNvSpPr txBox="1">
            <a:spLocks/>
          </p:cNvSpPr>
          <p:nvPr/>
        </p:nvSpPr>
        <p:spPr>
          <a:xfrm>
            <a:off x="714375" y="2884487"/>
            <a:ext cx="1076325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8367AC"/>
                </a:solidFill>
                <a:latin typeface="+mn-lt"/>
                <a:ea typeface="+mn-ea"/>
                <a:cs typeface="+mn-cs"/>
              </a:rPr>
              <a:t>T H A N K  Y O U</a:t>
            </a:r>
          </a:p>
        </p:txBody>
      </p:sp>
    </p:spTree>
    <p:extLst>
      <p:ext uri="{BB962C8B-B14F-4D97-AF65-F5344CB8AC3E}">
        <p14:creationId xmlns:p14="http://schemas.microsoft.com/office/powerpoint/2010/main" val="174591264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1033</Words>
  <Application>Microsoft Office PowerPoint</Application>
  <PresentationFormat>Widescreen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Nema</dc:creator>
  <cp:lastModifiedBy>Chandrasen Wadikar</cp:lastModifiedBy>
  <cp:revision>61</cp:revision>
  <dcterms:created xsi:type="dcterms:W3CDTF">2018-02-02T12:57:26Z</dcterms:created>
  <dcterms:modified xsi:type="dcterms:W3CDTF">2020-01-30T14:37:46Z</dcterms:modified>
</cp:coreProperties>
</file>